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charts/chart1.xml" ContentType="application/vnd.openxmlformats-officedocument.drawingml.chart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charts/chart2.xml" ContentType="application/vnd.openxmlformats-officedocument.drawingml.chart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</p:sldIdLst>
  <p:notesMasterIdLst>
    <p:notesMasterId r:id="rId3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notesMaster" Target="notesMasters/notesMaster1.xml"/><Relationship Id="rId34" Type="http://schemas.openxmlformats.org/officeDocument/2006/relationships/presProps" Target="presProps.xml"/><Relationship Id="rId35" Type="http://schemas.openxmlformats.org/officeDocument/2006/relationships/viewProps" Target="viewProps.xml"/><Relationship Id="rId36" Type="http://schemas.openxmlformats.org/officeDocument/2006/relationships/theme" Target="theme/theme1.xml"/><Relationship Id="rId37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BASE distance (km)</c:v>
                </c:pt>
              </c:strCache>
            </c:strRef>
          </c:tx>
          <c:spPr>
            <a:solidFill>
              <a:srgbClr val="7AC4A1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1" i="0" strike="noStrike" sz="1400" u="none">
                    <a:solidFill>
                      <a:srgbClr val="E8EFF7"/>
                    </a:solidFill>
                    <a:latin typeface="Calibr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7AC4A1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5BA4E6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E6B85B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9B89E6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C57FB6"/>
              </a:solidFill>
              <a:effectLst/>
            </c:spPr>
          </c:dPt>
          <c:cat>
            <c:multiLvlStrRef>
              <c:f>Sheet1!$A$2:$A$6</c:f>
              <c:multiLvlStrCache>
                <c:ptCount val="5"/>
                <c:lvl>
                  <c:pt idx="0">
                    <c:v>OR-Tools EA</c:v>
                  </c:pt>
                  <c:pt idx="1">
                    <c:v>OR-Tools</c:v>
                  </c:pt>
                  <c:pt idx="2">
                    <c:v>Esri</c:v>
                  </c:pt>
                  <c:pt idx="3">
                    <c:v>Hybrid</c:v>
                  </c:pt>
                  <c:pt idx="4">
                    <c:v>Adaptive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231.8</c:v>
                </c:pt>
                <c:pt idx="1">
                  <c:v>233.2</c:v>
                </c:pt>
                <c:pt idx="2">
                  <c:v>238.7</c:v>
                </c:pt>
                <c:pt idx="3">
                  <c:v>424.1</c:v>
                </c:pt>
                <c:pt idx="4">
                  <c:v>424.1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1" i="0" strike="noStrike" sz="1400" u="none">
                  <a:solidFill>
                    <a:srgbClr val="E8EFF7"/>
                  </a:solidFill>
                  <a:latin typeface="Calibri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300" b="0" i="0" u="none" strike="noStrike">
                <a:solidFill>
                  <a:srgbClr val="E8EFF7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1A2F4A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E8EFF7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0E1B2C"/>
        </a:solidFill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Runtime (s)</c:v>
                </c:pt>
              </c:strCache>
            </c:strRef>
          </c:tx>
          <c:spPr>
            <a:solidFill>
              <a:srgbClr val="E68B6E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1" i="0" strike="noStrike" sz="1200" u="none">
                    <a:solidFill>
                      <a:srgbClr val="E8EFF7"/>
                    </a:solidFill>
                    <a:latin typeface="Calibr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E68B6E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C57FB6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7AC4A1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5BA4E6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E6B85B"/>
              </a:solidFill>
              <a:effectLst/>
            </c:spPr>
          </c:dPt>
          <c:dPt>
            <c:idx val="5"/>
            <c:invertIfNegative val="0"/>
            <c:bubble3D val="0"/>
            <c:spPr>
              <a:solidFill>
                <a:srgbClr val="9B89E6"/>
              </a:solidFill>
              <a:effectLst/>
            </c:spPr>
          </c:dPt>
          <c:dPt>
            <c:idx val="6"/>
            <c:invertIfNegative val="0"/>
            <c:bubble3D val="0"/>
            <c:spPr>
              <a:solidFill>
                <a:srgbClr val="3FA88A"/>
              </a:solidFill>
              <a:effectLst/>
            </c:spPr>
          </c:dPt>
          <c:dPt>
            <c:idx val="7"/>
            <c:invertIfNegative val="0"/>
            <c:bubble3D val="0"/>
            <c:spPr>
              <a:solidFill>
                <a:srgbClr val="E68B6E"/>
              </a:solidFill>
              <a:effectLst/>
            </c:spPr>
          </c:dPt>
          <c:cat>
            <c:multiLvlStrRef>
              <c:f>Sheet1!$A$2:$A$9</c:f>
              <c:multiLvlStrCache>
                <c:ptCount val="8"/>
                <c:lvl>
                  <c:pt idx="0">
                    <c:v>Greedy</c:v>
                  </c:pt>
                  <c:pt idx="1">
                    <c:v>PyVRP</c:v>
                  </c:pt>
                  <c:pt idx="2">
                    <c:v>OR-Tools EA</c:v>
                  </c:pt>
                  <c:pt idx="3">
                    <c:v>OR-Tools</c:v>
                  </c:pt>
                  <c:pt idx="4">
                    <c:v>Esri</c:v>
                  </c:pt>
                  <c:pt idx="5">
                    <c:v>Hybrid</c:v>
                  </c:pt>
                  <c:pt idx="6">
                    <c:v>OSRM</c:v>
                  </c:pt>
                  <c:pt idx="7">
                    <c:v>Adaptive</c:v>
                  </c:pt>
                </c:lvl>
              </c:multiLvlStrCache>
            </c:multiLvl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22</c:v>
                </c:pt>
                <c:pt idx="1">
                  <c:v>545</c:v>
                </c:pt>
                <c:pt idx="2">
                  <c:v>770</c:v>
                </c:pt>
                <c:pt idx="3">
                  <c:v>868</c:v>
                </c:pt>
                <c:pt idx="4">
                  <c:v>973</c:v>
                </c:pt>
                <c:pt idx="5">
                  <c:v>1790</c:v>
                </c:pt>
                <c:pt idx="6">
                  <c:v>4949</c:v>
                </c:pt>
                <c:pt idx="7">
                  <c:v>6472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1" i="0" strike="noStrike" sz="1200" u="none">
                  <a:solidFill>
                    <a:srgbClr val="E8EFF7"/>
                  </a:solidFill>
                  <a:latin typeface="Calibri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E8EFF7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logBase val="10"/>
          <c:orientation val="minMax"/>
        </c:scaling>
        <c:delete val="0"/>
        <c:axPos val="l"/>
        <c:majorGridlines>
          <c:spPr>
            <a:ln w="6350" cap="flat">
              <a:solidFill>
                <a:srgbClr val="1A2F4A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E8EFF7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0E1B2C"/>
        </a:solidFill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hyperlink" Target="https://huggingface.co/spaces/AnubhaParashar/Execution-Aware-Agentic-VRP-Solver-and-Benchmark-Studio" TargetMode="Externa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hyperlink" Target="https://youtu.be/FqVuVjW20yo" TargetMode="Externa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E1B2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371600"/>
            <a:ext cx="112471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600" b="1" dirty="0">
                <a:solidFill>
                  <a:srgbClr val="5BA4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Execution-Aware Agentic</a:t>
            </a:r>
            <a:endParaRPr lang="en-US" sz="5600" dirty="0"/>
          </a:p>
        </p:txBody>
      </p:sp>
      <p:sp>
        <p:nvSpPr>
          <p:cNvPr id="3" name="Text 1"/>
          <p:cNvSpPr/>
          <p:nvPr/>
        </p:nvSpPr>
        <p:spPr>
          <a:xfrm>
            <a:off x="457200" y="2286000"/>
            <a:ext cx="112471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400" b="1" dirty="0">
                <a:solidFill>
                  <a:srgbClr val="7AC4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VRP Solver</a:t>
            </a:r>
            <a:endParaRPr lang="en-US" sz="6400" dirty="0"/>
          </a:p>
        </p:txBody>
      </p:sp>
      <p:sp>
        <p:nvSpPr>
          <p:cNvPr id="4" name="Text 2"/>
          <p:cNvSpPr/>
          <p:nvPr/>
        </p:nvSpPr>
        <p:spPr>
          <a:xfrm>
            <a:off x="457200" y="3291840"/>
            <a:ext cx="11247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i="1" dirty="0">
                <a:solidFill>
                  <a:srgbClr val="5BA4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 Benchmark Studio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1371600" y="4206240"/>
            <a:ext cx="2011680" cy="1097280"/>
          </a:xfrm>
          <a:prstGeom prst="roundRect">
            <a:avLst>
              <a:gd name="adj" fmla="val 8333"/>
            </a:avLst>
          </a:prstGeom>
          <a:solidFill>
            <a:srgbClr val="233D5C"/>
          </a:solidFill>
          <a:ln w="12700">
            <a:solidFill>
              <a:srgbClr val="1A2F4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371600" y="4297680"/>
            <a:ext cx="2011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7AC4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3600" dirty="0"/>
          </a:p>
        </p:txBody>
      </p:sp>
      <p:sp>
        <p:nvSpPr>
          <p:cNvPr id="7" name="Text 5"/>
          <p:cNvSpPr/>
          <p:nvPr/>
        </p:nvSpPr>
        <p:spPr>
          <a:xfrm>
            <a:off x="1371600" y="498348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150" kern="0" dirty="0">
                <a:solidFill>
                  <a:srgbClr val="8FA9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SOLVER BACKENDS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3657600" y="4206240"/>
            <a:ext cx="2011680" cy="1097280"/>
          </a:xfrm>
          <a:prstGeom prst="roundRect">
            <a:avLst>
              <a:gd name="adj" fmla="val 8333"/>
            </a:avLst>
          </a:prstGeom>
          <a:solidFill>
            <a:srgbClr val="233D5C"/>
          </a:solidFill>
          <a:ln w="12700">
            <a:solidFill>
              <a:srgbClr val="1A2F4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657600" y="4297680"/>
            <a:ext cx="2011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7AC4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3600" dirty="0"/>
          </a:p>
        </p:txBody>
      </p:sp>
      <p:sp>
        <p:nvSpPr>
          <p:cNvPr id="10" name="Text 8"/>
          <p:cNvSpPr/>
          <p:nvPr/>
        </p:nvSpPr>
        <p:spPr>
          <a:xfrm>
            <a:off x="3657600" y="498348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150" kern="0" dirty="0">
                <a:solidFill>
                  <a:srgbClr val="8FA9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SCENARIOS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5943600" y="4206240"/>
            <a:ext cx="2011680" cy="1097280"/>
          </a:xfrm>
          <a:prstGeom prst="roundRect">
            <a:avLst>
              <a:gd name="adj" fmla="val 8333"/>
            </a:avLst>
          </a:prstGeom>
          <a:solidFill>
            <a:srgbClr val="233D5C"/>
          </a:solidFill>
          <a:ln w="12700">
            <a:solidFill>
              <a:srgbClr val="1A2F4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943600" y="4297680"/>
            <a:ext cx="2011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7AC4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770s</a:t>
            </a:r>
            <a:endParaRPr lang="en-US" sz="3600" dirty="0"/>
          </a:p>
        </p:txBody>
      </p:sp>
      <p:sp>
        <p:nvSpPr>
          <p:cNvPr id="13" name="Text 11"/>
          <p:cNvSpPr/>
          <p:nvPr/>
        </p:nvSpPr>
        <p:spPr>
          <a:xfrm>
            <a:off x="5943600" y="498348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150" kern="0" dirty="0">
                <a:solidFill>
                  <a:srgbClr val="8FA9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WINNER RUNTIME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8229600" y="4206240"/>
            <a:ext cx="2011680" cy="1097280"/>
          </a:xfrm>
          <a:prstGeom prst="roundRect">
            <a:avLst>
              <a:gd name="adj" fmla="val 8333"/>
            </a:avLst>
          </a:prstGeom>
          <a:solidFill>
            <a:srgbClr val="233D5C"/>
          </a:solidFill>
          <a:ln w="12700">
            <a:solidFill>
              <a:srgbClr val="1A2F4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229600" y="4297680"/>
            <a:ext cx="2011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7AC4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3600" dirty="0"/>
          </a:p>
        </p:txBody>
      </p:sp>
      <p:sp>
        <p:nvSpPr>
          <p:cNvPr id="16" name="Text 14"/>
          <p:cNvSpPr/>
          <p:nvPr/>
        </p:nvSpPr>
        <p:spPr>
          <a:xfrm>
            <a:off x="8229600" y="498348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150" kern="0" dirty="0">
                <a:solidFill>
                  <a:srgbClr val="8FA9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VIOLATIONS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457200" y="603504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FA9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Anubha Parashar  ·  April 2026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E1B2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E8EF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we'll cover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1188720"/>
            <a:ext cx="5440680" cy="1280160"/>
          </a:xfrm>
          <a:prstGeom prst="roundRect">
            <a:avLst>
              <a:gd name="adj" fmla="val 7143"/>
            </a:avLst>
          </a:prstGeom>
          <a:solidFill>
            <a:srgbClr val="233D5C"/>
          </a:solidFill>
          <a:ln w="12700">
            <a:solidFill>
              <a:srgbClr val="5BA4E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1188720"/>
            <a:ext cx="73152" cy="1280160"/>
          </a:xfrm>
          <a:prstGeom prst="rect">
            <a:avLst/>
          </a:prstGeom>
          <a:solidFill>
            <a:srgbClr val="5BA4E6"/>
          </a:solidFill>
          <a:ln/>
        </p:spPr>
      </p:sp>
      <p:sp>
        <p:nvSpPr>
          <p:cNvPr id="5" name="Text 3"/>
          <p:cNvSpPr/>
          <p:nvPr/>
        </p:nvSpPr>
        <p:spPr>
          <a:xfrm>
            <a:off x="685800" y="1325880"/>
            <a:ext cx="5074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5BA4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1 · Problem &amp; Vision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685800" y="1737360"/>
            <a:ext cx="5074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8EF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Static VRP solvers vs live dispatch reality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6263640" y="1188720"/>
            <a:ext cx="5440680" cy="1280160"/>
          </a:xfrm>
          <a:prstGeom prst="roundRect">
            <a:avLst>
              <a:gd name="adj" fmla="val 7143"/>
            </a:avLst>
          </a:prstGeom>
          <a:solidFill>
            <a:srgbClr val="233D5C"/>
          </a:solidFill>
          <a:ln w="12700">
            <a:solidFill>
              <a:srgbClr val="3FA88A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263640" y="1188720"/>
            <a:ext cx="73152" cy="1280160"/>
          </a:xfrm>
          <a:prstGeom prst="rect">
            <a:avLst/>
          </a:prstGeom>
          <a:solidFill>
            <a:srgbClr val="3FA88A"/>
          </a:solidFill>
          <a:ln/>
        </p:spPr>
      </p:sp>
      <p:sp>
        <p:nvSpPr>
          <p:cNvPr id="9" name="Text 7"/>
          <p:cNvSpPr/>
          <p:nvPr/>
        </p:nvSpPr>
        <p:spPr>
          <a:xfrm>
            <a:off x="6492240" y="1325880"/>
            <a:ext cx="5074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FA8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2 · The 8 Backends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6492240" y="1737360"/>
            <a:ext cx="5074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8EF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Algorithm families &amp; complexity analysis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57200" y="2697480"/>
            <a:ext cx="5440680" cy="1280160"/>
          </a:xfrm>
          <a:prstGeom prst="roundRect">
            <a:avLst>
              <a:gd name="adj" fmla="val 7143"/>
            </a:avLst>
          </a:prstGeom>
          <a:solidFill>
            <a:srgbClr val="233D5C"/>
          </a:solidFill>
          <a:ln w="12700">
            <a:solidFill>
              <a:srgbClr val="E6B85B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57200" y="2697480"/>
            <a:ext cx="73152" cy="1280160"/>
          </a:xfrm>
          <a:prstGeom prst="rect">
            <a:avLst/>
          </a:prstGeom>
          <a:solidFill>
            <a:srgbClr val="E6B85B"/>
          </a:solidFill>
          <a:ln/>
        </p:spPr>
      </p:sp>
      <p:sp>
        <p:nvSpPr>
          <p:cNvPr id="13" name="Text 11"/>
          <p:cNvSpPr/>
          <p:nvPr/>
        </p:nvSpPr>
        <p:spPr>
          <a:xfrm>
            <a:off x="685800" y="2834640"/>
            <a:ext cx="5074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6B8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3 · Split-Solve Innovation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685800" y="3246120"/>
            <a:ext cx="5074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8EF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OR-Tools EA wins · locked-prefix mechanism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6263640" y="2697480"/>
            <a:ext cx="5440680" cy="1280160"/>
          </a:xfrm>
          <a:prstGeom prst="roundRect">
            <a:avLst>
              <a:gd name="adj" fmla="val 7143"/>
            </a:avLst>
          </a:prstGeom>
          <a:solidFill>
            <a:srgbClr val="233D5C"/>
          </a:solidFill>
          <a:ln w="12700">
            <a:solidFill>
              <a:srgbClr val="9B89E6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263640" y="2697480"/>
            <a:ext cx="73152" cy="1280160"/>
          </a:xfrm>
          <a:prstGeom prst="rect">
            <a:avLst/>
          </a:prstGeom>
          <a:solidFill>
            <a:srgbClr val="9B89E6"/>
          </a:solidFill>
          <a:ln/>
        </p:spPr>
      </p:sp>
      <p:sp>
        <p:nvSpPr>
          <p:cNvPr id="17" name="Text 15"/>
          <p:cNvSpPr/>
          <p:nvPr/>
        </p:nvSpPr>
        <p:spPr>
          <a:xfrm>
            <a:off x="6492240" y="2834640"/>
            <a:ext cx="5074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9B89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4 · Benchmark Results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6492240" y="3246120"/>
            <a:ext cx="5074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8EF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Per-scenario performance · trade-offs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457200" y="4206240"/>
            <a:ext cx="5440680" cy="1280160"/>
          </a:xfrm>
          <a:prstGeom prst="roundRect">
            <a:avLst>
              <a:gd name="adj" fmla="val 7143"/>
            </a:avLst>
          </a:prstGeom>
          <a:solidFill>
            <a:srgbClr val="233D5C"/>
          </a:solidFill>
          <a:ln w="12700">
            <a:solidFill>
              <a:srgbClr val="E68B6E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57200" y="4206240"/>
            <a:ext cx="73152" cy="1280160"/>
          </a:xfrm>
          <a:prstGeom prst="rect">
            <a:avLst/>
          </a:prstGeom>
          <a:solidFill>
            <a:srgbClr val="E68B6E"/>
          </a:solidFill>
          <a:ln/>
        </p:spPr>
      </p:sp>
      <p:sp>
        <p:nvSpPr>
          <p:cNvPr id="21" name="Text 19"/>
          <p:cNvSpPr/>
          <p:nvPr/>
        </p:nvSpPr>
        <p:spPr>
          <a:xfrm>
            <a:off x="685800" y="4343400"/>
            <a:ext cx="5074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68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5 · 18 Scenarios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685800" y="4754880"/>
            <a:ext cx="5074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8EF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EAS · RT · GB stress tests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6263640" y="4206240"/>
            <a:ext cx="5440680" cy="1280160"/>
          </a:xfrm>
          <a:prstGeom prst="roundRect">
            <a:avLst>
              <a:gd name="adj" fmla="val 7143"/>
            </a:avLst>
          </a:prstGeom>
          <a:solidFill>
            <a:srgbClr val="233D5C"/>
          </a:solidFill>
          <a:ln w="12700">
            <a:solidFill>
              <a:srgbClr val="5BA4E6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263640" y="4206240"/>
            <a:ext cx="73152" cy="1280160"/>
          </a:xfrm>
          <a:prstGeom prst="rect">
            <a:avLst/>
          </a:prstGeom>
          <a:solidFill>
            <a:srgbClr val="5BA4E6"/>
          </a:solidFill>
          <a:ln/>
        </p:spPr>
      </p:sp>
      <p:sp>
        <p:nvSpPr>
          <p:cNvPr id="25" name="Text 23"/>
          <p:cNvSpPr/>
          <p:nvPr/>
        </p:nvSpPr>
        <p:spPr>
          <a:xfrm>
            <a:off x="6492240" y="4343400"/>
            <a:ext cx="5074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5BA4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6 · Agentic AI Layer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6492240" y="4754880"/>
            <a:ext cx="5074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8EF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Gemini · 8 tools · 4 behaviors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457200" y="5715000"/>
            <a:ext cx="5440680" cy="1280160"/>
          </a:xfrm>
          <a:prstGeom prst="roundRect">
            <a:avLst>
              <a:gd name="adj" fmla="val 7143"/>
            </a:avLst>
          </a:prstGeom>
          <a:solidFill>
            <a:srgbClr val="233D5C"/>
          </a:solidFill>
          <a:ln w="12700">
            <a:solidFill>
              <a:srgbClr val="3FA88A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457200" y="5715000"/>
            <a:ext cx="73152" cy="1280160"/>
          </a:xfrm>
          <a:prstGeom prst="rect">
            <a:avLst/>
          </a:prstGeom>
          <a:solidFill>
            <a:srgbClr val="3FA88A"/>
          </a:solidFill>
          <a:ln/>
        </p:spPr>
      </p:sp>
      <p:sp>
        <p:nvSpPr>
          <p:cNvPr id="29" name="Text 27"/>
          <p:cNvSpPr/>
          <p:nvPr/>
        </p:nvSpPr>
        <p:spPr>
          <a:xfrm>
            <a:off x="685800" y="5852160"/>
            <a:ext cx="5074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FA8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7 · Architecture &amp; Code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685800" y="6263640"/>
            <a:ext cx="5074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8EF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agents · 8,140 lines · system flow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6263640" y="5715000"/>
            <a:ext cx="5440680" cy="1280160"/>
          </a:xfrm>
          <a:prstGeom prst="roundRect">
            <a:avLst>
              <a:gd name="adj" fmla="val 7143"/>
            </a:avLst>
          </a:prstGeom>
          <a:solidFill>
            <a:srgbClr val="233D5C"/>
          </a:solidFill>
          <a:ln w="12700">
            <a:solidFill>
              <a:srgbClr val="E6B85B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6263640" y="5715000"/>
            <a:ext cx="73152" cy="1280160"/>
          </a:xfrm>
          <a:prstGeom prst="rect">
            <a:avLst/>
          </a:prstGeom>
          <a:solidFill>
            <a:srgbClr val="E6B85B"/>
          </a:solidFill>
          <a:ln/>
        </p:spPr>
      </p:sp>
      <p:sp>
        <p:nvSpPr>
          <p:cNvPr id="33" name="Text 31"/>
          <p:cNvSpPr/>
          <p:nvPr/>
        </p:nvSpPr>
        <p:spPr>
          <a:xfrm>
            <a:off x="6492240" y="5852160"/>
            <a:ext cx="5074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6B8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8 · Deployment &amp; Demo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6492240" y="6263640"/>
            <a:ext cx="5074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8EF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 · HF Spaces · live walkthrough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E1B2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E8EF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73152" cy="1097280"/>
          </a:xfrm>
          <a:prstGeom prst="rect">
            <a:avLst/>
          </a:prstGeom>
          <a:solidFill>
            <a:srgbClr val="E6B85B"/>
          </a:solidFill>
          <a:ln/>
        </p:spPr>
      </p:sp>
      <p:sp>
        <p:nvSpPr>
          <p:cNvPr id="4" name="Shape 2"/>
          <p:cNvSpPr/>
          <p:nvPr/>
        </p:nvSpPr>
        <p:spPr>
          <a:xfrm>
            <a:off x="530352" y="1097280"/>
            <a:ext cx="11173968" cy="1097280"/>
          </a:xfrm>
          <a:prstGeom prst="rect">
            <a:avLst/>
          </a:prstGeom>
          <a:solidFill>
            <a:srgbClr val="233D5C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1188720"/>
            <a:ext cx="10789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E8EF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VRP solvers are designed for static route planning.</a:t>
            </a:r>
            <a:endParaRPr lang="en-US" sz="1600" dirty="0"/>
          </a:p>
          <a:p>
            <a:pPr indent="0" marL="0">
              <a:buNone/>
            </a:pPr>
            <a:r>
              <a:rPr lang="en-US" sz="1600" i="1" dirty="0">
                <a:solidFill>
                  <a:srgbClr val="E8EF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dispatch is dynamic — and chaotic.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457200" y="2560320"/>
            <a:ext cx="5440680" cy="3840480"/>
          </a:xfrm>
          <a:prstGeom prst="roundRect">
            <a:avLst>
              <a:gd name="adj" fmla="val 2381"/>
            </a:avLst>
          </a:prstGeom>
          <a:solidFill>
            <a:srgbClr val="233D5C"/>
          </a:solidFill>
          <a:ln w="12700">
            <a:solidFill>
              <a:srgbClr val="E6B85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2560320"/>
            <a:ext cx="73152" cy="3840480"/>
          </a:xfrm>
          <a:prstGeom prst="rect">
            <a:avLst/>
          </a:prstGeom>
          <a:solidFill>
            <a:srgbClr val="E6B85B"/>
          </a:solidFill>
          <a:ln/>
        </p:spPr>
      </p:sp>
      <p:sp>
        <p:nvSpPr>
          <p:cNvPr id="8" name="Text 6"/>
          <p:cNvSpPr/>
          <p:nvPr/>
        </p:nvSpPr>
        <p:spPr>
          <a:xfrm>
            <a:off x="685800" y="2697480"/>
            <a:ext cx="5074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6B8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production reality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685800" y="3108960"/>
            <a:ext cx="507492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8EF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Technicians are mid-route when changes hit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8EF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Drivers call in sick at 8 AM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8EF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Urgent SLA orders inject mid-day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8EF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Customers cancel after dispatch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8EF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Shifts get delayed or cut short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8EF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Service times shift as work expands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263640" y="2560320"/>
            <a:ext cx="5440680" cy="3840480"/>
          </a:xfrm>
          <a:prstGeom prst="roundRect">
            <a:avLst>
              <a:gd name="adj" fmla="val 2381"/>
            </a:avLst>
          </a:prstGeom>
          <a:solidFill>
            <a:srgbClr val="233D5C"/>
          </a:solidFill>
          <a:ln w="12700">
            <a:solidFill>
              <a:srgbClr val="E68B6E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263640" y="2560320"/>
            <a:ext cx="73152" cy="3840480"/>
          </a:xfrm>
          <a:prstGeom prst="rect">
            <a:avLst/>
          </a:prstGeom>
          <a:solidFill>
            <a:srgbClr val="E68B6E"/>
          </a:solidFill>
          <a:ln/>
        </p:spPr>
      </p:sp>
      <p:sp>
        <p:nvSpPr>
          <p:cNvPr id="12" name="Text 10"/>
          <p:cNvSpPr/>
          <p:nvPr/>
        </p:nvSpPr>
        <p:spPr>
          <a:xfrm>
            <a:off x="6492240" y="2697480"/>
            <a:ext cx="5074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68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standard solvers do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6492240" y="3108960"/>
            <a:ext cx="507492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8EF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Re-solve from scratch every time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8EF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Reroute already-completed stops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8EF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Lose execution state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8EF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Miss SLA windows during re-planning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8EF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No awareness of in-progress work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8EF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Treat every change as a full restart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E1B2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E8EF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Vision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5BA4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a VRP solver that knows execution state and a benchmark that proves it works.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457200" y="1828800"/>
            <a:ext cx="3657600" cy="4114800"/>
          </a:xfrm>
          <a:prstGeom prst="roundRect">
            <a:avLst>
              <a:gd name="adj" fmla="val 2500"/>
            </a:avLst>
          </a:prstGeom>
          <a:solidFill>
            <a:srgbClr val="233D5C"/>
          </a:solidFill>
          <a:ln w="12700">
            <a:solidFill>
              <a:srgbClr val="3FA88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1828800"/>
            <a:ext cx="73152" cy="4114800"/>
          </a:xfrm>
          <a:prstGeom prst="rect">
            <a:avLst/>
          </a:prstGeom>
          <a:solidFill>
            <a:srgbClr val="3FA88A"/>
          </a:solidFill>
          <a:ln/>
        </p:spPr>
      </p:sp>
      <p:sp>
        <p:nvSpPr>
          <p:cNvPr id="6" name="Text 4"/>
          <p:cNvSpPr/>
          <p:nvPr/>
        </p:nvSpPr>
        <p:spPr>
          <a:xfrm>
            <a:off x="685800" y="196596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FA8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· Compare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685800" y="2377440"/>
            <a:ext cx="329184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8EF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Side-by-side benchmark of 8 solver families on identical inputs.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8EF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Fair, reproducible, and visual.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8EF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Greedy · OSRM · PyVRP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8EF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OR-Tools · OR-Tools EA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8EF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Hybrid · Adaptive · Esri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251960" y="1828800"/>
            <a:ext cx="3657600" cy="4114800"/>
          </a:xfrm>
          <a:prstGeom prst="roundRect">
            <a:avLst>
              <a:gd name="adj" fmla="val 2500"/>
            </a:avLst>
          </a:prstGeom>
          <a:solidFill>
            <a:srgbClr val="233D5C"/>
          </a:solidFill>
          <a:ln w="12700">
            <a:solidFill>
              <a:srgbClr val="E6B85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251960" y="1828800"/>
            <a:ext cx="73152" cy="4114800"/>
          </a:xfrm>
          <a:prstGeom prst="rect">
            <a:avLst/>
          </a:prstGeom>
          <a:solidFill>
            <a:srgbClr val="E6B85B"/>
          </a:solidFill>
          <a:ln/>
        </p:spPr>
      </p:sp>
      <p:sp>
        <p:nvSpPr>
          <p:cNvPr id="10" name="Text 8"/>
          <p:cNvSpPr/>
          <p:nvPr/>
        </p:nvSpPr>
        <p:spPr>
          <a:xfrm>
            <a:off x="4480560" y="196596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6B8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· Preserve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4480560" y="2377440"/>
            <a:ext cx="329184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8EF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Lock in-progress routes so re-optimization respects committed work.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8EF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innovation: split-solve.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8EF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Locked stops bypass solver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8EF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Vehicle anchored at last stop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8EF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Only open work re-routed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8046720" y="1828800"/>
            <a:ext cx="3657600" cy="4114800"/>
          </a:xfrm>
          <a:prstGeom prst="roundRect">
            <a:avLst>
              <a:gd name="adj" fmla="val 2500"/>
            </a:avLst>
          </a:prstGeom>
          <a:solidFill>
            <a:srgbClr val="233D5C"/>
          </a:solidFill>
          <a:ln w="12700">
            <a:solidFill>
              <a:srgbClr val="9B89E6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046720" y="1828800"/>
            <a:ext cx="73152" cy="4114800"/>
          </a:xfrm>
          <a:prstGeom prst="rect">
            <a:avLst/>
          </a:prstGeom>
          <a:solidFill>
            <a:srgbClr val="9B89E6"/>
          </a:solidFill>
          <a:ln/>
        </p:spPr>
      </p:sp>
      <p:sp>
        <p:nvSpPr>
          <p:cNvPr id="14" name="Text 12"/>
          <p:cNvSpPr/>
          <p:nvPr/>
        </p:nvSpPr>
        <p:spPr>
          <a:xfrm>
            <a:off x="8275320" y="196596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9B89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· Self-correct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8275320" y="2377440"/>
            <a:ext cx="329184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8EF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AI agent that detects violations and triggers re-optimization autonomously.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8EF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Gemini 2.0 Flash · 8 tools.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8EF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Natural language interface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8EF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Multi-step reasoning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8EF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Reactive event handling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E1B2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E8EF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Demo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5BA4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Hosted on Hugging Face Spaces · pre-loaded with synthetic dataset &amp; benchmark artifacts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914400" y="1645920"/>
            <a:ext cx="10332720" cy="4114800"/>
          </a:xfrm>
          <a:prstGeom prst="roundRect">
            <a:avLst>
              <a:gd name="adj" fmla="val 3333"/>
            </a:avLst>
          </a:prstGeom>
          <a:solidFill>
            <a:srgbClr val="233D5C"/>
          </a:solidFill>
          <a:ln w="25400">
            <a:solidFill>
              <a:srgbClr val="3FA88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14400" y="2286000"/>
            <a:ext cx="10332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7AC4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🚀  LIVE STREAMLIT APP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914400" y="292608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E8EF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backends pre-computed · 18 scenarios · AI agent ready</a:t>
            </a:r>
            <a:endParaRPr lang="en-US" sz="1600" dirty="0"/>
          </a:p>
        </p:txBody>
      </p:sp>
      <p:sp>
        <p:nvSpPr>
          <p:cNvPr id="7" name="Text 5">
            <a:hlinkClick r:id="rId1" tooltip=""/>
          </p:cNvPr>
          <p:cNvSpPr/>
          <p:nvPr/>
        </p:nvSpPr>
        <p:spPr>
          <a:xfrm>
            <a:off x="914400" y="3657600"/>
            <a:ext cx="10332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u="sng" dirty="0">
                <a:solidFill>
                  <a:srgbClr val="5BA4E6"/>
                </a:solidFill>
                <a:latin typeface="Consolas" pitchFamily="34" charset="0"/>
                <a:ea typeface="Consolas" pitchFamily="34" charset="-122"/>
                <a:cs typeface="Consolas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https://huggingface.co/spaces/AnubhaParashar/Execution-Aware-Agentic-VRP-Solver-and-Benchmark-Studio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914400" y="457200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8FA9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Open the link to interact with the live app while presenting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57200" y="603504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8FA9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 Gemini 2.0 Flash API key required for the AI Agent tab · 1,500 req/day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E1B2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E8EF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8 Solver Backends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1280160"/>
            <a:ext cx="3657600" cy="1691640"/>
          </a:xfrm>
          <a:prstGeom prst="roundRect">
            <a:avLst>
              <a:gd name="adj" fmla="val 5405"/>
            </a:avLst>
          </a:prstGeom>
          <a:solidFill>
            <a:srgbClr val="233D5C"/>
          </a:solidFill>
          <a:ln w="12700">
            <a:solidFill>
              <a:srgbClr val="7AC4A1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1280160"/>
            <a:ext cx="73152" cy="1691640"/>
          </a:xfrm>
          <a:prstGeom prst="rect">
            <a:avLst/>
          </a:prstGeom>
          <a:solidFill>
            <a:srgbClr val="7AC4A1"/>
          </a:solidFill>
          <a:ln/>
        </p:spPr>
      </p:sp>
      <p:sp>
        <p:nvSpPr>
          <p:cNvPr id="5" name="Text 3"/>
          <p:cNvSpPr/>
          <p:nvPr/>
        </p:nvSpPr>
        <p:spPr>
          <a:xfrm>
            <a:off x="685800" y="141732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7AC4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🏆 OR-Tools EA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685800" y="1828800"/>
            <a:ext cx="32918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8EF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Split-solve CP + GLS + greedy fallback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8EF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770s · 0 violations · 150/150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566160" y="1417320"/>
            <a:ext cx="365760" cy="365760"/>
          </a:xfrm>
          <a:prstGeom prst="star5">
            <a:avLst/>
          </a:prstGeom>
          <a:solidFill>
            <a:srgbClr val="E6B85B"/>
          </a:solidFill>
          <a:ln/>
        </p:spPr>
      </p:sp>
      <p:sp>
        <p:nvSpPr>
          <p:cNvPr id="8" name="Shape 6"/>
          <p:cNvSpPr/>
          <p:nvPr/>
        </p:nvSpPr>
        <p:spPr>
          <a:xfrm>
            <a:off x="4251960" y="1280160"/>
            <a:ext cx="3657600" cy="1691640"/>
          </a:xfrm>
          <a:prstGeom prst="roundRect">
            <a:avLst>
              <a:gd name="adj" fmla="val 5405"/>
            </a:avLst>
          </a:prstGeom>
          <a:solidFill>
            <a:srgbClr val="233D5C"/>
          </a:solidFill>
          <a:ln w="12700">
            <a:solidFill>
              <a:srgbClr val="5BA4E6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251960" y="1280160"/>
            <a:ext cx="73152" cy="1691640"/>
          </a:xfrm>
          <a:prstGeom prst="rect">
            <a:avLst/>
          </a:prstGeom>
          <a:solidFill>
            <a:srgbClr val="5BA4E6"/>
          </a:solidFill>
          <a:ln/>
        </p:spPr>
      </p:sp>
      <p:sp>
        <p:nvSpPr>
          <p:cNvPr id="10" name="Text 8"/>
          <p:cNvSpPr/>
          <p:nvPr/>
        </p:nvSpPr>
        <p:spPr>
          <a:xfrm>
            <a:off x="4480560" y="141732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5BA4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OR-Tools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4480560" y="1828800"/>
            <a:ext cx="32918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8EF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CVRPTW + Guided Local Search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8EF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868s · 0 violations · 150/150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8046720" y="1280160"/>
            <a:ext cx="3657600" cy="1691640"/>
          </a:xfrm>
          <a:prstGeom prst="roundRect">
            <a:avLst>
              <a:gd name="adj" fmla="val 5405"/>
            </a:avLst>
          </a:prstGeom>
          <a:solidFill>
            <a:srgbClr val="233D5C"/>
          </a:solidFill>
          <a:ln w="12700">
            <a:solidFill>
              <a:srgbClr val="E6B85B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046720" y="1280160"/>
            <a:ext cx="73152" cy="1691640"/>
          </a:xfrm>
          <a:prstGeom prst="rect">
            <a:avLst/>
          </a:prstGeom>
          <a:solidFill>
            <a:srgbClr val="E6B85B"/>
          </a:solidFill>
          <a:ln/>
        </p:spPr>
      </p:sp>
      <p:sp>
        <p:nvSpPr>
          <p:cNvPr id="14" name="Text 12"/>
          <p:cNvSpPr/>
          <p:nvPr/>
        </p:nvSpPr>
        <p:spPr>
          <a:xfrm>
            <a:off x="8275320" y="141732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6B8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Esri ArcGIS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8275320" y="1828800"/>
            <a:ext cx="32918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8EF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Tabu Search (cloud)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8EF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973s · drops 8 orders avg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57200" y="3108960"/>
            <a:ext cx="3657600" cy="1691640"/>
          </a:xfrm>
          <a:prstGeom prst="roundRect">
            <a:avLst>
              <a:gd name="adj" fmla="val 5405"/>
            </a:avLst>
          </a:prstGeom>
          <a:solidFill>
            <a:srgbClr val="233D5C"/>
          </a:solidFill>
          <a:ln w="12700">
            <a:solidFill>
              <a:srgbClr val="9B89E6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57200" y="3108960"/>
            <a:ext cx="73152" cy="1691640"/>
          </a:xfrm>
          <a:prstGeom prst="rect">
            <a:avLst/>
          </a:prstGeom>
          <a:solidFill>
            <a:srgbClr val="9B89E6"/>
          </a:solidFill>
          <a:ln/>
        </p:spPr>
      </p:sp>
      <p:sp>
        <p:nvSpPr>
          <p:cNvPr id="18" name="Text 16"/>
          <p:cNvSpPr/>
          <p:nvPr/>
        </p:nvSpPr>
        <p:spPr>
          <a:xfrm>
            <a:off x="685800" y="324612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9B89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Adaptive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685800" y="3657600"/>
            <a:ext cx="32918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8EF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Multi-restart regret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8EF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6,472s · 0 violations · 150/150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4251960" y="3108960"/>
            <a:ext cx="3657600" cy="1691640"/>
          </a:xfrm>
          <a:prstGeom prst="roundRect">
            <a:avLst>
              <a:gd name="adj" fmla="val 5405"/>
            </a:avLst>
          </a:prstGeom>
          <a:solidFill>
            <a:srgbClr val="233D5C"/>
          </a:solidFill>
          <a:ln w="12700">
            <a:solidFill>
              <a:srgbClr val="9B89E6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251960" y="3108960"/>
            <a:ext cx="73152" cy="1691640"/>
          </a:xfrm>
          <a:prstGeom prst="rect">
            <a:avLst/>
          </a:prstGeom>
          <a:solidFill>
            <a:srgbClr val="9B89E6"/>
          </a:solidFill>
          <a:ln/>
        </p:spPr>
      </p:sp>
      <p:sp>
        <p:nvSpPr>
          <p:cNvPr id="22" name="Text 20"/>
          <p:cNvSpPr/>
          <p:nvPr/>
        </p:nvSpPr>
        <p:spPr>
          <a:xfrm>
            <a:off x="4480560" y="324612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9B89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Hybrid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4480560" y="3657600"/>
            <a:ext cx="32918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8EF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Regret + LNS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8EF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1,790s · 0 violations · 150/150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8046720" y="3108960"/>
            <a:ext cx="3657600" cy="1691640"/>
          </a:xfrm>
          <a:prstGeom prst="roundRect">
            <a:avLst>
              <a:gd name="adj" fmla="val 5405"/>
            </a:avLst>
          </a:prstGeom>
          <a:solidFill>
            <a:srgbClr val="233D5C"/>
          </a:solidFill>
          <a:ln w="12700">
            <a:solidFill>
              <a:srgbClr val="E68B6E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046720" y="3108960"/>
            <a:ext cx="73152" cy="1691640"/>
          </a:xfrm>
          <a:prstGeom prst="rect">
            <a:avLst/>
          </a:prstGeom>
          <a:solidFill>
            <a:srgbClr val="E68B6E"/>
          </a:solidFill>
          <a:ln/>
        </p:spPr>
      </p:sp>
      <p:sp>
        <p:nvSpPr>
          <p:cNvPr id="26" name="Text 24"/>
          <p:cNvSpPr/>
          <p:nvPr/>
        </p:nvSpPr>
        <p:spPr>
          <a:xfrm>
            <a:off x="8275320" y="324612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68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Greedy + 2-opt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8275320" y="3657600"/>
            <a:ext cx="32918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8EF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Nearest-neighbour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8EF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22s · 231,070 late min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457200" y="4937760"/>
            <a:ext cx="3657600" cy="1691640"/>
          </a:xfrm>
          <a:prstGeom prst="roundRect">
            <a:avLst>
              <a:gd name="adj" fmla="val 5405"/>
            </a:avLst>
          </a:prstGeom>
          <a:solidFill>
            <a:srgbClr val="233D5C"/>
          </a:solidFill>
          <a:ln w="12700">
            <a:solidFill>
              <a:srgbClr val="E68B6E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457200" y="4937760"/>
            <a:ext cx="73152" cy="1691640"/>
          </a:xfrm>
          <a:prstGeom prst="rect">
            <a:avLst/>
          </a:prstGeom>
          <a:solidFill>
            <a:srgbClr val="E68B6E"/>
          </a:solidFill>
          <a:ln/>
        </p:spPr>
      </p:sp>
      <p:sp>
        <p:nvSpPr>
          <p:cNvPr id="30" name="Text 28"/>
          <p:cNvSpPr/>
          <p:nvPr/>
        </p:nvSpPr>
        <p:spPr>
          <a:xfrm>
            <a:off x="685800" y="507492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68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PyVRP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685800" y="5486400"/>
            <a:ext cx="32918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8EF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Hybrid Genetic Search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8EF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545s · 134,483 late min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4251960" y="4937760"/>
            <a:ext cx="3657600" cy="1691640"/>
          </a:xfrm>
          <a:prstGeom prst="roundRect">
            <a:avLst>
              <a:gd name="adj" fmla="val 5405"/>
            </a:avLst>
          </a:prstGeom>
          <a:solidFill>
            <a:srgbClr val="233D5C"/>
          </a:solidFill>
          <a:ln w="12700">
            <a:solidFill>
              <a:srgbClr val="E68B6E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4251960" y="4937760"/>
            <a:ext cx="73152" cy="1691640"/>
          </a:xfrm>
          <a:prstGeom prst="rect">
            <a:avLst/>
          </a:prstGeom>
          <a:solidFill>
            <a:srgbClr val="E68B6E"/>
          </a:solidFill>
          <a:ln/>
        </p:spPr>
      </p:sp>
      <p:sp>
        <p:nvSpPr>
          <p:cNvPr id="34" name="Text 32"/>
          <p:cNvSpPr/>
          <p:nvPr/>
        </p:nvSpPr>
        <p:spPr>
          <a:xfrm>
            <a:off x="4480560" y="507492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68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OSRM</a:t>
            </a:r>
            <a:endParaRPr lang="en-US" sz="1600" dirty="0"/>
          </a:p>
        </p:txBody>
      </p:sp>
      <p:sp>
        <p:nvSpPr>
          <p:cNvPr id="35" name="Text 33"/>
          <p:cNvSpPr/>
          <p:nvPr/>
        </p:nvSpPr>
        <p:spPr>
          <a:xfrm>
            <a:off x="4480560" y="5486400"/>
            <a:ext cx="32918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8EF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Greedy + road distances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8EF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4,949s · 245,827 late min</a:t>
            </a:r>
            <a:endParaRPr lang="en-US" sz="1200" dirty="0"/>
          </a:p>
        </p:txBody>
      </p:sp>
      <p:sp>
        <p:nvSpPr>
          <p:cNvPr id="36" name="Shape 34"/>
          <p:cNvSpPr/>
          <p:nvPr/>
        </p:nvSpPr>
        <p:spPr>
          <a:xfrm>
            <a:off x="8046720" y="4937760"/>
            <a:ext cx="3657600" cy="1691640"/>
          </a:xfrm>
          <a:prstGeom prst="roundRect">
            <a:avLst>
              <a:gd name="adj" fmla="val 5405"/>
            </a:avLst>
          </a:prstGeom>
          <a:solidFill>
            <a:srgbClr val="233D5C"/>
          </a:solidFill>
          <a:ln w="12700">
            <a:solidFill>
              <a:srgbClr val="E6B85B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8046720" y="4937760"/>
            <a:ext cx="73152" cy="1691640"/>
          </a:xfrm>
          <a:prstGeom prst="rect">
            <a:avLst/>
          </a:prstGeom>
          <a:solidFill>
            <a:srgbClr val="E6B85B"/>
          </a:solidFill>
          <a:ln/>
        </p:spPr>
      </p:sp>
      <p:sp>
        <p:nvSpPr>
          <p:cNvPr id="38" name="Text 36"/>
          <p:cNvSpPr/>
          <p:nvPr/>
        </p:nvSpPr>
        <p:spPr>
          <a:xfrm>
            <a:off x="8275320" y="507492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6B8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Filter</a:t>
            </a:r>
            <a:endParaRPr lang="en-US" sz="1600" dirty="0"/>
          </a:p>
        </p:txBody>
      </p:sp>
      <p:sp>
        <p:nvSpPr>
          <p:cNvPr id="39" name="Text 37"/>
          <p:cNvSpPr/>
          <p:nvPr/>
        </p:nvSpPr>
        <p:spPr>
          <a:xfrm>
            <a:off x="8275320" y="5486400"/>
            <a:ext cx="32918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8EF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Production-viable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8EF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4 of 8 backends pass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E1B2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E8EF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Algorithm Families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1188720"/>
            <a:ext cx="2194560" cy="457200"/>
          </a:xfrm>
          <a:prstGeom prst="rect">
            <a:avLst/>
          </a:prstGeom>
          <a:solidFill>
            <a:srgbClr val="1A2F4A"/>
          </a:solidFill>
          <a:ln w="12700">
            <a:solidFill>
              <a:srgbClr val="0E1B2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18872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5BA4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Family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2651760" y="1188720"/>
            <a:ext cx="2377440" cy="457200"/>
          </a:xfrm>
          <a:prstGeom prst="rect">
            <a:avLst/>
          </a:prstGeom>
          <a:solidFill>
            <a:srgbClr val="1A2F4A"/>
          </a:solidFill>
          <a:ln w="12700">
            <a:solidFill>
              <a:srgbClr val="0E1B2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651760" y="118872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5BA4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Backends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029200" y="1188720"/>
            <a:ext cx="2743200" cy="457200"/>
          </a:xfrm>
          <a:prstGeom prst="rect">
            <a:avLst/>
          </a:prstGeom>
          <a:solidFill>
            <a:srgbClr val="1A2F4A"/>
          </a:solidFill>
          <a:ln w="12700">
            <a:solidFill>
              <a:srgbClr val="0E1B2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0" y="118872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5BA4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Approach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7772400" y="1188720"/>
            <a:ext cx="1828800" cy="457200"/>
          </a:xfrm>
          <a:prstGeom prst="rect">
            <a:avLst/>
          </a:prstGeom>
          <a:solidFill>
            <a:srgbClr val="1A2F4A"/>
          </a:solidFill>
          <a:ln w="12700">
            <a:solidFill>
              <a:srgbClr val="0E1B2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772400" y="118872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5BA4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 Handling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9601200" y="1188720"/>
            <a:ext cx="2103120" cy="457200"/>
          </a:xfrm>
          <a:prstGeom prst="rect">
            <a:avLst/>
          </a:prstGeom>
          <a:solidFill>
            <a:srgbClr val="1A2F4A"/>
          </a:solidFill>
          <a:ln w="12700">
            <a:solidFill>
              <a:srgbClr val="0E1B2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601200" y="118872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5BA4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Production?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457200" y="1645920"/>
            <a:ext cx="2194560" cy="548640"/>
          </a:xfrm>
          <a:prstGeom prst="rect">
            <a:avLst/>
          </a:prstGeom>
          <a:solidFill>
            <a:srgbClr val="1A3D33"/>
          </a:solidFill>
          <a:ln w="6350">
            <a:solidFill>
              <a:srgbClr val="1A2F4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48640" y="1645920"/>
            <a:ext cx="2011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7AC4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Constraint Programming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2651760" y="1645920"/>
            <a:ext cx="2377440" cy="548640"/>
          </a:xfrm>
          <a:prstGeom prst="rect">
            <a:avLst/>
          </a:prstGeom>
          <a:solidFill>
            <a:srgbClr val="1A3D33"/>
          </a:solidFill>
          <a:ln w="6350">
            <a:solidFill>
              <a:srgbClr val="1A2F4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743200" y="1645920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7AC4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OR-Tools, OR-Tools EA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5029200" y="1645920"/>
            <a:ext cx="2743200" cy="548640"/>
          </a:xfrm>
          <a:prstGeom prst="rect">
            <a:avLst/>
          </a:prstGeom>
          <a:solidFill>
            <a:srgbClr val="1A3D33"/>
          </a:solidFill>
          <a:ln w="6350">
            <a:solidFill>
              <a:srgbClr val="1A2F4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120640" y="1645920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7AC4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Variables + constraints + search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7772400" y="1645920"/>
            <a:ext cx="1828800" cy="548640"/>
          </a:xfrm>
          <a:prstGeom prst="rect">
            <a:avLst/>
          </a:prstGeom>
          <a:solidFill>
            <a:srgbClr val="1A3D33"/>
          </a:solidFill>
          <a:ln w="6350">
            <a:solidFill>
              <a:srgbClr val="1A2F4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863840" y="1645920"/>
            <a:ext cx="1645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7AC4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9601200" y="1645920"/>
            <a:ext cx="2103120" cy="548640"/>
          </a:xfrm>
          <a:prstGeom prst="rect">
            <a:avLst/>
          </a:prstGeom>
          <a:solidFill>
            <a:srgbClr val="1A3D33"/>
          </a:solidFill>
          <a:ln w="6350">
            <a:solidFill>
              <a:srgbClr val="1A2F4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692640" y="1645920"/>
            <a:ext cx="1920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7AC4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Yes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457200" y="2194560"/>
            <a:ext cx="2194560" cy="548640"/>
          </a:xfrm>
          <a:prstGeom prst="rect">
            <a:avLst/>
          </a:prstGeom>
          <a:solidFill>
            <a:srgbClr val="233D5C"/>
          </a:solidFill>
          <a:ln w="6350">
            <a:solidFill>
              <a:srgbClr val="1A2F4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48640" y="2194560"/>
            <a:ext cx="2011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8EF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Metaheuristics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2651760" y="2194560"/>
            <a:ext cx="2377440" cy="548640"/>
          </a:xfrm>
          <a:prstGeom prst="rect">
            <a:avLst/>
          </a:prstGeom>
          <a:solidFill>
            <a:srgbClr val="233D5C"/>
          </a:solidFill>
          <a:ln w="6350">
            <a:solidFill>
              <a:srgbClr val="1A2F4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743200" y="2194560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EF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Hybrid, Adaptive, PyVRP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5029200" y="2194560"/>
            <a:ext cx="2743200" cy="548640"/>
          </a:xfrm>
          <a:prstGeom prst="rect">
            <a:avLst/>
          </a:prstGeom>
          <a:solidFill>
            <a:srgbClr val="233D5C"/>
          </a:solidFill>
          <a:ln w="6350">
            <a:solidFill>
              <a:srgbClr val="1A2F4A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120640" y="2194560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EF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Iterative improvement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7772400" y="2194560"/>
            <a:ext cx="1828800" cy="548640"/>
          </a:xfrm>
          <a:prstGeom prst="rect">
            <a:avLst/>
          </a:prstGeom>
          <a:solidFill>
            <a:srgbClr val="233D5C"/>
          </a:solidFill>
          <a:ln w="6350">
            <a:solidFill>
              <a:srgbClr val="1A2F4A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863840" y="2194560"/>
            <a:ext cx="1645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EF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Penalty / Hard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9601200" y="2194560"/>
            <a:ext cx="2103120" cy="548640"/>
          </a:xfrm>
          <a:prstGeom prst="rect">
            <a:avLst/>
          </a:prstGeom>
          <a:solidFill>
            <a:srgbClr val="233D5C"/>
          </a:solidFill>
          <a:ln w="6350">
            <a:solidFill>
              <a:srgbClr val="1A2F4A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9692640" y="2194560"/>
            <a:ext cx="1920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EF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△ Specialized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457200" y="2743200"/>
            <a:ext cx="2194560" cy="548640"/>
          </a:xfrm>
          <a:prstGeom prst="rect">
            <a:avLst/>
          </a:prstGeom>
          <a:solidFill>
            <a:srgbClr val="233D5C"/>
          </a:solidFill>
          <a:ln w="6350">
            <a:solidFill>
              <a:srgbClr val="1A2F4A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48640" y="2743200"/>
            <a:ext cx="2011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8EF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Greedy Heuristics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2651760" y="2743200"/>
            <a:ext cx="2377440" cy="548640"/>
          </a:xfrm>
          <a:prstGeom prst="rect">
            <a:avLst/>
          </a:prstGeom>
          <a:solidFill>
            <a:srgbClr val="233D5C"/>
          </a:solidFill>
          <a:ln w="6350">
            <a:solidFill>
              <a:srgbClr val="1A2F4A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2743200" y="2743200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EF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Greedy, OSRM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5029200" y="2743200"/>
            <a:ext cx="2743200" cy="548640"/>
          </a:xfrm>
          <a:prstGeom prst="rect">
            <a:avLst/>
          </a:prstGeom>
          <a:solidFill>
            <a:srgbClr val="233D5C"/>
          </a:solidFill>
          <a:ln w="6350">
            <a:solidFill>
              <a:srgbClr val="1A2F4A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5120640" y="2743200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EF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decisions, no global view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7772400" y="2743200"/>
            <a:ext cx="1828800" cy="548640"/>
          </a:xfrm>
          <a:prstGeom prst="rect">
            <a:avLst/>
          </a:prstGeom>
          <a:solidFill>
            <a:srgbClr val="233D5C"/>
          </a:solidFill>
          <a:ln w="6350">
            <a:solidFill>
              <a:srgbClr val="1A2F4A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7863840" y="2743200"/>
            <a:ext cx="1645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EF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only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9601200" y="2743200"/>
            <a:ext cx="2103120" cy="548640"/>
          </a:xfrm>
          <a:prstGeom prst="rect">
            <a:avLst/>
          </a:prstGeom>
          <a:solidFill>
            <a:srgbClr val="233D5C"/>
          </a:solidFill>
          <a:ln w="6350">
            <a:solidFill>
              <a:srgbClr val="1A2F4A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9692640" y="2743200"/>
            <a:ext cx="1920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EF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Baseline</a:t>
            </a:r>
            <a:endParaRPr lang="en-US" sz="1100" dirty="0"/>
          </a:p>
        </p:txBody>
      </p:sp>
      <p:sp>
        <p:nvSpPr>
          <p:cNvPr id="43" name="Shape 41"/>
          <p:cNvSpPr/>
          <p:nvPr/>
        </p:nvSpPr>
        <p:spPr>
          <a:xfrm>
            <a:off x="457200" y="3291840"/>
            <a:ext cx="2194560" cy="548640"/>
          </a:xfrm>
          <a:prstGeom prst="rect">
            <a:avLst/>
          </a:prstGeom>
          <a:solidFill>
            <a:srgbClr val="233D5C"/>
          </a:solidFill>
          <a:ln w="6350">
            <a:solidFill>
              <a:srgbClr val="1A2F4A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548640" y="3291840"/>
            <a:ext cx="2011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8EF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Commercial Cloud</a:t>
            </a:r>
            <a:endParaRPr lang="en-US" sz="1100" dirty="0"/>
          </a:p>
        </p:txBody>
      </p:sp>
      <p:sp>
        <p:nvSpPr>
          <p:cNvPr id="45" name="Shape 43"/>
          <p:cNvSpPr/>
          <p:nvPr/>
        </p:nvSpPr>
        <p:spPr>
          <a:xfrm>
            <a:off x="2651760" y="3291840"/>
            <a:ext cx="2377440" cy="548640"/>
          </a:xfrm>
          <a:prstGeom prst="rect">
            <a:avLst/>
          </a:prstGeom>
          <a:solidFill>
            <a:srgbClr val="233D5C"/>
          </a:solidFill>
          <a:ln w="6350">
            <a:solidFill>
              <a:srgbClr val="1A2F4A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2743200" y="3291840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EF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Esri ArcGIS</a:t>
            </a:r>
            <a:endParaRPr lang="en-US" sz="1100" dirty="0"/>
          </a:p>
        </p:txBody>
      </p:sp>
      <p:sp>
        <p:nvSpPr>
          <p:cNvPr id="47" name="Shape 45"/>
          <p:cNvSpPr/>
          <p:nvPr/>
        </p:nvSpPr>
        <p:spPr>
          <a:xfrm>
            <a:off x="5029200" y="3291840"/>
            <a:ext cx="2743200" cy="548640"/>
          </a:xfrm>
          <a:prstGeom prst="rect">
            <a:avLst/>
          </a:prstGeom>
          <a:solidFill>
            <a:srgbClr val="233D5C"/>
          </a:solidFill>
          <a:ln w="6350">
            <a:solidFill>
              <a:srgbClr val="1A2F4A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5120640" y="3291840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EF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Tabu Search (proprietary)</a:t>
            </a:r>
            <a:endParaRPr lang="en-US" sz="1100" dirty="0"/>
          </a:p>
        </p:txBody>
      </p:sp>
      <p:sp>
        <p:nvSpPr>
          <p:cNvPr id="49" name="Shape 47"/>
          <p:cNvSpPr/>
          <p:nvPr/>
        </p:nvSpPr>
        <p:spPr>
          <a:xfrm>
            <a:off x="7772400" y="3291840"/>
            <a:ext cx="1828800" cy="548640"/>
          </a:xfrm>
          <a:prstGeom prst="rect">
            <a:avLst/>
          </a:prstGeom>
          <a:solidFill>
            <a:srgbClr val="233D5C"/>
          </a:solidFill>
          <a:ln w="6350">
            <a:solidFill>
              <a:srgbClr val="1A2F4A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7863840" y="3291840"/>
            <a:ext cx="1645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EF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 (drops)</a:t>
            </a:r>
            <a:endParaRPr lang="en-US" sz="1100" dirty="0"/>
          </a:p>
        </p:txBody>
      </p:sp>
      <p:sp>
        <p:nvSpPr>
          <p:cNvPr id="51" name="Shape 49"/>
          <p:cNvSpPr/>
          <p:nvPr/>
        </p:nvSpPr>
        <p:spPr>
          <a:xfrm>
            <a:off x="9601200" y="3291840"/>
            <a:ext cx="2103120" cy="548640"/>
          </a:xfrm>
          <a:prstGeom prst="rect">
            <a:avLst/>
          </a:prstGeom>
          <a:solidFill>
            <a:srgbClr val="233D5C"/>
          </a:solidFill>
          <a:ln w="6350">
            <a:solidFill>
              <a:srgbClr val="1A2F4A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9692640" y="3291840"/>
            <a:ext cx="1920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EF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△ Enterprise</a:t>
            </a:r>
            <a:endParaRPr lang="en-US" sz="1100" dirty="0"/>
          </a:p>
        </p:txBody>
      </p:sp>
      <p:sp>
        <p:nvSpPr>
          <p:cNvPr id="53" name="Shape 51"/>
          <p:cNvSpPr/>
          <p:nvPr/>
        </p:nvSpPr>
        <p:spPr>
          <a:xfrm>
            <a:off x="457200" y="4846320"/>
            <a:ext cx="73152" cy="1097280"/>
          </a:xfrm>
          <a:prstGeom prst="rect">
            <a:avLst/>
          </a:prstGeom>
          <a:solidFill>
            <a:srgbClr val="E6B85B"/>
          </a:solidFill>
          <a:ln/>
        </p:spPr>
      </p:sp>
      <p:sp>
        <p:nvSpPr>
          <p:cNvPr id="54" name="Shape 52"/>
          <p:cNvSpPr/>
          <p:nvPr/>
        </p:nvSpPr>
        <p:spPr>
          <a:xfrm>
            <a:off x="530352" y="4846320"/>
            <a:ext cx="11173968" cy="1097280"/>
          </a:xfrm>
          <a:prstGeom prst="rect">
            <a:avLst/>
          </a:prstGeom>
          <a:solidFill>
            <a:srgbClr val="233D5C"/>
          </a:solidFill>
          <a:ln/>
        </p:spPr>
      </p:sp>
      <p:sp>
        <p:nvSpPr>
          <p:cNvPr id="55" name="Text 53"/>
          <p:cNvSpPr/>
          <p:nvPr/>
        </p:nvSpPr>
        <p:spPr>
          <a:xfrm>
            <a:off x="731520" y="4937760"/>
            <a:ext cx="10789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E8EF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8 backends follow the same I/O contract:  run_*_backend(inputs, config) → bundle</a:t>
            </a:r>
            <a:endParaRPr lang="en-US" sz="16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E1B2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E8EF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Master Benchmark Table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5BA4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150 orders · 20 routes · 18 scenarios · means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2377440" cy="411480"/>
          </a:xfrm>
          <a:prstGeom prst="rect">
            <a:avLst/>
          </a:prstGeom>
          <a:solidFill>
            <a:srgbClr val="1A2F4A"/>
          </a:solidFill>
          <a:ln w="12700">
            <a:solidFill>
              <a:srgbClr val="0E1B2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371600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5BA4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2834640" y="1371600"/>
            <a:ext cx="822960" cy="411480"/>
          </a:xfrm>
          <a:prstGeom prst="rect">
            <a:avLst/>
          </a:prstGeom>
          <a:solidFill>
            <a:srgbClr val="1A2F4A"/>
          </a:solidFill>
          <a:ln w="12700">
            <a:solidFill>
              <a:srgbClr val="0E1B2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834640" y="1371600"/>
            <a:ext cx="822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5BA4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Asgn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1371600"/>
            <a:ext cx="1097280" cy="411480"/>
          </a:xfrm>
          <a:prstGeom prst="rect">
            <a:avLst/>
          </a:prstGeom>
          <a:solidFill>
            <a:srgbClr val="1A2F4A"/>
          </a:solidFill>
          <a:ln w="12700">
            <a:solidFill>
              <a:srgbClr val="0E1B2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657600" y="1371600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5BA4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km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754880" y="1371600"/>
            <a:ext cx="1097280" cy="411480"/>
          </a:xfrm>
          <a:prstGeom prst="rect">
            <a:avLst/>
          </a:prstGeom>
          <a:solidFill>
            <a:srgbClr val="1A2F4A"/>
          </a:solidFill>
          <a:ln w="12700">
            <a:solidFill>
              <a:srgbClr val="0E1B2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754880" y="1371600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5BA4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EAS km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5852160" y="1371600"/>
            <a:ext cx="1097280" cy="411480"/>
          </a:xfrm>
          <a:prstGeom prst="rect">
            <a:avLst/>
          </a:prstGeom>
          <a:solidFill>
            <a:srgbClr val="1A2F4A"/>
          </a:solidFill>
          <a:ln w="12700">
            <a:solidFill>
              <a:srgbClr val="0E1B2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852160" y="1371600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5BA4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RT km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949440" y="1371600"/>
            <a:ext cx="1097280" cy="411480"/>
          </a:xfrm>
          <a:prstGeom prst="rect">
            <a:avLst/>
          </a:prstGeom>
          <a:solidFill>
            <a:srgbClr val="1A2F4A"/>
          </a:solidFill>
          <a:ln w="12700">
            <a:solidFill>
              <a:srgbClr val="0E1B2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949440" y="1371600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5BA4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GB km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8046720" y="1371600"/>
            <a:ext cx="1280160" cy="411480"/>
          </a:xfrm>
          <a:prstGeom prst="rect">
            <a:avLst/>
          </a:prstGeom>
          <a:solidFill>
            <a:srgbClr val="1A2F4A"/>
          </a:solidFill>
          <a:ln w="12700">
            <a:solidFill>
              <a:srgbClr val="0E1B2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046720" y="1371600"/>
            <a:ext cx="1280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5BA4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9326880" y="1371600"/>
            <a:ext cx="914400" cy="411480"/>
          </a:xfrm>
          <a:prstGeom prst="rect">
            <a:avLst/>
          </a:prstGeom>
          <a:solidFill>
            <a:srgbClr val="1A2F4A"/>
          </a:solidFill>
          <a:ln w="12700">
            <a:solidFill>
              <a:srgbClr val="0E1B2C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326880" y="1371600"/>
            <a:ext cx="914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5BA4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10241280" y="1371600"/>
            <a:ext cx="1280160" cy="411480"/>
          </a:xfrm>
          <a:prstGeom prst="rect">
            <a:avLst/>
          </a:prstGeom>
          <a:solidFill>
            <a:srgbClr val="1A2F4A"/>
          </a:solidFill>
          <a:ln w="12700">
            <a:solidFill>
              <a:srgbClr val="0E1B2C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0241280" y="1371600"/>
            <a:ext cx="1280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5BA4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Runtime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457200" y="1783080"/>
            <a:ext cx="2377440" cy="457200"/>
          </a:xfrm>
          <a:prstGeom prst="rect">
            <a:avLst/>
          </a:prstGeom>
          <a:solidFill>
            <a:srgbClr val="1A3D33"/>
          </a:solidFill>
          <a:ln w="6350">
            <a:solidFill>
              <a:srgbClr val="1A2F4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02920" y="178308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7AC4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OR-Tools EA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2834640" y="1783080"/>
            <a:ext cx="822960" cy="457200"/>
          </a:xfrm>
          <a:prstGeom prst="rect">
            <a:avLst/>
          </a:prstGeom>
          <a:solidFill>
            <a:srgbClr val="1A3D33"/>
          </a:solidFill>
          <a:ln w="6350">
            <a:solidFill>
              <a:srgbClr val="1A2F4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2880360" y="1783080"/>
            <a:ext cx="731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7AC4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150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657600" y="1783080"/>
            <a:ext cx="1097280" cy="457200"/>
          </a:xfrm>
          <a:prstGeom prst="rect">
            <a:avLst/>
          </a:prstGeom>
          <a:solidFill>
            <a:srgbClr val="1A3D33"/>
          </a:solidFill>
          <a:ln w="6350">
            <a:solidFill>
              <a:srgbClr val="1A2F4A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703320" y="178308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7AC4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231.8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4754880" y="1783080"/>
            <a:ext cx="1097280" cy="457200"/>
          </a:xfrm>
          <a:prstGeom prst="rect">
            <a:avLst/>
          </a:prstGeom>
          <a:solidFill>
            <a:srgbClr val="1A3D33"/>
          </a:solidFill>
          <a:ln w="6350">
            <a:solidFill>
              <a:srgbClr val="1A2F4A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800600" y="178308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7AC4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232.8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5852160" y="1783080"/>
            <a:ext cx="1097280" cy="457200"/>
          </a:xfrm>
          <a:prstGeom prst="rect">
            <a:avLst/>
          </a:prstGeom>
          <a:solidFill>
            <a:srgbClr val="1A3D33"/>
          </a:solidFill>
          <a:ln w="6350">
            <a:solidFill>
              <a:srgbClr val="1A2F4A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897880" y="178308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7AC4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232.1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6949440" y="1783080"/>
            <a:ext cx="1097280" cy="457200"/>
          </a:xfrm>
          <a:prstGeom prst="rect">
            <a:avLst/>
          </a:prstGeom>
          <a:solidFill>
            <a:srgbClr val="1A3D33"/>
          </a:solidFill>
          <a:ln w="6350">
            <a:solidFill>
              <a:srgbClr val="1A2F4A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995160" y="178308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7AC4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239.8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8046720" y="1783080"/>
            <a:ext cx="1280160" cy="457200"/>
          </a:xfrm>
          <a:prstGeom prst="rect">
            <a:avLst/>
          </a:prstGeom>
          <a:solidFill>
            <a:srgbClr val="1A3D33"/>
          </a:solidFill>
          <a:ln w="6350">
            <a:solidFill>
              <a:srgbClr val="1A2F4A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8092440" y="1783080"/>
            <a:ext cx="1188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7AC4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9326880" y="1783080"/>
            <a:ext cx="914400" cy="457200"/>
          </a:xfrm>
          <a:prstGeom prst="rect">
            <a:avLst/>
          </a:prstGeom>
          <a:solidFill>
            <a:srgbClr val="1A3D33"/>
          </a:solidFill>
          <a:ln w="6350">
            <a:solidFill>
              <a:srgbClr val="1A2F4A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9372600" y="1783080"/>
            <a:ext cx="822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7AC4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10241280" y="1783080"/>
            <a:ext cx="1280160" cy="457200"/>
          </a:xfrm>
          <a:prstGeom prst="rect">
            <a:avLst/>
          </a:prstGeom>
          <a:solidFill>
            <a:srgbClr val="1A3D33"/>
          </a:solidFill>
          <a:ln w="6350">
            <a:solidFill>
              <a:srgbClr val="1A2F4A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10287000" y="1783080"/>
            <a:ext cx="1188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7AC4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770s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457200" y="2240280"/>
            <a:ext cx="2377440" cy="457200"/>
          </a:xfrm>
          <a:prstGeom prst="rect">
            <a:avLst/>
          </a:prstGeom>
          <a:solidFill>
            <a:srgbClr val="233D5C"/>
          </a:solidFill>
          <a:ln w="6350">
            <a:solidFill>
              <a:srgbClr val="1A2F4A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502920" y="224028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E8EF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OR-Tools</a:t>
            </a:r>
            <a:endParaRPr lang="en-US" sz="1100" dirty="0"/>
          </a:p>
        </p:txBody>
      </p:sp>
      <p:sp>
        <p:nvSpPr>
          <p:cNvPr id="42" name="Shape 40"/>
          <p:cNvSpPr/>
          <p:nvPr/>
        </p:nvSpPr>
        <p:spPr>
          <a:xfrm>
            <a:off x="2834640" y="2240280"/>
            <a:ext cx="822960" cy="457200"/>
          </a:xfrm>
          <a:prstGeom prst="rect">
            <a:avLst/>
          </a:prstGeom>
          <a:solidFill>
            <a:srgbClr val="233D5C"/>
          </a:solidFill>
          <a:ln w="6350">
            <a:solidFill>
              <a:srgbClr val="1A2F4A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2880360" y="2240280"/>
            <a:ext cx="731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8EF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150</a:t>
            </a:r>
            <a:endParaRPr lang="en-US" sz="1100" dirty="0"/>
          </a:p>
        </p:txBody>
      </p:sp>
      <p:sp>
        <p:nvSpPr>
          <p:cNvPr id="44" name="Shape 42"/>
          <p:cNvSpPr/>
          <p:nvPr/>
        </p:nvSpPr>
        <p:spPr>
          <a:xfrm>
            <a:off x="3657600" y="2240280"/>
            <a:ext cx="1097280" cy="457200"/>
          </a:xfrm>
          <a:prstGeom prst="rect">
            <a:avLst/>
          </a:prstGeom>
          <a:solidFill>
            <a:srgbClr val="233D5C"/>
          </a:solidFill>
          <a:ln w="6350">
            <a:solidFill>
              <a:srgbClr val="1A2F4A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3703320" y="224028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8EF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233.2</a:t>
            </a:r>
            <a:endParaRPr lang="en-US" sz="1100" dirty="0"/>
          </a:p>
        </p:txBody>
      </p:sp>
      <p:sp>
        <p:nvSpPr>
          <p:cNvPr id="46" name="Shape 44"/>
          <p:cNvSpPr/>
          <p:nvPr/>
        </p:nvSpPr>
        <p:spPr>
          <a:xfrm>
            <a:off x="4754880" y="2240280"/>
            <a:ext cx="1097280" cy="457200"/>
          </a:xfrm>
          <a:prstGeom prst="rect">
            <a:avLst/>
          </a:prstGeom>
          <a:solidFill>
            <a:srgbClr val="233D5C"/>
          </a:solidFill>
          <a:ln w="6350">
            <a:solidFill>
              <a:srgbClr val="1A2F4A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4800600" y="224028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8EF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233.4</a:t>
            </a:r>
            <a:endParaRPr lang="en-US" sz="1100" dirty="0"/>
          </a:p>
        </p:txBody>
      </p:sp>
      <p:sp>
        <p:nvSpPr>
          <p:cNvPr id="48" name="Shape 46"/>
          <p:cNvSpPr/>
          <p:nvPr/>
        </p:nvSpPr>
        <p:spPr>
          <a:xfrm>
            <a:off x="5852160" y="2240280"/>
            <a:ext cx="1097280" cy="457200"/>
          </a:xfrm>
          <a:prstGeom prst="rect">
            <a:avLst/>
          </a:prstGeom>
          <a:solidFill>
            <a:srgbClr val="233D5C"/>
          </a:solidFill>
          <a:ln w="6350">
            <a:solidFill>
              <a:srgbClr val="1A2F4A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5897880" y="224028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8EF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234.6</a:t>
            </a:r>
            <a:endParaRPr lang="en-US" sz="1100" dirty="0"/>
          </a:p>
        </p:txBody>
      </p:sp>
      <p:sp>
        <p:nvSpPr>
          <p:cNvPr id="50" name="Shape 48"/>
          <p:cNvSpPr/>
          <p:nvPr/>
        </p:nvSpPr>
        <p:spPr>
          <a:xfrm>
            <a:off x="6949440" y="2240280"/>
            <a:ext cx="1097280" cy="457200"/>
          </a:xfrm>
          <a:prstGeom prst="rect">
            <a:avLst/>
          </a:prstGeom>
          <a:solidFill>
            <a:srgbClr val="233D5C"/>
          </a:solidFill>
          <a:ln w="6350">
            <a:solidFill>
              <a:srgbClr val="1A2F4A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6995160" y="224028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8EF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243.2</a:t>
            </a:r>
            <a:endParaRPr lang="en-US" sz="1100" dirty="0"/>
          </a:p>
        </p:txBody>
      </p:sp>
      <p:sp>
        <p:nvSpPr>
          <p:cNvPr id="52" name="Shape 50"/>
          <p:cNvSpPr/>
          <p:nvPr/>
        </p:nvSpPr>
        <p:spPr>
          <a:xfrm>
            <a:off x="8046720" y="2240280"/>
            <a:ext cx="1280160" cy="457200"/>
          </a:xfrm>
          <a:prstGeom prst="rect">
            <a:avLst/>
          </a:prstGeom>
          <a:solidFill>
            <a:srgbClr val="233D5C"/>
          </a:solidFill>
          <a:ln w="6350">
            <a:solidFill>
              <a:srgbClr val="1A2F4A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8092440" y="2240280"/>
            <a:ext cx="1188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8EF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1100" dirty="0"/>
          </a:p>
        </p:txBody>
      </p:sp>
      <p:sp>
        <p:nvSpPr>
          <p:cNvPr id="54" name="Shape 52"/>
          <p:cNvSpPr/>
          <p:nvPr/>
        </p:nvSpPr>
        <p:spPr>
          <a:xfrm>
            <a:off x="9326880" y="2240280"/>
            <a:ext cx="914400" cy="457200"/>
          </a:xfrm>
          <a:prstGeom prst="rect">
            <a:avLst/>
          </a:prstGeom>
          <a:solidFill>
            <a:srgbClr val="233D5C"/>
          </a:solidFill>
          <a:ln w="6350">
            <a:solidFill>
              <a:srgbClr val="1A2F4A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9372600" y="2240280"/>
            <a:ext cx="822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8EF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1100" dirty="0"/>
          </a:p>
        </p:txBody>
      </p:sp>
      <p:sp>
        <p:nvSpPr>
          <p:cNvPr id="56" name="Shape 54"/>
          <p:cNvSpPr/>
          <p:nvPr/>
        </p:nvSpPr>
        <p:spPr>
          <a:xfrm>
            <a:off x="10241280" y="2240280"/>
            <a:ext cx="1280160" cy="457200"/>
          </a:xfrm>
          <a:prstGeom prst="rect">
            <a:avLst/>
          </a:prstGeom>
          <a:solidFill>
            <a:srgbClr val="233D5C"/>
          </a:solidFill>
          <a:ln w="6350">
            <a:solidFill>
              <a:srgbClr val="1A2F4A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10287000" y="2240280"/>
            <a:ext cx="1188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8EF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868s</a:t>
            </a:r>
            <a:endParaRPr lang="en-US" sz="1100" dirty="0"/>
          </a:p>
        </p:txBody>
      </p:sp>
      <p:sp>
        <p:nvSpPr>
          <p:cNvPr id="58" name="Shape 56"/>
          <p:cNvSpPr/>
          <p:nvPr/>
        </p:nvSpPr>
        <p:spPr>
          <a:xfrm>
            <a:off x="457200" y="2697480"/>
            <a:ext cx="2377440" cy="457200"/>
          </a:xfrm>
          <a:prstGeom prst="rect">
            <a:avLst/>
          </a:prstGeom>
          <a:solidFill>
            <a:srgbClr val="233D5C"/>
          </a:solidFill>
          <a:ln w="6350">
            <a:solidFill>
              <a:srgbClr val="1A2F4A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502920" y="269748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E8EF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Esri</a:t>
            </a:r>
            <a:endParaRPr lang="en-US" sz="1100" dirty="0"/>
          </a:p>
        </p:txBody>
      </p:sp>
      <p:sp>
        <p:nvSpPr>
          <p:cNvPr id="60" name="Shape 58"/>
          <p:cNvSpPr/>
          <p:nvPr/>
        </p:nvSpPr>
        <p:spPr>
          <a:xfrm>
            <a:off x="2834640" y="2697480"/>
            <a:ext cx="822960" cy="457200"/>
          </a:xfrm>
          <a:prstGeom prst="rect">
            <a:avLst/>
          </a:prstGeom>
          <a:solidFill>
            <a:srgbClr val="233D5C"/>
          </a:solidFill>
          <a:ln w="6350">
            <a:solidFill>
              <a:srgbClr val="1A2F4A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2880360" y="2697480"/>
            <a:ext cx="731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8EF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142</a:t>
            </a:r>
            <a:endParaRPr lang="en-US" sz="1100" dirty="0"/>
          </a:p>
        </p:txBody>
      </p:sp>
      <p:sp>
        <p:nvSpPr>
          <p:cNvPr id="62" name="Shape 60"/>
          <p:cNvSpPr/>
          <p:nvPr/>
        </p:nvSpPr>
        <p:spPr>
          <a:xfrm>
            <a:off x="3657600" y="2697480"/>
            <a:ext cx="1097280" cy="457200"/>
          </a:xfrm>
          <a:prstGeom prst="rect">
            <a:avLst/>
          </a:prstGeom>
          <a:solidFill>
            <a:srgbClr val="233D5C"/>
          </a:solidFill>
          <a:ln w="6350">
            <a:solidFill>
              <a:srgbClr val="1A2F4A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3703320" y="269748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8EF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238.7</a:t>
            </a:r>
            <a:endParaRPr lang="en-US" sz="1100" dirty="0"/>
          </a:p>
        </p:txBody>
      </p:sp>
      <p:sp>
        <p:nvSpPr>
          <p:cNvPr id="64" name="Shape 62"/>
          <p:cNvSpPr/>
          <p:nvPr/>
        </p:nvSpPr>
        <p:spPr>
          <a:xfrm>
            <a:off x="4754880" y="2697480"/>
            <a:ext cx="1097280" cy="457200"/>
          </a:xfrm>
          <a:prstGeom prst="rect">
            <a:avLst/>
          </a:prstGeom>
          <a:solidFill>
            <a:srgbClr val="233D5C"/>
          </a:solidFill>
          <a:ln w="6350">
            <a:solidFill>
              <a:srgbClr val="1A2F4A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4800600" y="269748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8EF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238.8</a:t>
            </a:r>
            <a:endParaRPr lang="en-US" sz="1100" dirty="0"/>
          </a:p>
        </p:txBody>
      </p:sp>
      <p:sp>
        <p:nvSpPr>
          <p:cNvPr id="66" name="Shape 64"/>
          <p:cNvSpPr/>
          <p:nvPr/>
        </p:nvSpPr>
        <p:spPr>
          <a:xfrm>
            <a:off x="5852160" y="2697480"/>
            <a:ext cx="1097280" cy="457200"/>
          </a:xfrm>
          <a:prstGeom prst="rect">
            <a:avLst/>
          </a:prstGeom>
          <a:solidFill>
            <a:srgbClr val="233D5C"/>
          </a:solidFill>
          <a:ln w="6350">
            <a:solidFill>
              <a:srgbClr val="1A2F4A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5897880" y="269748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8EF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206.3</a:t>
            </a:r>
            <a:endParaRPr lang="en-US" sz="1100" dirty="0"/>
          </a:p>
        </p:txBody>
      </p:sp>
      <p:sp>
        <p:nvSpPr>
          <p:cNvPr id="68" name="Shape 66"/>
          <p:cNvSpPr/>
          <p:nvPr/>
        </p:nvSpPr>
        <p:spPr>
          <a:xfrm>
            <a:off x="6949440" y="2697480"/>
            <a:ext cx="1097280" cy="457200"/>
          </a:xfrm>
          <a:prstGeom prst="rect">
            <a:avLst/>
          </a:prstGeom>
          <a:solidFill>
            <a:srgbClr val="233D5C"/>
          </a:solidFill>
          <a:ln w="6350">
            <a:solidFill>
              <a:srgbClr val="1A2F4A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6995160" y="269748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8EF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240.3</a:t>
            </a:r>
            <a:endParaRPr lang="en-US" sz="1100" dirty="0"/>
          </a:p>
        </p:txBody>
      </p:sp>
      <p:sp>
        <p:nvSpPr>
          <p:cNvPr id="70" name="Shape 68"/>
          <p:cNvSpPr/>
          <p:nvPr/>
        </p:nvSpPr>
        <p:spPr>
          <a:xfrm>
            <a:off x="8046720" y="2697480"/>
            <a:ext cx="1280160" cy="457200"/>
          </a:xfrm>
          <a:prstGeom prst="rect">
            <a:avLst/>
          </a:prstGeom>
          <a:solidFill>
            <a:srgbClr val="233D5C"/>
          </a:solidFill>
          <a:ln w="6350">
            <a:solidFill>
              <a:srgbClr val="1A2F4A"/>
            </a:solidFill>
            <a:prstDash val="solid"/>
          </a:ln>
        </p:spPr>
      </p:sp>
      <p:sp>
        <p:nvSpPr>
          <p:cNvPr id="71" name="Text 69"/>
          <p:cNvSpPr/>
          <p:nvPr/>
        </p:nvSpPr>
        <p:spPr>
          <a:xfrm>
            <a:off x="8092440" y="2697480"/>
            <a:ext cx="1188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8EF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34</a:t>
            </a:r>
            <a:endParaRPr lang="en-US" sz="1100" dirty="0"/>
          </a:p>
        </p:txBody>
      </p:sp>
      <p:sp>
        <p:nvSpPr>
          <p:cNvPr id="72" name="Shape 70"/>
          <p:cNvSpPr/>
          <p:nvPr/>
        </p:nvSpPr>
        <p:spPr>
          <a:xfrm>
            <a:off x="9326880" y="2697480"/>
            <a:ext cx="914400" cy="457200"/>
          </a:xfrm>
          <a:prstGeom prst="rect">
            <a:avLst/>
          </a:prstGeom>
          <a:solidFill>
            <a:srgbClr val="233D5C"/>
          </a:solidFill>
          <a:ln w="6350">
            <a:solidFill>
              <a:srgbClr val="1A2F4A"/>
            </a:solidFill>
            <a:prstDash val="solid"/>
          </a:ln>
        </p:spPr>
      </p:sp>
      <p:sp>
        <p:nvSpPr>
          <p:cNvPr id="73" name="Text 71"/>
          <p:cNvSpPr/>
          <p:nvPr/>
        </p:nvSpPr>
        <p:spPr>
          <a:xfrm>
            <a:off x="9372600" y="2697480"/>
            <a:ext cx="822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8EF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1100" dirty="0"/>
          </a:p>
        </p:txBody>
      </p:sp>
      <p:sp>
        <p:nvSpPr>
          <p:cNvPr id="74" name="Shape 72"/>
          <p:cNvSpPr/>
          <p:nvPr/>
        </p:nvSpPr>
        <p:spPr>
          <a:xfrm>
            <a:off x="10241280" y="2697480"/>
            <a:ext cx="1280160" cy="457200"/>
          </a:xfrm>
          <a:prstGeom prst="rect">
            <a:avLst/>
          </a:prstGeom>
          <a:solidFill>
            <a:srgbClr val="233D5C"/>
          </a:solidFill>
          <a:ln w="6350">
            <a:solidFill>
              <a:srgbClr val="1A2F4A"/>
            </a:solidFill>
            <a:prstDash val="solid"/>
          </a:ln>
        </p:spPr>
      </p:sp>
      <p:sp>
        <p:nvSpPr>
          <p:cNvPr id="75" name="Text 73"/>
          <p:cNvSpPr/>
          <p:nvPr/>
        </p:nvSpPr>
        <p:spPr>
          <a:xfrm>
            <a:off x="10287000" y="2697480"/>
            <a:ext cx="1188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8EF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973s</a:t>
            </a:r>
            <a:endParaRPr lang="en-US" sz="1100" dirty="0"/>
          </a:p>
        </p:txBody>
      </p:sp>
      <p:sp>
        <p:nvSpPr>
          <p:cNvPr id="76" name="Shape 74"/>
          <p:cNvSpPr/>
          <p:nvPr/>
        </p:nvSpPr>
        <p:spPr>
          <a:xfrm>
            <a:off x="457200" y="3154680"/>
            <a:ext cx="2377440" cy="457200"/>
          </a:xfrm>
          <a:prstGeom prst="rect">
            <a:avLst/>
          </a:prstGeom>
          <a:solidFill>
            <a:srgbClr val="233D5C"/>
          </a:solidFill>
          <a:ln w="6350">
            <a:solidFill>
              <a:srgbClr val="1A2F4A"/>
            </a:solidFill>
            <a:prstDash val="solid"/>
          </a:ln>
        </p:spPr>
      </p:sp>
      <p:sp>
        <p:nvSpPr>
          <p:cNvPr id="77" name="Text 75"/>
          <p:cNvSpPr/>
          <p:nvPr/>
        </p:nvSpPr>
        <p:spPr>
          <a:xfrm>
            <a:off x="502920" y="315468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E8EF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Adaptive</a:t>
            </a:r>
            <a:endParaRPr lang="en-US" sz="1100" dirty="0"/>
          </a:p>
        </p:txBody>
      </p:sp>
      <p:sp>
        <p:nvSpPr>
          <p:cNvPr id="78" name="Shape 76"/>
          <p:cNvSpPr/>
          <p:nvPr/>
        </p:nvSpPr>
        <p:spPr>
          <a:xfrm>
            <a:off x="2834640" y="3154680"/>
            <a:ext cx="822960" cy="457200"/>
          </a:xfrm>
          <a:prstGeom prst="rect">
            <a:avLst/>
          </a:prstGeom>
          <a:solidFill>
            <a:srgbClr val="233D5C"/>
          </a:solidFill>
          <a:ln w="6350">
            <a:solidFill>
              <a:srgbClr val="1A2F4A"/>
            </a:solidFill>
            <a:prstDash val="solid"/>
          </a:ln>
        </p:spPr>
      </p:sp>
      <p:sp>
        <p:nvSpPr>
          <p:cNvPr id="79" name="Text 77"/>
          <p:cNvSpPr/>
          <p:nvPr/>
        </p:nvSpPr>
        <p:spPr>
          <a:xfrm>
            <a:off x="2880360" y="3154680"/>
            <a:ext cx="731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8EF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150</a:t>
            </a:r>
            <a:endParaRPr lang="en-US" sz="1100" dirty="0"/>
          </a:p>
        </p:txBody>
      </p:sp>
      <p:sp>
        <p:nvSpPr>
          <p:cNvPr id="80" name="Shape 78"/>
          <p:cNvSpPr/>
          <p:nvPr/>
        </p:nvSpPr>
        <p:spPr>
          <a:xfrm>
            <a:off x="3657600" y="3154680"/>
            <a:ext cx="1097280" cy="457200"/>
          </a:xfrm>
          <a:prstGeom prst="rect">
            <a:avLst/>
          </a:prstGeom>
          <a:solidFill>
            <a:srgbClr val="233D5C"/>
          </a:solidFill>
          <a:ln w="6350">
            <a:solidFill>
              <a:srgbClr val="1A2F4A"/>
            </a:solidFill>
            <a:prstDash val="solid"/>
          </a:ln>
        </p:spPr>
      </p:sp>
      <p:sp>
        <p:nvSpPr>
          <p:cNvPr id="81" name="Text 79"/>
          <p:cNvSpPr/>
          <p:nvPr/>
        </p:nvSpPr>
        <p:spPr>
          <a:xfrm>
            <a:off x="3703320" y="315468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8EF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424.1</a:t>
            </a:r>
            <a:endParaRPr lang="en-US" sz="1100" dirty="0"/>
          </a:p>
        </p:txBody>
      </p:sp>
      <p:sp>
        <p:nvSpPr>
          <p:cNvPr id="82" name="Shape 80"/>
          <p:cNvSpPr/>
          <p:nvPr/>
        </p:nvSpPr>
        <p:spPr>
          <a:xfrm>
            <a:off x="4754880" y="3154680"/>
            <a:ext cx="1097280" cy="457200"/>
          </a:xfrm>
          <a:prstGeom prst="rect">
            <a:avLst/>
          </a:prstGeom>
          <a:solidFill>
            <a:srgbClr val="233D5C"/>
          </a:solidFill>
          <a:ln w="6350">
            <a:solidFill>
              <a:srgbClr val="1A2F4A"/>
            </a:solidFill>
            <a:prstDash val="solid"/>
          </a:ln>
        </p:spPr>
      </p:sp>
      <p:sp>
        <p:nvSpPr>
          <p:cNvPr id="83" name="Text 81"/>
          <p:cNvSpPr/>
          <p:nvPr/>
        </p:nvSpPr>
        <p:spPr>
          <a:xfrm>
            <a:off x="4800600" y="315468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8EF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349.7</a:t>
            </a:r>
            <a:endParaRPr lang="en-US" sz="1100" dirty="0"/>
          </a:p>
        </p:txBody>
      </p:sp>
      <p:sp>
        <p:nvSpPr>
          <p:cNvPr id="84" name="Shape 82"/>
          <p:cNvSpPr/>
          <p:nvPr/>
        </p:nvSpPr>
        <p:spPr>
          <a:xfrm>
            <a:off x="5852160" y="3154680"/>
            <a:ext cx="1097280" cy="457200"/>
          </a:xfrm>
          <a:prstGeom prst="rect">
            <a:avLst/>
          </a:prstGeom>
          <a:solidFill>
            <a:srgbClr val="233D5C"/>
          </a:solidFill>
          <a:ln w="6350">
            <a:solidFill>
              <a:srgbClr val="1A2F4A"/>
            </a:solidFill>
            <a:prstDash val="solid"/>
          </a:ln>
        </p:spPr>
      </p:sp>
      <p:sp>
        <p:nvSpPr>
          <p:cNvPr id="85" name="Text 83"/>
          <p:cNvSpPr/>
          <p:nvPr/>
        </p:nvSpPr>
        <p:spPr>
          <a:xfrm>
            <a:off x="5897880" y="315468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8EF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364.1</a:t>
            </a:r>
            <a:endParaRPr lang="en-US" sz="1100" dirty="0"/>
          </a:p>
        </p:txBody>
      </p:sp>
      <p:sp>
        <p:nvSpPr>
          <p:cNvPr id="86" name="Shape 84"/>
          <p:cNvSpPr/>
          <p:nvPr/>
        </p:nvSpPr>
        <p:spPr>
          <a:xfrm>
            <a:off x="6949440" y="3154680"/>
            <a:ext cx="1097280" cy="457200"/>
          </a:xfrm>
          <a:prstGeom prst="rect">
            <a:avLst/>
          </a:prstGeom>
          <a:solidFill>
            <a:srgbClr val="233D5C"/>
          </a:solidFill>
          <a:ln w="6350">
            <a:solidFill>
              <a:srgbClr val="1A2F4A"/>
            </a:solidFill>
            <a:prstDash val="solid"/>
          </a:ln>
        </p:spPr>
      </p:sp>
      <p:sp>
        <p:nvSpPr>
          <p:cNvPr id="87" name="Text 85"/>
          <p:cNvSpPr/>
          <p:nvPr/>
        </p:nvSpPr>
        <p:spPr>
          <a:xfrm>
            <a:off x="6995160" y="315468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8EF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341.6</a:t>
            </a:r>
            <a:endParaRPr lang="en-US" sz="1100" dirty="0"/>
          </a:p>
        </p:txBody>
      </p:sp>
      <p:sp>
        <p:nvSpPr>
          <p:cNvPr id="88" name="Shape 86"/>
          <p:cNvSpPr/>
          <p:nvPr/>
        </p:nvSpPr>
        <p:spPr>
          <a:xfrm>
            <a:off x="8046720" y="3154680"/>
            <a:ext cx="1280160" cy="457200"/>
          </a:xfrm>
          <a:prstGeom prst="rect">
            <a:avLst/>
          </a:prstGeom>
          <a:solidFill>
            <a:srgbClr val="233D5C"/>
          </a:solidFill>
          <a:ln w="6350">
            <a:solidFill>
              <a:srgbClr val="1A2F4A"/>
            </a:solidFill>
            <a:prstDash val="solid"/>
          </a:ln>
        </p:spPr>
      </p:sp>
      <p:sp>
        <p:nvSpPr>
          <p:cNvPr id="89" name="Text 87"/>
          <p:cNvSpPr/>
          <p:nvPr/>
        </p:nvSpPr>
        <p:spPr>
          <a:xfrm>
            <a:off x="8092440" y="3154680"/>
            <a:ext cx="1188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8EF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1100" dirty="0"/>
          </a:p>
        </p:txBody>
      </p:sp>
      <p:sp>
        <p:nvSpPr>
          <p:cNvPr id="90" name="Shape 88"/>
          <p:cNvSpPr/>
          <p:nvPr/>
        </p:nvSpPr>
        <p:spPr>
          <a:xfrm>
            <a:off x="9326880" y="3154680"/>
            <a:ext cx="914400" cy="457200"/>
          </a:xfrm>
          <a:prstGeom prst="rect">
            <a:avLst/>
          </a:prstGeom>
          <a:solidFill>
            <a:srgbClr val="233D5C"/>
          </a:solidFill>
          <a:ln w="6350">
            <a:solidFill>
              <a:srgbClr val="1A2F4A"/>
            </a:solidFill>
            <a:prstDash val="solid"/>
          </a:ln>
        </p:spPr>
      </p:sp>
      <p:sp>
        <p:nvSpPr>
          <p:cNvPr id="91" name="Text 89"/>
          <p:cNvSpPr/>
          <p:nvPr/>
        </p:nvSpPr>
        <p:spPr>
          <a:xfrm>
            <a:off x="9372600" y="3154680"/>
            <a:ext cx="822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8EF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1100" dirty="0"/>
          </a:p>
        </p:txBody>
      </p:sp>
      <p:sp>
        <p:nvSpPr>
          <p:cNvPr id="92" name="Shape 90"/>
          <p:cNvSpPr/>
          <p:nvPr/>
        </p:nvSpPr>
        <p:spPr>
          <a:xfrm>
            <a:off x="10241280" y="3154680"/>
            <a:ext cx="1280160" cy="457200"/>
          </a:xfrm>
          <a:prstGeom prst="rect">
            <a:avLst/>
          </a:prstGeom>
          <a:solidFill>
            <a:srgbClr val="233D5C"/>
          </a:solidFill>
          <a:ln w="6350">
            <a:solidFill>
              <a:srgbClr val="1A2F4A"/>
            </a:solidFill>
            <a:prstDash val="solid"/>
          </a:ln>
        </p:spPr>
      </p:sp>
      <p:sp>
        <p:nvSpPr>
          <p:cNvPr id="93" name="Text 91"/>
          <p:cNvSpPr/>
          <p:nvPr/>
        </p:nvSpPr>
        <p:spPr>
          <a:xfrm>
            <a:off x="10287000" y="3154680"/>
            <a:ext cx="1188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8EF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6,472s</a:t>
            </a:r>
            <a:endParaRPr lang="en-US" sz="1100" dirty="0"/>
          </a:p>
        </p:txBody>
      </p:sp>
      <p:sp>
        <p:nvSpPr>
          <p:cNvPr id="94" name="Shape 92"/>
          <p:cNvSpPr/>
          <p:nvPr/>
        </p:nvSpPr>
        <p:spPr>
          <a:xfrm>
            <a:off x="457200" y="3611880"/>
            <a:ext cx="2377440" cy="457200"/>
          </a:xfrm>
          <a:prstGeom prst="rect">
            <a:avLst/>
          </a:prstGeom>
          <a:solidFill>
            <a:srgbClr val="233D5C"/>
          </a:solidFill>
          <a:ln w="6350">
            <a:solidFill>
              <a:srgbClr val="1A2F4A"/>
            </a:solidFill>
            <a:prstDash val="solid"/>
          </a:ln>
        </p:spPr>
      </p:sp>
      <p:sp>
        <p:nvSpPr>
          <p:cNvPr id="95" name="Text 93"/>
          <p:cNvSpPr/>
          <p:nvPr/>
        </p:nvSpPr>
        <p:spPr>
          <a:xfrm>
            <a:off x="502920" y="361188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E8EF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Hybrid</a:t>
            </a:r>
            <a:endParaRPr lang="en-US" sz="1100" dirty="0"/>
          </a:p>
        </p:txBody>
      </p:sp>
      <p:sp>
        <p:nvSpPr>
          <p:cNvPr id="96" name="Shape 94"/>
          <p:cNvSpPr/>
          <p:nvPr/>
        </p:nvSpPr>
        <p:spPr>
          <a:xfrm>
            <a:off x="2834640" y="3611880"/>
            <a:ext cx="822960" cy="457200"/>
          </a:xfrm>
          <a:prstGeom prst="rect">
            <a:avLst/>
          </a:prstGeom>
          <a:solidFill>
            <a:srgbClr val="233D5C"/>
          </a:solidFill>
          <a:ln w="6350">
            <a:solidFill>
              <a:srgbClr val="1A2F4A"/>
            </a:solidFill>
            <a:prstDash val="solid"/>
          </a:ln>
        </p:spPr>
      </p:sp>
      <p:sp>
        <p:nvSpPr>
          <p:cNvPr id="97" name="Text 95"/>
          <p:cNvSpPr/>
          <p:nvPr/>
        </p:nvSpPr>
        <p:spPr>
          <a:xfrm>
            <a:off x="2880360" y="3611880"/>
            <a:ext cx="731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8EF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150</a:t>
            </a:r>
            <a:endParaRPr lang="en-US" sz="1100" dirty="0"/>
          </a:p>
        </p:txBody>
      </p:sp>
      <p:sp>
        <p:nvSpPr>
          <p:cNvPr id="98" name="Shape 96"/>
          <p:cNvSpPr/>
          <p:nvPr/>
        </p:nvSpPr>
        <p:spPr>
          <a:xfrm>
            <a:off x="3657600" y="3611880"/>
            <a:ext cx="1097280" cy="457200"/>
          </a:xfrm>
          <a:prstGeom prst="rect">
            <a:avLst/>
          </a:prstGeom>
          <a:solidFill>
            <a:srgbClr val="233D5C"/>
          </a:solidFill>
          <a:ln w="6350">
            <a:solidFill>
              <a:srgbClr val="1A2F4A"/>
            </a:solidFill>
            <a:prstDash val="solid"/>
          </a:ln>
        </p:spPr>
      </p:sp>
      <p:sp>
        <p:nvSpPr>
          <p:cNvPr id="99" name="Text 97"/>
          <p:cNvSpPr/>
          <p:nvPr/>
        </p:nvSpPr>
        <p:spPr>
          <a:xfrm>
            <a:off x="3703320" y="361188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8EF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424.1</a:t>
            </a:r>
            <a:endParaRPr lang="en-US" sz="1100" dirty="0"/>
          </a:p>
        </p:txBody>
      </p:sp>
      <p:sp>
        <p:nvSpPr>
          <p:cNvPr id="100" name="Shape 98"/>
          <p:cNvSpPr/>
          <p:nvPr/>
        </p:nvSpPr>
        <p:spPr>
          <a:xfrm>
            <a:off x="4754880" y="3611880"/>
            <a:ext cx="1097280" cy="457200"/>
          </a:xfrm>
          <a:prstGeom prst="rect">
            <a:avLst/>
          </a:prstGeom>
          <a:solidFill>
            <a:srgbClr val="233D5C"/>
          </a:solidFill>
          <a:ln w="6350">
            <a:solidFill>
              <a:srgbClr val="1A2F4A"/>
            </a:solidFill>
            <a:prstDash val="solid"/>
          </a:ln>
        </p:spPr>
      </p:sp>
      <p:sp>
        <p:nvSpPr>
          <p:cNvPr id="101" name="Text 99"/>
          <p:cNvSpPr/>
          <p:nvPr/>
        </p:nvSpPr>
        <p:spPr>
          <a:xfrm>
            <a:off x="4800600" y="361188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8EF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465.3</a:t>
            </a:r>
            <a:endParaRPr lang="en-US" sz="1100" dirty="0"/>
          </a:p>
        </p:txBody>
      </p:sp>
      <p:sp>
        <p:nvSpPr>
          <p:cNvPr id="102" name="Shape 100"/>
          <p:cNvSpPr/>
          <p:nvPr/>
        </p:nvSpPr>
        <p:spPr>
          <a:xfrm>
            <a:off x="5852160" y="3611880"/>
            <a:ext cx="1097280" cy="457200"/>
          </a:xfrm>
          <a:prstGeom prst="rect">
            <a:avLst/>
          </a:prstGeom>
          <a:solidFill>
            <a:srgbClr val="233D5C"/>
          </a:solidFill>
          <a:ln w="6350">
            <a:solidFill>
              <a:srgbClr val="1A2F4A"/>
            </a:solidFill>
            <a:prstDash val="solid"/>
          </a:ln>
        </p:spPr>
      </p:sp>
      <p:sp>
        <p:nvSpPr>
          <p:cNvPr id="103" name="Text 101"/>
          <p:cNvSpPr/>
          <p:nvPr/>
        </p:nvSpPr>
        <p:spPr>
          <a:xfrm>
            <a:off x="5897880" y="361188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8EF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462.2</a:t>
            </a:r>
            <a:endParaRPr lang="en-US" sz="1100" dirty="0"/>
          </a:p>
        </p:txBody>
      </p:sp>
      <p:sp>
        <p:nvSpPr>
          <p:cNvPr id="104" name="Shape 102"/>
          <p:cNvSpPr/>
          <p:nvPr/>
        </p:nvSpPr>
        <p:spPr>
          <a:xfrm>
            <a:off x="6949440" y="3611880"/>
            <a:ext cx="1097280" cy="457200"/>
          </a:xfrm>
          <a:prstGeom prst="rect">
            <a:avLst/>
          </a:prstGeom>
          <a:solidFill>
            <a:srgbClr val="233D5C"/>
          </a:solidFill>
          <a:ln w="6350">
            <a:solidFill>
              <a:srgbClr val="1A2F4A"/>
            </a:solidFill>
            <a:prstDash val="solid"/>
          </a:ln>
        </p:spPr>
      </p:sp>
      <p:sp>
        <p:nvSpPr>
          <p:cNvPr id="105" name="Text 103"/>
          <p:cNvSpPr/>
          <p:nvPr/>
        </p:nvSpPr>
        <p:spPr>
          <a:xfrm>
            <a:off x="6995160" y="361188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8EF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356.1</a:t>
            </a:r>
            <a:endParaRPr lang="en-US" sz="1100" dirty="0"/>
          </a:p>
        </p:txBody>
      </p:sp>
      <p:sp>
        <p:nvSpPr>
          <p:cNvPr id="106" name="Shape 104"/>
          <p:cNvSpPr/>
          <p:nvPr/>
        </p:nvSpPr>
        <p:spPr>
          <a:xfrm>
            <a:off x="8046720" y="3611880"/>
            <a:ext cx="1280160" cy="457200"/>
          </a:xfrm>
          <a:prstGeom prst="rect">
            <a:avLst/>
          </a:prstGeom>
          <a:solidFill>
            <a:srgbClr val="233D5C"/>
          </a:solidFill>
          <a:ln w="6350">
            <a:solidFill>
              <a:srgbClr val="1A2F4A"/>
            </a:solidFill>
            <a:prstDash val="solid"/>
          </a:ln>
        </p:spPr>
      </p:sp>
      <p:sp>
        <p:nvSpPr>
          <p:cNvPr id="107" name="Text 105"/>
          <p:cNvSpPr/>
          <p:nvPr/>
        </p:nvSpPr>
        <p:spPr>
          <a:xfrm>
            <a:off x="8092440" y="3611880"/>
            <a:ext cx="1188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8EF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1100" dirty="0"/>
          </a:p>
        </p:txBody>
      </p:sp>
      <p:sp>
        <p:nvSpPr>
          <p:cNvPr id="108" name="Shape 106"/>
          <p:cNvSpPr/>
          <p:nvPr/>
        </p:nvSpPr>
        <p:spPr>
          <a:xfrm>
            <a:off x="9326880" y="3611880"/>
            <a:ext cx="914400" cy="457200"/>
          </a:xfrm>
          <a:prstGeom prst="rect">
            <a:avLst/>
          </a:prstGeom>
          <a:solidFill>
            <a:srgbClr val="233D5C"/>
          </a:solidFill>
          <a:ln w="6350">
            <a:solidFill>
              <a:srgbClr val="1A2F4A"/>
            </a:solidFill>
            <a:prstDash val="solid"/>
          </a:ln>
        </p:spPr>
      </p:sp>
      <p:sp>
        <p:nvSpPr>
          <p:cNvPr id="109" name="Text 107"/>
          <p:cNvSpPr/>
          <p:nvPr/>
        </p:nvSpPr>
        <p:spPr>
          <a:xfrm>
            <a:off x="9372600" y="3611880"/>
            <a:ext cx="822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8EF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1100" dirty="0"/>
          </a:p>
        </p:txBody>
      </p:sp>
      <p:sp>
        <p:nvSpPr>
          <p:cNvPr id="110" name="Shape 108"/>
          <p:cNvSpPr/>
          <p:nvPr/>
        </p:nvSpPr>
        <p:spPr>
          <a:xfrm>
            <a:off x="10241280" y="3611880"/>
            <a:ext cx="1280160" cy="457200"/>
          </a:xfrm>
          <a:prstGeom prst="rect">
            <a:avLst/>
          </a:prstGeom>
          <a:solidFill>
            <a:srgbClr val="233D5C"/>
          </a:solidFill>
          <a:ln w="6350">
            <a:solidFill>
              <a:srgbClr val="1A2F4A"/>
            </a:solidFill>
            <a:prstDash val="solid"/>
          </a:ln>
        </p:spPr>
      </p:sp>
      <p:sp>
        <p:nvSpPr>
          <p:cNvPr id="111" name="Text 109"/>
          <p:cNvSpPr/>
          <p:nvPr/>
        </p:nvSpPr>
        <p:spPr>
          <a:xfrm>
            <a:off x="10287000" y="3611880"/>
            <a:ext cx="1188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8EF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1,790s</a:t>
            </a:r>
            <a:endParaRPr lang="en-US" sz="1100" dirty="0"/>
          </a:p>
        </p:txBody>
      </p:sp>
      <p:sp>
        <p:nvSpPr>
          <p:cNvPr id="112" name="Shape 110"/>
          <p:cNvSpPr/>
          <p:nvPr/>
        </p:nvSpPr>
        <p:spPr>
          <a:xfrm>
            <a:off x="457200" y="4069080"/>
            <a:ext cx="2377440" cy="457200"/>
          </a:xfrm>
          <a:prstGeom prst="rect">
            <a:avLst/>
          </a:prstGeom>
          <a:solidFill>
            <a:srgbClr val="233D5C"/>
          </a:solidFill>
          <a:ln w="6350">
            <a:solidFill>
              <a:srgbClr val="1A2F4A"/>
            </a:solidFill>
            <a:prstDash val="solid"/>
          </a:ln>
        </p:spPr>
      </p:sp>
      <p:sp>
        <p:nvSpPr>
          <p:cNvPr id="113" name="Text 111"/>
          <p:cNvSpPr/>
          <p:nvPr/>
        </p:nvSpPr>
        <p:spPr>
          <a:xfrm>
            <a:off x="502920" y="406908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E8EF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Greedy</a:t>
            </a:r>
            <a:endParaRPr lang="en-US" sz="1100" dirty="0"/>
          </a:p>
        </p:txBody>
      </p:sp>
      <p:sp>
        <p:nvSpPr>
          <p:cNvPr id="114" name="Shape 112"/>
          <p:cNvSpPr/>
          <p:nvPr/>
        </p:nvSpPr>
        <p:spPr>
          <a:xfrm>
            <a:off x="2834640" y="4069080"/>
            <a:ext cx="822960" cy="457200"/>
          </a:xfrm>
          <a:prstGeom prst="rect">
            <a:avLst/>
          </a:prstGeom>
          <a:solidFill>
            <a:srgbClr val="233D5C"/>
          </a:solidFill>
          <a:ln w="6350">
            <a:solidFill>
              <a:srgbClr val="1A2F4A"/>
            </a:solidFill>
            <a:prstDash val="solid"/>
          </a:ln>
        </p:spPr>
      </p:sp>
      <p:sp>
        <p:nvSpPr>
          <p:cNvPr id="115" name="Text 113"/>
          <p:cNvSpPr/>
          <p:nvPr/>
        </p:nvSpPr>
        <p:spPr>
          <a:xfrm>
            <a:off x="2880360" y="4069080"/>
            <a:ext cx="731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8EF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150</a:t>
            </a:r>
            <a:endParaRPr lang="en-US" sz="1100" dirty="0"/>
          </a:p>
        </p:txBody>
      </p:sp>
      <p:sp>
        <p:nvSpPr>
          <p:cNvPr id="116" name="Shape 114"/>
          <p:cNvSpPr/>
          <p:nvPr/>
        </p:nvSpPr>
        <p:spPr>
          <a:xfrm>
            <a:off x="3657600" y="4069080"/>
            <a:ext cx="1097280" cy="457200"/>
          </a:xfrm>
          <a:prstGeom prst="rect">
            <a:avLst/>
          </a:prstGeom>
          <a:solidFill>
            <a:srgbClr val="233D5C"/>
          </a:solidFill>
          <a:ln w="6350">
            <a:solidFill>
              <a:srgbClr val="1A2F4A"/>
            </a:solidFill>
            <a:prstDash val="solid"/>
          </a:ln>
        </p:spPr>
      </p:sp>
      <p:sp>
        <p:nvSpPr>
          <p:cNvPr id="117" name="Text 115"/>
          <p:cNvSpPr/>
          <p:nvPr/>
        </p:nvSpPr>
        <p:spPr>
          <a:xfrm>
            <a:off x="3703320" y="406908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8EF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394.4</a:t>
            </a:r>
            <a:endParaRPr lang="en-US" sz="1100" dirty="0"/>
          </a:p>
        </p:txBody>
      </p:sp>
      <p:sp>
        <p:nvSpPr>
          <p:cNvPr id="118" name="Shape 116"/>
          <p:cNvSpPr/>
          <p:nvPr/>
        </p:nvSpPr>
        <p:spPr>
          <a:xfrm>
            <a:off x="4754880" y="4069080"/>
            <a:ext cx="1097280" cy="457200"/>
          </a:xfrm>
          <a:prstGeom prst="rect">
            <a:avLst/>
          </a:prstGeom>
          <a:solidFill>
            <a:srgbClr val="233D5C"/>
          </a:solidFill>
          <a:ln w="6350">
            <a:solidFill>
              <a:srgbClr val="1A2F4A"/>
            </a:solidFill>
            <a:prstDash val="solid"/>
          </a:ln>
        </p:spPr>
      </p:sp>
      <p:sp>
        <p:nvSpPr>
          <p:cNvPr id="119" name="Text 117"/>
          <p:cNvSpPr/>
          <p:nvPr/>
        </p:nvSpPr>
        <p:spPr>
          <a:xfrm>
            <a:off x="4800600" y="406908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8EF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387.1</a:t>
            </a:r>
            <a:endParaRPr lang="en-US" sz="1100" dirty="0"/>
          </a:p>
        </p:txBody>
      </p:sp>
      <p:sp>
        <p:nvSpPr>
          <p:cNvPr id="120" name="Shape 118"/>
          <p:cNvSpPr/>
          <p:nvPr/>
        </p:nvSpPr>
        <p:spPr>
          <a:xfrm>
            <a:off x="5852160" y="4069080"/>
            <a:ext cx="1097280" cy="457200"/>
          </a:xfrm>
          <a:prstGeom prst="rect">
            <a:avLst/>
          </a:prstGeom>
          <a:solidFill>
            <a:srgbClr val="233D5C"/>
          </a:solidFill>
          <a:ln w="6350">
            <a:solidFill>
              <a:srgbClr val="1A2F4A"/>
            </a:solidFill>
            <a:prstDash val="solid"/>
          </a:ln>
        </p:spPr>
      </p:sp>
      <p:sp>
        <p:nvSpPr>
          <p:cNvPr id="121" name="Text 119"/>
          <p:cNvSpPr/>
          <p:nvPr/>
        </p:nvSpPr>
        <p:spPr>
          <a:xfrm>
            <a:off x="5897880" y="406908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8EF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387.3</a:t>
            </a:r>
            <a:endParaRPr lang="en-US" sz="1100" dirty="0"/>
          </a:p>
        </p:txBody>
      </p:sp>
      <p:sp>
        <p:nvSpPr>
          <p:cNvPr id="122" name="Shape 120"/>
          <p:cNvSpPr/>
          <p:nvPr/>
        </p:nvSpPr>
        <p:spPr>
          <a:xfrm>
            <a:off x="6949440" y="4069080"/>
            <a:ext cx="1097280" cy="457200"/>
          </a:xfrm>
          <a:prstGeom prst="rect">
            <a:avLst/>
          </a:prstGeom>
          <a:solidFill>
            <a:srgbClr val="233D5C"/>
          </a:solidFill>
          <a:ln w="6350">
            <a:solidFill>
              <a:srgbClr val="1A2F4A"/>
            </a:solidFill>
            <a:prstDash val="solid"/>
          </a:ln>
        </p:spPr>
      </p:sp>
      <p:sp>
        <p:nvSpPr>
          <p:cNvPr id="123" name="Text 121"/>
          <p:cNvSpPr/>
          <p:nvPr/>
        </p:nvSpPr>
        <p:spPr>
          <a:xfrm>
            <a:off x="6995160" y="406908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8EF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391.2</a:t>
            </a:r>
            <a:endParaRPr lang="en-US" sz="1100" dirty="0"/>
          </a:p>
        </p:txBody>
      </p:sp>
      <p:sp>
        <p:nvSpPr>
          <p:cNvPr id="124" name="Shape 122"/>
          <p:cNvSpPr/>
          <p:nvPr/>
        </p:nvSpPr>
        <p:spPr>
          <a:xfrm>
            <a:off x="8046720" y="4069080"/>
            <a:ext cx="1280160" cy="457200"/>
          </a:xfrm>
          <a:prstGeom prst="rect">
            <a:avLst/>
          </a:prstGeom>
          <a:solidFill>
            <a:srgbClr val="233D5C"/>
          </a:solidFill>
          <a:ln w="6350">
            <a:solidFill>
              <a:srgbClr val="1A2F4A"/>
            </a:solidFill>
            <a:prstDash val="solid"/>
          </a:ln>
        </p:spPr>
      </p:sp>
      <p:sp>
        <p:nvSpPr>
          <p:cNvPr id="125" name="Text 123"/>
          <p:cNvSpPr/>
          <p:nvPr/>
        </p:nvSpPr>
        <p:spPr>
          <a:xfrm>
            <a:off x="8092440" y="4069080"/>
            <a:ext cx="1188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8EF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231,070</a:t>
            </a:r>
            <a:endParaRPr lang="en-US" sz="1100" dirty="0"/>
          </a:p>
        </p:txBody>
      </p:sp>
      <p:sp>
        <p:nvSpPr>
          <p:cNvPr id="126" name="Shape 124"/>
          <p:cNvSpPr/>
          <p:nvPr/>
        </p:nvSpPr>
        <p:spPr>
          <a:xfrm>
            <a:off x="9326880" y="4069080"/>
            <a:ext cx="914400" cy="457200"/>
          </a:xfrm>
          <a:prstGeom prst="rect">
            <a:avLst/>
          </a:prstGeom>
          <a:solidFill>
            <a:srgbClr val="233D5C"/>
          </a:solidFill>
          <a:ln w="6350">
            <a:solidFill>
              <a:srgbClr val="1A2F4A"/>
            </a:solidFill>
            <a:prstDash val="solid"/>
          </a:ln>
        </p:spPr>
      </p:sp>
      <p:sp>
        <p:nvSpPr>
          <p:cNvPr id="127" name="Text 125"/>
          <p:cNvSpPr/>
          <p:nvPr/>
        </p:nvSpPr>
        <p:spPr>
          <a:xfrm>
            <a:off x="9372600" y="4069080"/>
            <a:ext cx="822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8EF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46,191</a:t>
            </a:r>
            <a:endParaRPr lang="en-US" sz="1100" dirty="0"/>
          </a:p>
        </p:txBody>
      </p:sp>
      <p:sp>
        <p:nvSpPr>
          <p:cNvPr id="128" name="Shape 126"/>
          <p:cNvSpPr/>
          <p:nvPr/>
        </p:nvSpPr>
        <p:spPr>
          <a:xfrm>
            <a:off x="10241280" y="4069080"/>
            <a:ext cx="1280160" cy="457200"/>
          </a:xfrm>
          <a:prstGeom prst="rect">
            <a:avLst/>
          </a:prstGeom>
          <a:solidFill>
            <a:srgbClr val="233D5C"/>
          </a:solidFill>
          <a:ln w="6350">
            <a:solidFill>
              <a:srgbClr val="1A2F4A"/>
            </a:solidFill>
            <a:prstDash val="solid"/>
          </a:ln>
        </p:spPr>
      </p:sp>
      <p:sp>
        <p:nvSpPr>
          <p:cNvPr id="129" name="Text 127"/>
          <p:cNvSpPr/>
          <p:nvPr/>
        </p:nvSpPr>
        <p:spPr>
          <a:xfrm>
            <a:off x="10287000" y="4069080"/>
            <a:ext cx="1188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8EF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22s</a:t>
            </a:r>
            <a:endParaRPr lang="en-US" sz="1100" dirty="0"/>
          </a:p>
        </p:txBody>
      </p:sp>
      <p:sp>
        <p:nvSpPr>
          <p:cNvPr id="130" name="Shape 128"/>
          <p:cNvSpPr/>
          <p:nvPr/>
        </p:nvSpPr>
        <p:spPr>
          <a:xfrm>
            <a:off x="457200" y="4526280"/>
            <a:ext cx="2377440" cy="457200"/>
          </a:xfrm>
          <a:prstGeom prst="rect">
            <a:avLst/>
          </a:prstGeom>
          <a:solidFill>
            <a:srgbClr val="233D5C"/>
          </a:solidFill>
          <a:ln w="6350">
            <a:solidFill>
              <a:srgbClr val="1A2F4A"/>
            </a:solidFill>
            <a:prstDash val="solid"/>
          </a:ln>
        </p:spPr>
      </p:sp>
      <p:sp>
        <p:nvSpPr>
          <p:cNvPr id="131" name="Text 129"/>
          <p:cNvSpPr/>
          <p:nvPr/>
        </p:nvSpPr>
        <p:spPr>
          <a:xfrm>
            <a:off x="502920" y="452628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E8EF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PyVRP</a:t>
            </a:r>
            <a:endParaRPr lang="en-US" sz="1100" dirty="0"/>
          </a:p>
        </p:txBody>
      </p:sp>
      <p:sp>
        <p:nvSpPr>
          <p:cNvPr id="132" name="Shape 130"/>
          <p:cNvSpPr/>
          <p:nvPr/>
        </p:nvSpPr>
        <p:spPr>
          <a:xfrm>
            <a:off x="2834640" y="4526280"/>
            <a:ext cx="822960" cy="457200"/>
          </a:xfrm>
          <a:prstGeom prst="rect">
            <a:avLst/>
          </a:prstGeom>
          <a:solidFill>
            <a:srgbClr val="233D5C"/>
          </a:solidFill>
          <a:ln w="6350">
            <a:solidFill>
              <a:srgbClr val="1A2F4A"/>
            </a:solidFill>
            <a:prstDash val="solid"/>
          </a:ln>
        </p:spPr>
      </p:sp>
      <p:sp>
        <p:nvSpPr>
          <p:cNvPr id="133" name="Text 131"/>
          <p:cNvSpPr/>
          <p:nvPr/>
        </p:nvSpPr>
        <p:spPr>
          <a:xfrm>
            <a:off x="2880360" y="4526280"/>
            <a:ext cx="731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8EF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150</a:t>
            </a:r>
            <a:endParaRPr lang="en-US" sz="1100" dirty="0"/>
          </a:p>
        </p:txBody>
      </p:sp>
      <p:sp>
        <p:nvSpPr>
          <p:cNvPr id="134" name="Shape 132"/>
          <p:cNvSpPr/>
          <p:nvPr/>
        </p:nvSpPr>
        <p:spPr>
          <a:xfrm>
            <a:off x="3657600" y="4526280"/>
            <a:ext cx="1097280" cy="457200"/>
          </a:xfrm>
          <a:prstGeom prst="rect">
            <a:avLst/>
          </a:prstGeom>
          <a:solidFill>
            <a:srgbClr val="233D5C"/>
          </a:solidFill>
          <a:ln w="6350">
            <a:solidFill>
              <a:srgbClr val="1A2F4A"/>
            </a:solidFill>
            <a:prstDash val="solid"/>
          </a:ln>
        </p:spPr>
      </p:sp>
      <p:sp>
        <p:nvSpPr>
          <p:cNvPr id="135" name="Text 133"/>
          <p:cNvSpPr/>
          <p:nvPr/>
        </p:nvSpPr>
        <p:spPr>
          <a:xfrm>
            <a:off x="3703320" y="452628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8EF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114.0</a:t>
            </a:r>
            <a:endParaRPr lang="en-US" sz="1100" dirty="0"/>
          </a:p>
        </p:txBody>
      </p:sp>
      <p:sp>
        <p:nvSpPr>
          <p:cNvPr id="136" name="Shape 134"/>
          <p:cNvSpPr/>
          <p:nvPr/>
        </p:nvSpPr>
        <p:spPr>
          <a:xfrm>
            <a:off x="4754880" y="4526280"/>
            <a:ext cx="1097280" cy="457200"/>
          </a:xfrm>
          <a:prstGeom prst="rect">
            <a:avLst/>
          </a:prstGeom>
          <a:solidFill>
            <a:srgbClr val="233D5C"/>
          </a:solidFill>
          <a:ln w="6350">
            <a:solidFill>
              <a:srgbClr val="1A2F4A"/>
            </a:solidFill>
            <a:prstDash val="solid"/>
          </a:ln>
        </p:spPr>
      </p:sp>
      <p:sp>
        <p:nvSpPr>
          <p:cNvPr id="137" name="Text 135"/>
          <p:cNvSpPr/>
          <p:nvPr/>
        </p:nvSpPr>
        <p:spPr>
          <a:xfrm>
            <a:off x="4800600" y="452628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8EF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111.8</a:t>
            </a:r>
            <a:endParaRPr lang="en-US" sz="1100" dirty="0"/>
          </a:p>
        </p:txBody>
      </p:sp>
      <p:sp>
        <p:nvSpPr>
          <p:cNvPr id="138" name="Shape 136"/>
          <p:cNvSpPr/>
          <p:nvPr/>
        </p:nvSpPr>
        <p:spPr>
          <a:xfrm>
            <a:off x="5852160" y="4526280"/>
            <a:ext cx="1097280" cy="457200"/>
          </a:xfrm>
          <a:prstGeom prst="rect">
            <a:avLst/>
          </a:prstGeom>
          <a:solidFill>
            <a:srgbClr val="233D5C"/>
          </a:solidFill>
          <a:ln w="6350">
            <a:solidFill>
              <a:srgbClr val="1A2F4A"/>
            </a:solidFill>
            <a:prstDash val="solid"/>
          </a:ln>
        </p:spPr>
      </p:sp>
      <p:sp>
        <p:nvSpPr>
          <p:cNvPr id="139" name="Text 137"/>
          <p:cNvSpPr/>
          <p:nvPr/>
        </p:nvSpPr>
        <p:spPr>
          <a:xfrm>
            <a:off x="5897880" y="452628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8EF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112.5</a:t>
            </a:r>
            <a:endParaRPr lang="en-US" sz="1100" dirty="0"/>
          </a:p>
        </p:txBody>
      </p:sp>
      <p:sp>
        <p:nvSpPr>
          <p:cNvPr id="140" name="Shape 138"/>
          <p:cNvSpPr/>
          <p:nvPr/>
        </p:nvSpPr>
        <p:spPr>
          <a:xfrm>
            <a:off x="6949440" y="4526280"/>
            <a:ext cx="1097280" cy="457200"/>
          </a:xfrm>
          <a:prstGeom prst="rect">
            <a:avLst/>
          </a:prstGeom>
          <a:solidFill>
            <a:srgbClr val="233D5C"/>
          </a:solidFill>
          <a:ln w="6350">
            <a:solidFill>
              <a:srgbClr val="1A2F4A"/>
            </a:solidFill>
            <a:prstDash val="solid"/>
          </a:ln>
        </p:spPr>
      </p:sp>
      <p:sp>
        <p:nvSpPr>
          <p:cNvPr id="141" name="Text 139"/>
          <p:cNvSpPr/>
          <p:nvPr/>
        </p:nvSpPr>
        <p:spPr>
          <a:xfrm>
            <a:off x="6995160" y="452628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8EF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118.1</a:t>
            </a:r>
            <a:endParaRPr lang="en-US" sz="1100" dirty="0"/>
          </a:p>
        </p:txBody>
      </p:sp>
      <p:sp>
        <p:nvSpPr>
          <p:cNvPr id="142" name="Shape 140"/>
          <p:cNvSpPr/>
          <p:nvPr/>
        </p:nvSpPr>
        <p:spPr>
          <a:xfrm>
            <a:off x="8046720" y="4526280"/>
            <a:ext cx="1280160" cy="457200"/>
          </a:xfrm>
          <a:prstGeom prst="rect">
            <a:avLst/>
          </a:prstGeom>
          <a:solidFill>
            <a:srgbClr val="233D5C"/>
          </a:solidFill>
          <a:ln w="6350">
            <a:solidFill>
              <a:srgbClr val="1A2F4A"/>
            </a:solidFill>
            <a:prstDash val="solid"/>
          </a:ln>
        </p:spPr>
      </p:sp>
      <p:sp>
        <p:nvSpPr>
          <p:cNvPr id="143" name="Text 141"/>
          <p:cNvSpPr/>
          <p:nvPr/>
        </p:nvSpPr>
        <p:spPr>
          <a:xfrm>
            <a:off x="8092440" y="4526280"/>
            <a:ext cx="1188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8EF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134,483</a:t>
            </a:r>
            <a:endParaRPr lang="en-US" sz="1100" dirty="0"/>
          </a:p>
        </p:txBody>
      </p:sp>
      <p:sp>
        <p:nvSpPr>
          <p:cNvPr id="144" name="Shape 142"/>
          <p:cNvSpPr/>
          <p:nvPr/>
        </p:nvSpPr>
        <p:spPr>
          <a:xfrm>
            <a:off x="9326880" y="4526280"/>
            <a:ext cx="914400" cy="457200"/>
          </a:xfrm>
          <a:prstGeom prst="rect">
            <a:avLst/>
          </a:prstGeom>
          <a:solidFill>
            <a:srgbClr val="233D5C"/>
          </a:solidFill>
          <a:ln w="6350">
            <a:solidFill>
              <a:srgbClr val="1A2F4A"/>
            </a:solidFill>
            <a:prstDash val="solid"/>
          </a:ln>
        </p:spPr>
      </p:sp>
      <p:sp>
        <p:nvSpPr>
          <p:cNvPr id="145" name="Text 143"/>
          <p:cNvSpPr/>
          <p:nvPr/>
        </p:nvSpPr>
        <p:spPr>
          <a:xfrm>
            <a:off x="9372600" y="4526280"/>
            <a:ext cx="822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8EF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70,615</a:t>
            </a:r>
            <a:endParaRPr lang="en-US" sz="1100" dirty="0"/>
          </a:p>
        </p:txBody>
      </p:sp>
      <p:sp>
        <p:nvSpPr>
          <p:cNvPr id="146" name="Shape 144"/>
          <p:cNvSpPr/>
          <p:nvPr/>
        </p:nvSpPr>
        <p:spPr>
          <a:xfrm>
            <a:off x="10241280" y="4526280"/>
            <a:ext cx="1280160" cy="457200"/>
          </a:xfrm>
          <a:prstGeom prst="rect">
            <a:avLst/>
          </a:prstGeom>
          <a:solidFill>
            <a:srgbClr val="233D5C"/>
          </a:solidFill>
          <a:ln w="6350">
            <a:solidFill>
              <a:srgbClr val="1A2F4A"/>
            </a:solidFill>
            <a:prstDash val="solid"/>
          </a:ln>
        </p:spPr>
      </p:sp>
      <p:sp>
        <p:nvSpPr>
          <p:cNvPr id="147" name="Text 145"/>
          <p:cNvSpPr/>
          <p:nvPr/>
        </p:nvSpPr>
        <p:spPr>
          <a:xfrm>
            <a:off x="10287000" y="4526280"/>
            <a:ext cx="1188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8EF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545s</a:t>
            </a:r>
            <a:endParaRPr lang="en-US" sz="1100" dirty="0"/>
          </a:p>
        </p:txBody>
      </p:sp>
      <p:sp>
        <p:nvSpPr>
          <p:cNvPr id="148" name="Shape 146"/>
          <p:cNvSpPr/>
          <p:nvPr/>
        </p:nvSpPr>
        <p:spPr>
          <a:xfrm>
            <a:off x="457200" y="4983480"/>
            <a:ext cx="2377440" cy="457200"/>
          </a:xfrm>
          <a:prstGeom prst="rect">
            <a:avLst/>
          </a:prstGeom>
          <a:solidFill>
            <a:srgbClr val="233D5C"/>
          </a:solidFill>
          <a:ln w="6350">
            <a:solidFill>
              <a:srgbClr val="1A2F4A"/>
            </a:solidFill>
            <a:prstDash val="solid"/>
          </a:ln>
        </p:spPr>
      </p:sp>
      <p:sp>
        <p:nvSpPr>
          <p:cNvPr id="149" name="Text 147"/>
          <p:cNvSpPr/>
          <p:nvPr/>
        </p:nvSpPr>
        <p:spPr>
          <a:xfrm>
            <a:off x="502920" y="498348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E8EF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OSRM</a:t>
            </a:r>
            <a:endParaRPr lang="en-US" sz="1100" dirty="0"/>
          </a:p>
        </p:txBody>
      </p:sp>
      <p:sp>
        <p:nvSpPr>
          <p:cNvPr id="150" name="Shape 148"/>
          <p:cNvSpPr/>
          <p:nvPr/>
        </p:nvSpPr>
        <p:spPr>
          <a:xfrm>
            <a:off x="2834640" y="4983480"/>
            <a:ext cx="822960" cy="457200"/>
          </a:xfrm>
          <a:prstGeom prst="rect">
            <a:avLst/>
          </a:prstGeom>
          <a:solidFill>
            <a:srgbClr val="233D5C"/>
          </a:solidFill>
          <a:ln w="6350">
            <a:solidFill>
              <a:srgbClr val="1A2F4A"/>
            </a:solidFill>
            <a:prstDash val="solid"/>
          </a:ln>
        </p:spPr>
      </p:sp>
      <p:sp>
        <p:nvSpPr>
          <p:cNvPr id="151" name="Text 149"/>
          <p:cNvSpPr/>
          <p:nvPr/>
        </p:nvSpPr>
        <p:spPr>
          <a:xfrm>
            <a:off x="2880360" y="4983480"/>
            <a:ext cx="731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8EF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150</a:t>
            </a:r>
            <a:endParaRPr lang="en-US" sz="1100" dirty="0"/>
          </a:p>
        </p:txBody>
      </p:sp>
      <p:sp>
        <p:nvSpPr>
          <p:cNvPr id="152" name="Shape 150"/>
          <p:cNvSpPr/>
          <p:nvPr/>
        </p:nvSpPr>
        <p:spPr>
          <a:xfrm>
            <a:off x="3657600" y="4983480"/>
            <a:ext cx="1097280" cy="457200"/>
          </a:xfrm>
          <a:prstGeom prst="rect">
            <a:avLst/>
          </a:prstGeom>
          <a:solidFill>
            <a:srgbClr val="233D5C"/>
          </a:solidFill>
          <a:ln w="6350">
            <a:solidFill>
              <a:srgbClr val="1A2F4A"/>
            </a:solidFill>
            <a:prstDash val="solid"/>
          </a:ln>
        </p:spPr>
      </p:sp>
      <p:sp>
        <p:nvSpPr>
          <p:cNvPr id="153" name="Text 151"/>
          <p:cNvSpPr/>
          <p:nvPr/>
        </p:nvSpPr>
        <p:spPr>
          <a:xfrm>
            <a:off x="3703320" y="498348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8EF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519.3</a:t>
            </a:r>
            <a:endParaRPr lang="en-US" sz="1100" dirty="0"/>
          </a:p>
        </p:txBody>
      </p:sp>
      <p:sp>
        <p:nvSpPr>
          <p:cNvPr id="154" name="Shape 152"/>
          <p:cNvSpPr/>
          <p:nvPr/>
        </p:nvSpPr>
        <p:spPr>
          <a:xfrm>
            <a:off x="4754880" y="4983480"/>
            <a:ext cx="1097280" cy="457200"/>
          </a:xfrm>
          <a:prstGeom prst="rect">
            <a:avLst/>
          </a:prstGeom>
          <a:solidFill>
            <a:srgbClr val="233D5C"/>
          </a:solidFill>
          <a:ln w="6350">
            <a:solidFill>
              <a:srgbClr val="1A2F4A"/>
            </a:solidFill>
            <a:prstDash val="solid"/>
          </a:ln>
        </p:spPr>
      </p:sp>
      <p:sp>
        <p:nvSpPr>
          <p:cNvPr id="155" name="Text 153"/>
          <p:cNvSpPr/>
          <p:nvPr/>
        </p:nvSpPr>
        <p:spPr>
          <a:xfrm>
            <a:off x="4800600" y="498348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8EF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522.5</a:t>
            </a:r>
            <a:endParaRPr lang="en-US" sz="1100" dirty="0"/>
          </a:p>
        </p:txBody>
      </p:sp>
      <p:sp>
        <p:nvSpPr>
          <p:cNvPr id="156" name="Shape 154"/>
          <p:cNvSpPr/>
          <p:nvPr/>
        </p:nvSpPr>
        <p:spPr>
          <a:xfrm>
            <a:off x="5852160" y="4983480"/>
            <a:ext cx="1097280" cy="457200"/>
          </a:xfrm>
          <a:prstGeom prst="rect">
            <a:avLst/>
          </a:prstGeom>
          <a:solidFill>
            <a:srgbClr val="233D5C"/>
          </a:solidFill>
          <a:ln w="6350">
            <a:solidFill>
              <a:srgbClr val="1A2F4A"/>
            </a:solidFill>
            <a:prstDash val="solid"/>
          </a:ln>
        </p:spPr>
      </p:sp>
      <p:sp>
        <p:nvSpPr>
          <p:cNvPr id="157" name="Text 155"/>
          <p:cNvSpPr/>
          <p:nvPr/>
        </p:nvSpPr>
        <p:spPr>
          <a:xfrm>
            <a:off x="5897880" y="498348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8EF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518.8</a:t>
            </a:r>
            <a:endParaRPr lang="en-US" sz="1100" dirty="0"/>
          </a:p>
        </p:txBody>
      </p:sp>
      <p:sp>
        <p:nvSpPr>
          <p:cNvPr id="158" name="Shape 156"/>
          <p:cNvSpPr/>
          <p:nvPr/>
        </p:nvSpPr>
        <p:spPr>
          <a:xfrm>
            <a:off x="6949440" y="4983480"/>
            <a:ext cx="1097280" cy="457200"/>
          </a:xfrm>
          <a:prstGeom prst="rect">
            <a:avLst/>
          </a:prstGeom>
          <a:solidFill>
            <a:srgbClr val="233D5C"/>
          </a:solidFill>
          <a:ln w="6350">
            <a:solidFill>
              <a:srgbClr val="1A2F4A"/>
            </a:solidFill>
            <a:prstDash val="solid"/>
          </a:ln>
        </p:spPr>
      </p:sp>
      <p:sp>
        <p:nvSpPr>
          <p:cNvPr id="159" name="Text 157"/>
          <p:cNvSpPr/>
          <p:nvPr/>
        </p:nvSpPr>
        <p:spPr>
          <a:xfrm>
            <a:off x="6995160" y="498348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8EF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509.9</a:t>
            </a:r>
            <a:endParaRPr lang="en-US" sz="1100" dirty="0"/>
          </a:p>
        </p:txBody>
      </p:sp>
      <p:sp>
        <p:nvSpPr>
          <p:cNvPr id="160" name="Shape 158"/>
          <p:cNvSpPr/>
          <p:nvPr/>
        </p:nvSpPr>
        <p:spPr>
          <a:xfrm>
            <a:off x="8046720" y="4983480"/>
            <a:ext cx="1280160" cy="457200"/>
          </a:xfrm>
          <a:prstGeom prst="rect">
            <a:avLst/>
          </a:prstGeom>
          <a:solidFill>
            <a:srgbClr val="233D5C"/>
          </a:solidFill>
          <a:ln w="6350">
            <a:solidFill>
              <a:srgbClr val="1A2F4A"/>
            </a:solidFill>
            <a:prstDash val="solid"/>
          </a:ln>
        </p:spPr>
      </p:sp>
      <p:sp>
        <p:nvSpPr>
          <p:cNvPr id="161" name="Text 159"/>
          <p:cNvSpPr/>
          <p:nvPr/>
        </p:nvSpPr>
        <p:spPr>
          <a:xfrm>
            <a:off x="8092440" y="4983480"/>
            <a:ext cx="1188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8EF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245,827</a:t>
            </a:r>
            <a:endParaRPr lang="en-US" sz="1100" dirty="0"/>
          </a:p>
        </p:txBody>
      </p:sp>
      <p:sp>
        <p:nvSpPr>
          <p:cNvPr id="162" name="Shape 160"/>
          <p:cNvSpPr/>
          <p:nvPr/>
        </p:nvSpPr>
        <p:spPr>
          <a:xfrm>
            <a:off x="9326880" y="4983480"/>
            <a:ext cx="914400" cy="457200"/>
          </a:xfrm>
          <a:prstGeom prst="rect">
            <a:avLst/>
          </a:prstGeom>
          <a:solidFill>
            <a:srgbClr val="233D5C"/>
          </a:solidFill>
          <a:ln w="6350">
            <a:solidFill>
              <a:srgbClr val="1A2F4A"/>
            </a:solidFill>
            <a:prstDash val="solid"/>
          </a:ln>
        </p:spPr>
      </p:sp>
      <p:sp>
        <p:nvSpPr>
          <p:cNvPr id="163" name="Text 161"/>
          <p:cNvSpPr/>
          <p:nvPr/>
        </p:nvSpPr>
        <p:spPr>
          <a:xfrm>
            <a:off x="9372600" y="4983480"/>
            <a:ext cx="822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8EF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52,266</a:t>
            </a:r>
            <a:endParaRPr lang="en-US" sz="1100" dirty="0"/>
          </a:p>
        </p:txBody>
      </p:sp>
      <p:sp>
        <p:nvSpPr>
          <p:cNvPr id="164" name="Shape 162"/>
          <p:cNvSpPr/>
          <p:nvPr/>
        </p:nvSpPr>
        <p:spPr>
          <a:xfrm>
            <a:off x="10241280" y="4983480"/>
            <a:ext cx="1280160" cy="457200"/>
          </a:xfrm>
          <a:prstGeom prst="rect">
            <a:avLst/>
          </a:prstGeom>
          <a:solidFill>
            <a:srgbClr val="233D5C"/>
          </a:solidFill>
          <a:ln w="6350">
            <a:solidFill>
              <a:srgbClr val="1A2F4A"/>
            </a:solidFill>
            <a:prstDash val="solid"/>
          </a:ln>
        </p:spPr>
      </p:sp>
      <p:sp>
        <p:nvSpPr>
          <p:cNvPr id="165" name="Text 163"/>
          <p:cNvSpPr/>
          <p:nvPr/>
        </p:nvSpPr>
        <p:spPr>
          <a:xfrm>
            <a:off x="10287000" y="4983480"/>
            <a:ext cx="1188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8EF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4,949s</a:t>
            </a:r>
            <a:endParaRPr lang="en-US" sz="1100" dirty="0"/>
          </a:p>
        </p:txBody>
      </p:sp>
      <p:sp>
        <p:nvSpPr>
          <p:cNvPr id="166" name="Text 164"/>
          <p:cNvSpPr/>
          <p:nvPr/>
        </p:nvSpPr>
        <p:spPr>
          <a:xfrm>
            <a:off x="457200" y="621792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7AC4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OR-Tools EA: only backend with 100% assignment + zero violations + sub-1000s runtime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E1B2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E8EF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Distance — Zero-Violation Backends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5BA4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scenario distance in km · lower is better</a:t>
            </a:r>
            <a:endParaRPr lang="en-US" sz="16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640080" y="1463040"/>
          <a:ext cx="10972800" cy="47548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E1B2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E8EF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Runtime — All 18 Scenarios Combined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5BA4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runtime in seconds · log scale</a:t>
            </a:r>
            <a:endParaRPr lang="en-US" sz="16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640080" y="1463040"/>
          <a:ext cx="10972800" cy="47548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E1B2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E8EF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OR-Tools vs OR-Tools EA — Head-to-Head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1280160"/>
            <a:ext cx="3200400" cy="457200"/>
          </a:xfrm>
          <a:prstGeom prst="rect">
            <a:avLst/>
          </a:prstGeom>
          <a:solidFill>
            <a:srgbClr val="1A2F4A"/>
          </a:solidFill>
          <a:ln w="12700">
            <a:solidFill>
              <a:srgbClr val="0E1B2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28016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5BA4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Metric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657600" y="1280160"/>
            <a:ext cx="2743200" cy="457200"/>
          </a:xfrm>
          <a:prstGeom prst="rect">
            <a:avLst/>
          </a:prstGeom>
          <a:solidFill>
            <a:srgbClr val="1A2F4A"/>
          </a:solidFill>
          <a:ln w="12700">
            <a:solidFill>
              <a:srgbClr val="0E1B2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0" y="128016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5BA4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OR-Tools (plain)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400800" y="1280160"/>
            <a:ext cx="2743200" cy="457200"/>
          </a:xfrm>
          <a:prstGeom prst="rect">
            <a:avLst/>
          </a:prstGeom>
          <a:solidFill>
            <a:srgbClr val="1A2F4A"/>
          </a:solidFill>
          <a:ln w="12700">
            <a:solidFill>
              <a:srgbClr val="0E1B2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0" y="128016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5BA4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OR-Tools EA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9144000" y="1280160"/>
            <a:ext cx="2560320" cy="457200"/>
          </a:xfrm>
          <a:prstGeom prst="rect">
            <a:avLst/>
          </a:prstGeom>
          <a:solidFill>
            <a:srgbClr val="1A2F4A"/>
          </a:solidFill>
          <a:ln w="12700">
            <a:solidFill>
              <a:srgbClr val="0E1B2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144000" y="128016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5BA4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Improvement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57200" y="1737360"/>
            <a:ext cx="3200400" cy="457200"/>
          </a:xfrm>
          <a:prstGeom prst="rect">
            <a:avLst/>
          </a:prstGeom>
          <a:solidFill>
            <a:srgbClr val="233D5C"/>
          </a:solidFill>
          <a:ln w="6350">
            <a:solidFill>
              <a:srgbClr val="1A2F4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94360" y="173736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E8EF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distance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3657600" y="1737360"/>
            <a:ext cx="2743200" cy="457200"/>
          </a:xfrm>
          <a:prstGeom prst="rect">
            <a:avLst/>
          </a:prstGeom>
          <a:solidFill>
            <a:srgbClr val="233D5C"/>
          </a:solidFill>
          <a:ln w="6350">
            <a:solidFill>
              <a:srgbClr val="1A2F4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794760" y="173736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E8EF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233.2 km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6400800" y="1737360"/>
            <a:ext cx="2743200" cy="457200"/>
          </a:xfrm>
          <a:prstGeom prst="rect">
            <a:avLst/>
          </a:prstGeom>
          <a:solidFill>
            <a:srgbClr val="233D5C"/>
          </a:solidFill>
          <a:ln w="6350">
            <a:solidFill>
              <a:srgbClr val="1A2F4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537960" y="173736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E8EF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231.8 km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9144000" y="1737360"/>
            <a:ext cx="2560320" cy="457200"/>
          </a:xfrm>
          <a:prstGeom prst="rect">
            <a:avLst/>
          </a:prstGeom>
          <a:solidFill>
            <a:srgbClr val="233D5C"/>
          </a:solidFill>
          <a:ln w="6350">
            <a:solidFill>
              <a:srgbClr val="1A2F4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281160" y="173736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7AC4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−1.4 km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457200" y="2194560"/>
            <a:ext cx="3200400" cy="457200"/>
          </a:xfrm>
          <a:prstGeom prst="rect">
            <a:avLst/>
          </a:prstGeom>
          <a:solidFill>
            <a:srgbClr val="233D5C"/>
          </a:solidFill>
          <a:ln w="6350">
            <a:solidFill>
              <a:srgbClr val="1A2F4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94360" y="219456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E8EF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EAS avg distance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3657600" y="2194560"/>
            <a:ext cx="2743200" cy="457200"/>
          </a:xfrm>
          <a:prstGeom prst="rect">
            <a:avLst/>
          </a:prstGeom>
          <a:solidFill>
            <a:srgbClr val="233D5C"/>
          </a:solidFill>
          <a:ln w="6350">
            <a:solidFill>
              <a:srgbClr val="1A2F4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794760" y="219456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E8EF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233.4 km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6400800" y="2194560"/>
            <a:ext cx="2743200" cy="457200"/>
          </a:xfrm>
          <a:prstGeom prst="rect">
            <a:avLst/>
          </a:prstGeom>
          <a:solidFill>
            <a:srgbClr val="233D5C"/>
          </a:solidFill>
          <a:ln w="6350">
            <a:solidFill>
              <a:srgbClr val="1A2F4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537960" y="219456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E8EF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232.8 km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9144000" y="2194560"/>
            <a:ext cx="2560320" cy="457200"/>
          </a:xfrm>
          <a:prstGeom prst="rect">
            <a:avLst/>
          </a:prstGeom>
          <a:solidFill>
            <a:srgbClr val="233D5C"/>
          </a:solidFill>
          <a:ln w="6350">
            <a:solidFill>
              <a:srgbClr val="1A2F4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9281160" y="219456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7AC4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−0.6 km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457200" y="2651760"/>
            <a:ext cx="3200400" cy="457200"/>
          </a:xfrm>
          <a:prstGeom prst="rect">
            <a:avLst/>
          </a:prstGeom>
          <a:solidFill>
            <a:srgbClr val="233D5C"/>
          </a:solidFill>
          <a:ln w="6350">
            <a:solidFill>
              <a:srgbClr val="1A2F4A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94360" y="265176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E8EF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RT avg distance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3657600" y="2651760"/>
            <a:ext cx="2743200" cy="457200"/>
          </a:xfrm>
          <a:prstGeom prst="rect">
            <a:avLst/>
          </a:prstGeom>
          <a:solidFill>
            <a:srgbClr val="233D5C"/>
          </a:solidFill>
          <a:ln w="6350">
            <a:solidFill>
              <a:srgbClr val="1A2F4A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794760" y="265176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E8EF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234.6 km</a:t>
            </a:r>
            <a:endParaRPr lang="en-US" sz="1300" dirty="0"/>
          </a:p>
        </p:txBody>
      </p:sp>
      <p:sp>
        <p:nvSpPr>
          <p:cNvPr id="31" name="Shape 29"/>
          <p:cNvSpPr/>
          <p:nvPr/>
        </p:nvSpPr>
        <p:spPr>
          <a:xfrm>
            <a:off x="6400800" y="2651760"/>
            <a:ext cx="2743200" cy="457200"/>
          </a:xfrm>
          <a:prstGeom prst="rect">
            <a:avLst/>
          </a:prstGeom>
          <a:solidFill>
            <a:srgbClr val="233D5C"/>
          </a:solidFill>
          <a:ln w="6350">
            <a:solidFill>
              <a:srgbClr val="1A2F4A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537960" y="265176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E8EF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232.1 km</a:t>
            </a:r>
            <a:endParaRPr lang="en-US" sz="1300" dirty="0"/>
          </a:p>
        </p:txBody>
      </p:sp>
      <p:sp>
        <p:nvSpPr>
          <p:cNvPr id="33" name="Shape 31"/>
          <p:cNvSpPr/>
          <p:nvPr/>
        </p:nvSpPr>
        <p:spPr>
          <a:xfrm>
            <a:off x="9144000" y="2651760"/>
            <a:ext cx="2560320" cy="457200"/>
          </a:xfrm>
          <a:prstGeom prst="rect">
            <a:avLst/>
          </a:prstGeom>
          <a:solidFill>
            <a:srgbClr val="233D5C"/>
          </a:solidFill>
          <a:ln w="6350">
            <a:solidFill>
              <a:srgbClr val="1A2F4A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9281160" y="265176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7AC4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−2.5 km</a:t>
            </a:r>
            <a:endParaRPr lang="en-US" sz="1300" dirty="0"/>
          </a:p>
        </p:txBody>
      </p:sp>
      <p:sp>
        <p:nvSpPr>
          <p:cNvPr id="35" name="Shape 33"/>
          <p:cNvSpPr/>
          <p:nvPr/>
        </p:nvSpPr>
        <p:spPr>
          <a:xfrm>
            <a:off x="457200" y="3108960"/>
            <a:ext cx="3200400" cy="457200"/>
          </a:xfrm>
          <a:prstGeom prst="rect">
            <a:avLst/>
          </a:prstGeom>
          <a:solidFill>
            <a:srgbClr val="233D5C"/>
          </a:solidFill>
          <a:ln w="6350">
            <a:solidFill>
              <a:srgbClr val="1A2F4A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594360" y="310896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E8EF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GB avg distance</a:t>
            </a:r>
            <a:endParaRPr lang="en-US" sz="1300" dirty="0"/>
          </a:p>
        </p:txBody>
      </p:sp>
      <p:sp>
        <p:nvSpPr>
          <p:cNvPr id="37" name="Shape 35"/>
          <p:cNvSpPr/>
          <p:nvPr/>
        </p:nvSpPr>
        <p:spPr>
          <a:xfrm>
            <a:off x="3657600" y="3108960"/>
            <a:ext cx="2743200" cy="457200"/>
          </a:xfrm>
          <a:prstGeom prst="rect">
            <a:avLst/>
          </a:prstGeom>
          <a:solidFill>
            <a:srgbClr val="233D5C"/>
          </a:solidFill>
          <a:ln w="6350">
            <a:solidFill>
              <a:srgbClr val="1A2F4A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3794760" y="310896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E8EF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243.2 km</a:t>
            </a:r>
            <a:endParaRPr lang="en-US" sz="1300" dirty="0"/>
          </a:p>
        </p:txBody>
      </p:sp>
      <p:sp>
        <p:nvSpPr>
          <p:cNvPr id="39" name="Shape 37"/>
          <p:cNvSpPr/>
          <p:nvPr/>
        </p:nvSpPr>
        <p:spPr>
          <a:xfrm>
            <a:off x="6400800" y="3108960"/>
            <a:ext cx="2743200" cy="457200"/>
          </a:xfrm>
          <a:prstGeom prst="rect">
            <a:avLst/>
          </a:prstGeom>
          <a:solidFill>
            <a:srgbClr val="233D5C"/>
          </a:solidFill>
          <a:ln w="6350">
            <a:solidFill>
              <a:srgbClr val="1A2F4A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6537960" y="310896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E8EF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239.8 km</a:t>
            </a:r>
            <a:endParaRPr lang="en-US" sz="1300" dirty="0"/>
          </a:p>
        </p:txBody>
      </p:sp>
      <p:sp>
        <p:nvSpPr>
          <p:cNvPr id="41" name="Shape 39"/>
          <p:cNvSpPr/>
          <p:nvPr/>
        </p:nvSpPr>
        <p:spPr>
          <a:xfrm>
            <a:off x="9144000" y="3108960"/>
            <a:ext cx="2560320" cy="457200"/>
          </a:xfrm>
          <a:prstGeom prst="rect">
            <a:avLst/>
          </a:prstGeom>
          <a:solidFill>
            <a:srgbClr val="233D5C"/>
          </a:solidFill>
          <a:ln w="6350">
            <a:solidFill>
              <a:srgbClr val="1A2F4A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9281160" y="310896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7AC4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−3.4 km</a:t>
            </a:r>
            <a:endParaRPr lang="en-US" sz="1300" dirty="0"/>
          </a:p>
        </p:txBody>
      </p:sp>
      <p:sp>
        <p:nvSpPr>
          <p:cNvPr id="43" name="Shape 41"/>
          <p:cNvSpPr/>
          <p:nvPr/>
        </p:nvSpPr>
        <p:spPr>
          <a:xfrm>
            <a:off x="457200" y="3566160"/>
            <a:ext cx="3200400" cy="457200"/>
          </a:xfrm>
          <a:prstGeom prst="rect">
            <a:avLst/>
          </a:prstGeom>
          <a:solidFill>
            <a:srgbClr val="233D5C"/>
          </a:solidFill>
          <a:ln w="6350">
            <a:solidFill>
              <a:srgbClr val="1A2F4A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594360" y="356616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E8EF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 minutes</a:t>
            </a:r>
            <a:endParaRPr lang="en-US" sz="1300" dirty="0"/>
          </a:p>
        </p:txBody>
      </p:sp>
      <p:sp>
        <p:nvSpPr>
          <p:cNvPr id="45" name="Shape 43"/>
          <p:cNvSpPr/>
          <p:nvPr/>
        </p:nvSpPr>
        <p:spPr>
          <a:xfrm>
            <a:off x="3657600" y="3566160"/>
            <a:ext cx="2743200" cy="457200"/>
          </a:xfrm>
          <a:prstGeom prst="rect">
            <a:avLst/>
          </a:prstGeom>
          <a:solidFill>
            <a:srgbClr val="233D5C"/>
          </a:solidFill>
          <a:ln w="6350">
            <a:solidFill>
              <a:srgbClr val="1A2F4A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3794760" y="356616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E8EF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1300" dirty="0"/>
          </a:p>
        </p:txBody>
      </p:sp>
      <p:sp>
        <p:nvSpPr>
          <p:cNvPr id="47" name="Shape 45"/>
          <p:cNvSpPr/>
          <p:nvPr/>
        </p:nvSpPr>
        <p:spPr>
          <a:xfrm>
            <a:off x="6400800" y="3566160"/>
            <a:ext cx="2743200" cy="457200"/>
          </a:xfrm>
          <a:prstGeom prst="rect">
            <a:avLst/>
          </a:prstGeom>
          <a:solidFill>
            <a:srgbClr val="233D5C"/>
          </a:solidFill>
          <a:ln w="6350">
            <a:solidFill>
              <a:srgbClr val="1A2F4A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6537960" y="356616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E8EF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1300" dirty="0"/>
          </a:p>
        </p:txBody>
      </p:sp>
      <p:sp>
        <p:nvSpPr>
          <p:cNvPr id="49" name="Shape 47"/>
          <p:cNvSpPr/>
          <p:nvPr/>
        </p:nvSpPr>
        <p:spPr>
          <a:xfrm>
            <a:off x="9144000" y="3566160"/>
            <a:ext cx="2560320" cy="457200"/>
          </a:xfrm>
          <a:prstGeom prst="rect">
            <a:avLst/>
          </a:prstGeom>
          <a:solidFill>
            <a:srgbClr val="233D5C"/>
          </a:solidFill>
          <a:ln w="6350">
            <a:solidFill>
              <a:srgbClr val="1A2F4A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9281160" y="356616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7AC4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</a:t>
            </a:r>
            <a:endParaRPr lang="en-US" sz="1300" dirty="0"/>
          </a:p>
        </p:txBody>
      </p:sp>
      <p:sp>
        <p:nvSpPr>
          <p:cNvPr id="51" name="Shape 49"/>
          <p:cNvSpPr/>
          <p:nvPr/>
        </p:nvSpPr>
        <p:spPr>
          <a:xfrm>
            <a:off x="457200" y="4023360"/>
            <a:ext cx="3200400" cy="457200"/>
          </a:xfrm>
          <a:prstGeom prst="rect">
            <a:avLst/>
          </a:prstGeom>
          <a:solidFill>
            <a:srgbClr val="233D5C"/>
          </a:solidFill>
          <a:ln w="6350">
            <a:solidFill>
              <a:srgbClr val="1A2F4A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594360" y="402336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E8EF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Overtime minutes</a:t>
            </a:r>
            <a:endParaRPr lang="en-US" sz="1300" dirty="0"/>
          </a:p>
        </p:txBody>
      </p:sp>
      <p:sp>
        <p:nvSpPr>
          <p:cNvPr id="53" name="Shape 51"/>
          <p:cNvSpPr/>
          <p:nvPr/>
        </p:nvSpPr>
        <p:spPr>
          <a:xfrm>
            <a:off x="3657600" y="4023360"/>
            <a:ext cx="2743200" cy="457200"/>
          </a:xfrm>
          <a:prstGeom prst="rect">
            <a:avLst/>
          </a:prstGeom>
          <a:solidFill>
            <a:srgbClr val="233D5C"/>
          </a:solidFill>
          <a:ln w="6350">
            <a:solidFill>
              <a:srgbClr val="1A2F4A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3794760" y="402336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E8EF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1300" dirty="0"/>
          </a:p>
        </p:txBody>
      </p:sp>
      <p:sp>
        <p:nvSpPr>
          <p:cNvPr id="55" name="Shape 53"/>
          <p:cNvSpPr/>
          <p:nvPr/>
        </p:nvSpPr>
        <p:spPr>
          <a:xfrm>
            <a:off x="6400800" y="4023360"/>
            <a:ext cx="2743200" cy="457200"/>
          </a:xfrm>
          <a:prstGeom prst="rect">
            <a:avLst/>
          </a:prstGeom>
          <a:solidFill>
            <a:srgbClr val="233D5C"/>
          </a:solidFill>
          <a:ln w="6350">
            <a:solidFill>
              <a:srgbClr val="1A2F4A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6537960" y="402336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E8EF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1300" dirty="0"/>
          </a:p>
        </p:txBody>
      </p:sp>
      <p:sp>
        <p:nvSpPr>
          <p:cNvPr id="57" name="Shape 55"/>
          <p:cNvSpPr/>
          <p:nvPr/>
        </p:nvSpPr>
        <p:spPr>
          <a:xfrm>
            <a:off x="9144000" y="4023360"/>
            <a:ext cx="2560320" cy="457200"/>
          </a:xfrm>
          <a:prstGeom prst="rect">
            <a:avLst/>
          </a:prstGeom>
          <a:solidFill>
            <a:srgbClr val="233D5C"/>
          </a:solidFill>
          <a:ln w="6350">
            <a:solidFill>
              <a:srgbClr val="1A2F4A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9281160" y="402336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7AC4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</a:t>
            </a:r>
            <a:endParaRPr lang="en-US" sz="1300" dirty="0"/>
          </a:p>
        </p:txBody>
      </p:sp>
      <p:sp>
        <p:nvSpPr>
          <p:cNvPr id="59" name="Shape 57"/>
          <p:cNvSpPr/>
          <p:nvPr/>
        </p:nvSpPr>
        <p:spPr>
          <a:xfrm>
            <a:off x="457200" y="4480560"/>
            <a:ext cx="3200400" cy="457200"/>
          </a:xfrm>
          <a:prstGeom prst="rect">
            <a:avLst/>
          </a:prstGeom>
          <a:solidFill>
            <a:srgbClr val="1A3D33"/>
          </a:solidFill>
          <a:ln w="6350">
            <a:solidFill>
              <a:srgbClr val="1A2F4A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594360" y="448056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7AC4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runtime</a:t>
            </a:r>
            <a:endParaRPr lang="en-US" sz="1300" dirty="0"/>
          </a:p>
        </p:txBody>
      </p:sp>
      <p:sp>
        <p:nvSpPr>
          <p:cNvPr id="61" name="Shape 59"/>
          <p:cNvSpPr/>
          <p:nvPr/>
        </p:nvSpPr>
        <p:spPr>
          <a:xfrm>
            <a:off x="3657600" y="4480560"/>
            <a:ext cx="2743200" cy="457200"/>
          </a:xfrm>
          <a:prstGeom prst="rect">
            <a:avLst/>
          </a:prstGeom>
          <a:solidFill>
            <a:srgbClr val="1A3D33"/>
          </a:solidFill>
          <a:ln w="6350">
            <a:solidFill>
              <a:srgbClr val="1A2F4A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3794760" y="448056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7AC4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868 s</a:t>
            </a:r>
            <a:endParaRPr lang="en-US" sz="1300" dirty="0"/>
          </a:p>
        </p:txBody>
      </p:sp>
      <p:sp>
        <p:nvSpPr>
          <p:cNvPr id="63" name="Shape 61"/>
          <p:cNvSpPr/>
          <p:nvPr/>
        </p:nvSpPr>
        <p:spPr>
          <a:xfrm>
            <a:off x="6400800" y="4480560"/>
            <a:ext cx="2743200" cy="457200"/>
          </a:xfrm>
          <a:prstGeom prst="rect">
            <a:avLst/>
          </a:prstGeom>
          <a:solidFill>
            <a:srgbClr val="1A3D33"/>
          </a:solidFill>
          <a:ln w="6350">
            <a:solidFill>
              <a:srgbClr val="1A2F4A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6537960" y="448056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7AC4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770 s</a:t>
            </a:r>
            <a:endParaRPr lang="en-US" sz="1300" dirty="0"/>
          </a:p>
        </p:txBody>
      </p:sp>
      <p:sp>
        <p:nvSpPr>
          <p:cNvPr id="65" name="Shape 63"/>
          <p:cNvSpPr/>
          <p:nvPr/>
        </p:nvSpPr>
        <p:spPr>
          <a:xfrm>
            <a:off x="9144000" y="4480560"/>
            <a:ext cx="2560320" cy="457200"/>
          </a:xfrm>
          <a:prstGeom prst="rect">
            <a:avLst/>
          </a:prstGeom>
          <a:solidFill>
            <a:srgbClr val="1A3D33"/>
          </a:solidFill>
          <a:ln w="6350">
            <a:solidFill>
              <a:srgbClr val="1A2F4A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9281160" y="448056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7AC4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−11%</a:t>
            </a:r>
            <a:endParaRPr lang="en-US" sz="1300" dirty="0"/>
          </a:p>
        </p:txBody>
      </p:sp>
      <p:sp>
        <p:nvSpPr>
          <p:cNvPr id="67" name="Shape 65"/>
          <p:cNvSpPr/>
          <p:nvPr/>
        </p:nvSpPr>
        <p:spPr>
          <a:xfrm>
            <a:off x="457200" y="5394960"/>
            <a:ext cx="73152" cy="1097280"/>
          </a:xfrm>
          <a:prstGeom prst="rect">
            <a:avLst/>
          </a:prstGeom>
          <a:solidFill>
            <a:srgbClr val="E6B85B"/>
          </a:solidFill>
          <a:ln/>
        </p:spPr>
      </p:sp>
      <p:sp>
        <p:nvSpPr>
          <p:cNvPr id="68" name="Shape 66"/>
          <p:cNvSpPr/>
          <p:nvPr/>
        </p:nvSpPr>
        <p:spPr>
          <a:xfrm>
            <a:off x="530352" y="5394960"/>
            <a:ext cx="11173968" cy="1097280"/>
          </a:xfrm>
          <a:prstGeom prst="rect">
            <a:avLst/>
          </a:prstGeom>
          <a:solidFill>
            <a:srgbClr val="233D5C"/>
          </a:solidFill>
          <a:ln/>
        </p:spPr>
      </p:sp>
      <p:sp>
        <p:nvSpPr>
          <p:cNvPr id="69" name="Text 67"/>
          <p:cNvSpPr/>
          <p:nvPr/>
        </p:nvSpPr>
        <p:spPr>
          <a:xfrm>
            <a:off x="731520" y="5486400"/>
            <a:ext cx="10789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E8EF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accuracy. 11% faster. Better on every scenario group.</a:t>
            </a:r>
            <a:endParaRPr lang="en-US" sz="16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E1B2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E8EF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Split-Solve Innovation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5BA4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Locked orders never enter the OR-Tools model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457200" y="1828800"/>
            <a:ext cx="5486400" cy="4114800"/>
          </a:xfrm>
          <a:prstGeom prst="roundRect">
            <a:avLst>
              <a:gd name="adj" fmla="val 2222"/>
            </a:avLst>
          </a:prstGeom>
          <a:solidFill>
            <a:srgbClr val="233D5C"/>
          </a:solidFill>
          <a:ln w="12700">
            <a:solidFill>
              <a:srgbClr val="E68B6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1828800"/>
            <a:ext cx="73152" cy="4114800"/>
          </a:xfrm>
          <a:prstGeom prst="rect">
            <a:avLst/>
          </a:prstGeom>
          <a:solidFill>
            <a:srgbClr val="E68B6E"/>
          </a:solidFill>
          <a:ln/>
        </p:spPr>
      </p:sp>
      <p:sp>
        <p:nvSpPr>
          <p:cNvPr id="6" name="Text 4"/>
          <p:cNvSpPr/>
          <p:nvPr/>
        </p:nvSpPr>
        <p:spPr>
          <a:xfrm>
            <a:off x="685800" y="196596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68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Naïve approach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685800" y="2377440"/>
            <a:ext cx="512064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8EF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Submit all 150 orders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8EF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130 with zero-slack TW constraints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8EF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PATH_CHEAPEST_ARC fails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8EF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0 orders assigned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8EF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Solver wastes time on infeasibility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8EF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No way to improve from there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263640" y="1828800"/>
            <a:ext cx="5486400" cy="4114800"/>
          </a:xfrm>
          <a:prstGeom prst="roundRect">
            <a:avLst>
              <a:gd name="adj" fmla="val 2222"/>
            </a:avLst>
          </a:prstGeom>
          <a:solidFill>
            <a:srgbClr val="233D5C"/>
          </a:solidFill>
          <a:ln w="12700">
            <a:solidFill>
              <a:srgbClr val="7AC4A1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263640" y="1828800"/>
            <a:ext cx="73152" cy="4114800"/>
          </a:xfrm>
          <a:prstGeom prst="rect">
            <a:avLst/>
          </a:prstGeom>
          <a:solidFill>
            <a:srgbClr val="7AC4A1"/>
          </a:solidFill>
          <a:ln/>
        </p:spPr>
      </p:sp>
      <p:sp>
        <p:nvSpPr>
          <p:cNvPr id="10" name="Text 8"/>
          <p:cNvSpPr/>
          <p:nvPr/>
        </p:nvSpPr>
        <p:spPr>
          <a:xfrm>
            <a:off x="6492240" y="196596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7AC4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Split-solve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6492240" y="2377440"/>
            <a:ext cx="512064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8EF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Submit only ~10 open orders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8EF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Locked stops copied verbatim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8EF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Vehicle anchored at last locked stop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8EF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GLS gets full 45s budget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8EF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150/150 assigned · zero violations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8EF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Greedy fallback catches edge cases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E1B2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E8EF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Split-Solve Pipeline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1280160"/>
            <a:ext cx="2194560" cy="1463040"/>
          </a:xfrm>
          <a:prstGeom prst="roundRect">
            <a:avLst>
              <a:gd name="adj" fmla="val 6250"/>
            </a:avLst>
          </a:prstGeom>
          <a:solidFill>
            <a:srgbClr val="233D5C"/>
          </a:solidFill>
          <a:ln w="19050">
            <a:solidFill>
              <a:srgbClr val="5BA4E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94360" y="1417320"/>
            <a:ext cx="411480" cy="411480"/>
          </a:xfrm>
          <a:prstGeom prst="ellipse">
            <a:avLst/>
          </a:prstGeom>
          <a:solidFill>
            <a:srgbClr val="5BA4E6"/>
          </a:solidFill>
          <a:ln/>
        </p:spPr>
      </p:sp>
      <p:sp>
        <p:nvSpPr>
          <p:cNvPr id="5" name="Text 3"/>
          <p:cNvSpPr/>
          <p:nvPr/>
        </p:nvSpPr>
        <p:spPr>
          <a:xfrm>
            <a:off x="594360" y="141732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E1B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097280" y="137160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BA4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Separate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94360" y="1920240"/>
            <a:ext cx="1920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EF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Locked vs open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8EF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orders by OrderId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788920" y="1280160"/>
            <a:ext cx="2194560" cy="1463040"/>
          </a:xfrm>
          <a:prstGeom prst="roundRect">
            <a:avLst>
              <a:gd name="adj" fmla="val 6250"/>
            </a:avLst>
          </a:prstGeom>
          <a:solidFill>
            <a:srgbClr val="233D5C"/>
          </a:solidFill>
          <a:ln w="19050">
            <a:solidFill>
              <a:srgbClr val="E6B85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926080" y="1417320"/>
            <a:ext cx="411480" cy="411480"/>
          </a:xfrm>
          <a:prstGeom prst="ellipse">
            <a:avLst/>
          </a:prstGeom>
          <a:solidFill>
            <a:srgbClr val="E6B85B"/>
          </a:solidFill>
          <a:ln/>
        </p:spPr>
      </p:sp>
      <p:sp>
        <p:nvSpPr>
          <p:cNvPr id="10" name="Text 8"/>
          <p:cNvSpPr/>
          <p:nvPr/>
        </p:nvSpPr>
        <p:spPr>
          <a:xfrm>
            <a:off x="2926080" y="141732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E1B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3429000" y="137160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6B8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Anchor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2926080" y="1920240"/>
            <a:ext cx="1920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EF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vehicle starts at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8EF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last locked stop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5120640" y="1280160"/>
            <a:ext cx="2194560" cy="1463040"/>
          </a:xfrm>
          <a:prstGeom prst="roundRect">
            <a:avLst>
              <a:gd name="adj" fmla="val 6250"/>
            </a:avLst>
          </a:prstGeom>
          <a:solidFill>
            <a:srgbClr val="233D5C"/>
          </a:solidFill>
          <a:ln w="19050">
            <a:solidFill>
              <a:srgbClr val="3FA88A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257800" y="1417320"/>
            <a:ext cx="411480" cy="411480"/>
          </a:xfrm>
          <a:prstGeom prst="ellipse">
            <a:avLst/>
          </a:prstGeom>
          <a:solidFill>
            <a:srgbClr val="3FA88A"/>
          </a:solidFill>
          <a:ln/>
        </p:spPr>
      </p:sp>
      <p:sp>
        <p:nvSpPr>
          <p:cNvPr id="15" name="Text 13"/>
          <p:cNvSpPr/>
          <p:nvPr/>
        </p:nvSpPr>
        <p:spPr>
          <a:xfrm>
            <a:off x="5257800" y="141732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E1B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5760720" y="137160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FA8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Solve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5257800" y="1920240"/>
            <a:ext cx="1920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EF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Small OR-Tools model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8EF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GLS budget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7452360" y="1280160"/>
            <a:ext cx="2194560" cy="1463040"/>
          </a:xfrm>
          <a:prstGeom prst="roundRect">
            <a:avLst>
              <a:gd name="adj" fmla="val 6250"/>
            </a:avLst>
          </a:prstGeom>
          <a:solidFill>
            <a:srgbClr val="233D5C"/>
          </a:solidFill>
          <a:ln w="19050">
            <a:solidFill>
              <a:srgbClr val="9B89E6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589520" y="1417320"/>
            <a:ext cx="411480" cy="411480"/>
          </a:xfrm>
          <a:prstGeom prst="ellipse">
            <a:avLst/>
          </a:prstGeom>
          <a:solidFill>
            <a:srgbClr val="9B89E6"/>
          </a:solidFill>
          <a:ln/>
        </p:spPr>
      </p:sp>
      <p:sp>
        <p:nvSpPr>
          <p:cNvPr id="20" name="Text 18"/>
          <p:cNvSpPr/>
          <p:nvPr/>
        </p:nvSpPr>
        <p:spPr>
          <a:xfrm>
            <a:off x="7589520" y="141732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E1B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8092440" y="137160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9B89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Merge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7589520" y="1920240"/>
            <a:ext cx="1920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EF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Locked verbatim +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8EF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from solver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9784080" y="1280160"/>
            <a:ext cx="2194560" cy="1463040"/>
          </a:xfrm>
          <a:prstGeom prst="roundRect">
            <a:avLst>
              <a:gd name="adj" fmla="val 6250"/>
            </a:avLst>
          </a:prstGeom>
          <a:solidFill>
            <a:srgbClr val="233D5C"/>
          </a:solidFill>
          <a:ln w="19050">
            <a:solidFill>
              <a:srgbClr val="7AC4A1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9921240" y="1417320"/>
            <a:ext cx="411480" cy="411480"/>
          </a:xfrm>
          <a:prstGeom prst="ellipse">
            <a:avLst/>
          </a:prstGeom>
          <a:solidFill>
            <a:srgbClr val="7AC4A1"/>
          </a:solidFill>
          <a:ln/>
        </p:spPr>
      </p:sp>
      <p:sp>
        <p:nvSpPr>
          <p:cNvPr id="25" name="Text 23"/>
          <p:cNvSpPr/>
          <p:nvPr/>
        </p:nvSpPr>
        <p:spPr>
          <a:xfrm>
            <a:off x="9921240" y="141732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E1B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10424160" y="137160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7AC4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Fallback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9921240" y="1920240"/>
            <a:ext cx="1920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EF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Greedy catch ·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8EF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 assignment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457200" y="3108960"/>
            <a:ext cx="11247120" cy="3200400"/>
          </a:xfrm>
          <a:prstGeom prst="roundRect">
            <a:avLst>
              <a:gd name="adj" fmla="val 1429"/>
            </a:avLst>
          </a:prstGeom>
          <a:solidFill>
            <a:srgbClr val="0A1626"/>
          </a:solidFill>
          <a:ln w="12700">
            <a:solidFill>
              <a:srgbClr val="1A2F4A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40080" y="3291840"/>
            <a:ext cx="1088136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79C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</a:t>
            </a:r>
            <a:pPr indent="0" marL="0">
              <a:buNone/>
            </a:pPr>
            <a:r>
              <a:rPr lang="en-US" sz="1300" dirty="0">
                <a:solidFill>
                  <a:srgbClr val="50FA7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_ortools_ea_solve_scenario</a:t>
            </a:r>
            <a:pPr indent="0" marL="0">
              <a:buNone/>
            </a:pPr>
            <a:r>
              <a:rPr lang="en-US" sz="1300" dirty="0">
                <a:solidFill>
                  <a:srgbClr val="E8EF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(scenario, orders, routes, locked_prefixes):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8EF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locked_ids = {oid for prefix in locked_prefixes.values() for oid in prefix.OrderId}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8EF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open_orders = orders[~orders.OrderId.isin(locked_ids)]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8EF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anchors = {r: _anchor_position(r, locked_prefixes[r]) for r in routes}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8EF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solution = ortools_solve(open_orders, routes, anchors, time_limit=45)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8EF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result = _merge_locked_with_solution(locked_prefixes, solution, anchors)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8EF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pPr indent="0" marL="0">
              <a:buNone/>
            </a:pPr>
            <a:r>
              <a:rPr lang="en-US" sz="1300" dirty="0">
                <a:solidFill>
                  <a:srgbClr val="FF79C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return</a:t>
            </a:r>
            <a:pPr indent="0" marL="0">
              <a:buNone/>
            </a:pPr>
            <a:r>
              <a:rPr lang="en-US" sz="1300" dirty="0">
                <a:solidFill>
                  <a:srgbClr val="E8EF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_greedy_catch_unassigned(result, open_orders)</a:t>
            </a:r>
            <a:endParaRPr lang="en-US" sz="13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E1B2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E8EF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Locked-Prefix Mechanism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5BA4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Determines which stops are stable and can be frozen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457200" y="1828800"/>
            <a:ext cx="5486400" cy="2194560"/>
          </a:xfrm>
          <a:prstGeom prst="roundRect">
            <a:avLst>
              <a:gd name="adj" fmla="val 4167"/>
            </a:avLst>
          </a:prstGeom>
          <a:solidFill>
            <a:srgbClr val="233D5C"/>
          </a:solidFill>
          <a:ln w="12700">
            <a:solidFill>
              <a:srgbClr val="5BA4E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1828800"/>
            <a:ext cx="73152" cy="2194560"/>
          </a:xfrm>
          <a:prstGeom prst="rect">
            <a:avLst/>
          </a:prstGeom>
          <a:solidFill>
            <a:srgbClr val="5BA4E6"/>
          </a:solidFill>
          <a:ln/>
        </p:spPr>
      </p:sp>
      <p:sp>
        <p:nvSpPr>
          <p:cNvPr id="6" name="Text 4"/>
          <p:cNvSpPr/>
          <p:nvPr/>
        </p:nvSpPr>
        <p:spPr>
          <a:xfrm>
            <a:off x="685800" y="196596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5BA4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Detection logic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685800" y="2377440"/>
            <a:ext cx="51206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8EF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changed_order_ids = baseline ⊕ scenario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8EF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impacted_routes = routes containing changes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8EF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fully_locked = routes with zero changes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8EF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partial_lock = stops up to first change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263640" y="1828800"/>
            <a:ext cx="5486400" cy="2194560"/>
          </a:xfrm>
          <a:prstGeom prst="roundRect">
            <a:avLst>
              <a:gd name="adj" fmla="val 4167"/>
            </a:avLst>
          </a:prstGeom>
          <a:solidFill>
            <a:srgbClr val="233D5C"/>
          </a:solidFill>
          <a:ln w="12700">
            <a:solidFill>
              <a:srgbClr val="E6B85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263640" y="1828800"/>
            <a:ext cx="73152" cy="2194560"/>
          </a:xfrm>
          <a:prstGeom prst="rect">
            <a:avLst/>
          </a:prstGeom>
          <a:solidFill>
            <a:srgbClr val="E6B85B"/>
          </a:solidFill>
          <a:ln/>
        </p:spPr>
      </p:sp>
      <p:sp>
        <p:nvSpPr>
          <p:cNvPr id="10" name="Text 8"/>
          <p:cNvSpPr/>
          <p:nvPr/>
        </p:nvSpPr>
        <p:spPr>
          <a:xfrm>
            <a:off x="6492240" y="196596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6B8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Special cases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6492240" y="2377440"/>
            <a:ext cx="51206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8EF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RT_1 (urgent inject) → unlock 2 nearest routes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8EF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RT_6 (sick technician) → drop route entirely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8EF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RT_7 (combined) → multi-route unlock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8EF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Default → preserve all stable stops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57200" y="4206240"/>
            <a:ext cx="11247120" cy="2286000"/>
          </a:xfrm>
          <a:prstGeom prst="roundRect">
            <a:avLst>
              <a:gd name="adj" fmla="val 2000"/>
            </a:avLst>
          </a:prstGeom>
          <a:solidFill>
            <a:srgbClr val="0A1626"/>
          </a:solidFill>
          <a:ln w="12700">
            <a:solidFill>
              <a:srgbClr val="1A2F4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0080" y="4343400"/>
            <a:ext cx="1088136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79C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</a:t>
            </a:r>
            <a:pPr indent="0" marL="0">
              <a:buNone/>
            </a:pPr>
            <a:r>
              <a:rPr lang="en-US" sz="1200" dirty="0">
                <a:solidFill>
                  <a:srgbClr val="50FA7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_prepare_locked_prefixes</a:t>
            </a:r>
            <a:pPr indent="0" marL="0">
              <a:buNone/>
            </a:pPr>
            <a:r>
              <a:rPr lang="en-US" sz="1200" dirty="0">
                <a:solidFill>
                  <a:srgbClr val="E8EF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(scenario_key, baseline, scenario_orders):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8EF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changed = _changed_order_ids(baseline.orders, scenario_orders)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8EF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impacted = {r for r in baseline.routes </a:t>
            </a:r>
            <a:pPr indent="0" marL="0">
              <a:buNone/>
            </a:pPr>
            <a:r>
              <a:rPr lang="en-US" sz="1200" dirty="0">
                <a:solidFill>
                  <a:srgbClr val="FF79C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</a:t>
            </a:r>
            <a:pPr indent="0" marL="0">
              <a:buNone/>
            </a:pPr>
            <a:r>
              <a:rPr lang="en-US" sz="1200" dirty="0">
                <a:solidFill>
                  <a:srgbClr val="E8EF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any(s.OrderId </a:t>
            </a:r>
            <a:pPr indent="0" marL="0">
              <a:buNone/>
            </a:pPr>
            <a:r>
              <a:rPr lang="en-US" sz="1200" dirty="0">
                <a:solidFill>
                  <a:srgbClr val="FF79C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</a:t>
            </a:r>
            <a:pPr indent="0" marL="0">
              <a:buNone/>
            </a:pPr>
            <a:r>
              <a:rPr lang="en-US" sz="1200" dirty="0">
                <a:solidFill>
                  <a:srgbClr val="E8EF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changed </a:t>
            </a:r>
            <a:pPr indent="0" marL="0">
              <a:buNone/>
            </a:pPr>
            <a:r>
              <a:rPr lang="en-US" sz="1200" dirty="0">
                <a:solidFill>
                  <a:srgbClr val="FF79C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</a:t>
            </a:r>
            <a:pPr indent="0" marL="0">
              <a:buNone/>
            </a:pPr>
            <a:r>
              <a:rPr lang="en-US" sz="1200" dirty="0">
                <a:solidFill>
                  <a:srgbClr val="E8EF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s </a:t>
            </a:r>
            <a:pPr indent="0" marL="0">
              <a:buNone/>
            </a:pPr>
            <a:r>
              <a:rPr lang="en-US" sz="1200" dirty="0">
                <a:solidFill>
                  <a:srgbClr val="FF79C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</a:t>
            </a:r>
            <a:pPr indent="0" marL="0">
              <a:buNone/>
            </a:pPr>
            <a:r>
              <a:rPr lang="en-US" sz="1200" dirty="0">
                <a:solidFill>
                  <a:srgbClr val="E8EF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r.stops)}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8EF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locked = {r.name: r.stops[:first_impact(r, changed)]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8EF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</a:t>
            </a:r>
            <a:pPr indent="0" marL="0">
              <a:buNone/>
            </a:pPr>
            <a:r>
              <a:rPr lang="en-US" sz="1200" dirty="0">
                <a:solidFill>
                  <a:srgbClr val="FF79C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</a:t>
            </a:r>
            <a:pPr indent="0" marL="0">
              <a:buNone/>
            </a:pPr>
            <a:r>
              <a:rPr lang="en-US" sz="1200" dirty="0">
                <a:solidFill>
                  <a:srgbClr val="E8EF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r.name </a:t>
            </a:r>
            <a:pPr indent="0" marL="0">
              <a:buNone/>
            </a:pPr>
            <a:r>
              <a:rPr lang="en-US" sz="1200" dirty="0">
                <a:solidFill>
                  <a:srgbClr val="FF79C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</a:t>
            </a:r>
            <a:pPr indent="0" marL="0">
              <a:buNone/>
            </a:pPr>
            <a:r>
              <a:rPr lang="en-US" sz="1200" dirty="0">
                <a:solidFill>
                  <a:srgbClr val="E8EF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impacted </a:t>
            </a:r>
            <a:pPr indent="0" marL="0">
              <a:buNone/>
            </a:pPr>
            <a:r>
              <a:rPr lang="en-US" sz="1200" dirty="0">
                <a:solidFill>
                  <a:srgbClr val="FF79C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else</a:t>
            </a:r>
            <a:pPr indent="0" marL="0">
              <a:buNone/>
            </a:pPr>
            <a:r>
              <a:rPr lang="en-US" sz="1200" dirty="0">
                <a:solidFill>
                  <a:srgbClr val="E8EF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r.stops 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8EF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</a:t>
            </a:r>
            <a:pPr indent="0" marL="0">
              <a:buNone/>
            </a:pPr>
            <a:r>
              <a:rPr lang="en-US" sz="1200" dirty="0">
                <a:solidFill>
                  <a:srgbClr val="FF79C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</a:t>
            </a:r>
            <a:pPr indent="0" marL="0">
              <a:buNone/>
            </a:pPr>
            <a:r>
              <a:rPr lang="en-US" sz="1200" dirty="0">
                <a:solidFill>
                  <a:srgbClr val="E8EF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r </a:t>
            </a:r>
            <a:pPr indent="0" marL="0">
              <a:buNone/>
            </a:pPr>
            <a:r>
              <a:rPr lang="en-US" sz="1200" dirty="0">
                <a:solidFill>
                  <a:srgbClr val="FF79C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</a:t>
            </a:r>
            <a:pPr indent="0" marL="0">
              <a:buNone/>
            </a:pPr>
            <a:r>
              <a:rPr lang="en-US" sz="1200" dirty="0">
                <a:solidFill>
                  <a:srgbClr val="E8EF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baseline.routes}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8EF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pPr indent="0" marL="0">
              <a:buNone/>
            </a:pPr>
            <a:r>
              <a:rPr lang="en-US" sz="1200" dirty="0">
                <a:solidFill>
                  <a:srgbClr val="FF79C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return</a:t>
            </a:r>
            <a:pPr indent="0" marL="0">
              <a:buNone/>
            </a:pPr>
            <a:r>
              <a:rPr lang="en-US" sz="1200" dirty="0">
                <a:solidFill>
                  <a:srgbClr val="E8EF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locked</a:t>
            </a:r>
            <a:endParaRPr lang="en-US" sz="12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E1B2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E8EF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18 Test Scenarios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1280160"/>
            <a:ext cx="5486400" cy="1371600"/>
          </a:xfrm>
          <a:prstGeom prst="roundRect">
            <a:avLst>
              <a:gd name="adj" fmla="val 6667"/>
            </a:avLst>
          </a:prstGeom>
          <a:solidFill>
            <a:srgbClr val="233D5C"/>
          </a:solidFill>
          <a:ln w="12700">
            <a:solidFill>
              <a:srgbClr val="3FA88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1280160"/>
            <a:ext cx="73152" cy="1371600"/>
          </a:xfrm>
          <a:prstGeom prst="rect">
            <a:avLst/>
          </a:prstGeom>
          <a:solidFill>
            <a:srgbClr val="3FA88A"/>
          </a:solidFill>
          <a:ln/>
        </p:spPr>
      </p:sp>
      <p:sp>
        <p:nvSpPr>
          <p:cNvPr id="5" name="Text 3"/>
          <p:cNvSpPr/>
          <p:nvPr/>
        </p:nvSpPr>
        <p:spPr>
          <a:xfrm>
            <a:off x="685800" y="141732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FA8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 ·  1 scenario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685800" y="1828800"/>
            <a:ext cx="5120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8EF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Baseline solve · no mutation applied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6263640" y="1280160"/>
            <a:ext cx="5486400" cy="1371600"/>
          </a:xfrm>
          <a:prstGeom prst="roundRect">
            <a:avLst>
              <a:gd name="adj" fmla="val 6667"/>
            </a:avLst>
          </a:prstGeom>
          <a:solidFill>
            <a:srgbClr val="233D5C"/>
          </a:solidFill>
          <a:ln w="12700">
            <a:solidFill>
              <a:srgbClr val="E6B85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263640" y="1280160"/>
            <a:ext cx="73152" cy="1371600"/>
          </a:xfrm>
          <a:prstGeom prst="rect">
            <a:avLst/>
          </a:prstGeom>
          <a:solidFill>
            <a:srgbClr val="E6B85B"/>
          </a:solidFill>
          <a:ln/>
        </p:spPr>
      </p:sp>
      <p:sp>
        <p:nvSpPr>
          <p:cNvPr id="9" name="Text 7"/>
          <p:cNvSpPr/>
          <p:nvPr/>
        </p:nvSpPr>
        <p:spPr>
          <a:xfrm>
            <a:off x="6492240" y="141732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6B8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EAS  ·  4 scenarios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6492240" y="1828800"/>
            <a:ext cx="5120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8EF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Execution-Aware: TimeWindow shift, ServiceTime change, Depot swap, Downstream cascade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57200" y="2834640"/>
            <a:ext cx="5486400" cy="3474720"/>
          </a:xfrm>
          <a:prstGeom prst="roundRect">
            <a:avLst>
              <a:gd name="adj" fmla="val 2632"/>
            </a:avLst>
          </a:prstGeom>
          <a:solidFill>
            <a:srgbClr val="233D5C"/>
          </a:solidFill>
          <a:ln w="12700">
            <a:solidFill>
              <a:srgbClr val="E68B6E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57200" y="2834640"/>
            <a:ext cx="73152" cy="3474720"/>
          </a:xfrm>
          <a:prstGeom prst="rect">
            <a:avLst/>
          </a:prstGeom>
          <a:solidFill>
            <a:srgbClr val="E68B6E"/>
          </a:solidFill>
          <a:ln/>
        </p:spPr>
      </p:sp>
      <p:sp>
        <p:nvSpPr>
          <p:cNvPr id="13" name="Text 11"/>
          <p:cNvSpPr/>
          <p:nvPr/>
        </p:nvSpPr>
        <p:spPr>
          <a:xfrm>
            <a:off x="685800" y="297180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68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RT  ·  7 scenarios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685800" y="3383280"/>
            <a:ext cx="512064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8EF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Scheduling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8EF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RT_1: Inject urgent order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8EF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RT_2: Cancellation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8EF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RT_3: ServiceTime ×1.35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8EF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RT_4: Shift delay +90min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8EF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RT_5: Window shrink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8EF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RT_6: Technician sick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8EF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RT_7: Combined real-time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6263640" y="2834640"/>
            <a:ext cx="5486400" cy="3474720"/>
          </a:xfrm>
          <a:prstGeom prst="roundRect">
            <a:avLst>
              <a:gd name="adj" fmla="val 2632"/>
            </a:avLst>
          </a:prstGeom>
          <a:solidFill>
            <a:srgbClr val="233D5C"/>
          </a:solidFill>
          <a:ln w="12700">
            <a:solidFill>
              <a:srgbClr val="9B89E6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263640" y="2834640"/>
            <a:ext cx="73152" cy="3474720"/>
          </a:xfrm>
          <a:prstGeom prst="rect">
            <a:avLst/>
          </a:prstGeom>
          <a:solidFill>
            <a:srgbClr val="9B89E6"/>
          </a:solidFill>
          <a:ln/>
        </p:spPr>
      </p:sp>
      <p:sp>
        <p:nvSpPr>
          <p:cNvPr id="17" name="Text 15"/>
          <p:cNvSpPr/>
          <p:nvPr/>
        </p:nvSpPr>
        <p:spPr>
          <a:xfrm>
            <a:off x="6492240" y="297180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9B89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GB  ·  6 scenarios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6492240" y="3383280"/>
            <a:ext cx="512064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8EF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Goal-Based Scheduling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8EF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GB_1: Minimize travel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8EF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GB_2: Prefer rated techs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8EF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GB_3: Prefer specialised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8EF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GB_4: Maximise SLA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8EF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GB_5: Reduce overtime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8EF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GB_6: Customer weights</a:t>
            </a:r>
            <a:endParaRPr lang="en-US" sz="12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E1B2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E8EF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Agentic AI Layer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5BA4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Powered by Google Gemini 2.0 Flash · free tier · 1,500 req/day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457200" y="1828800"/>
            <a:ext cx="5486400" cy="4389120"/>
          </a:xfrm>
          <a:prstGeom prst="roundRect">
            <a:avLst>
              <a:gd name="adj" fmla="val 2083"/>
            </a:avLst>
          </a:prstGeom>
          <a:solidFill>
            <a:srgbClr val="233D5C"/>
          </a:solidFill>
          <a:ln w="12700">
            <a:solidFill>
              <a:srgbClr val="5BA4E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1828800"/>
            <a:ext cx="73152" cy="4389120"/>
          </a:xfrm>
          <a:prstGeom prst="rect">
            <a:avLst/>
          </a:prstGeom>
          <a:solidFill>
            <a:srgbClr val="5BA4E6"/>
          </a:solidFill>
          <a:ln/>
        </p:spPr>
      </p:sp>
      <p:sp>
        <p:nvSpPr>
          <p:cNvPr id="6" name="Text 4"/>
          <p:cNvSpPr/>
          <p:nvPr/>
        </p:nvSpPr>
        <p:spPr>
          <a:xfrm>
            <a:off x="685800" y="196596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5BA4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VRPOrchestrator class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685800" y="2377440"/>
            <a:ext cx="5120640" cy="3749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8EF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Wraps Gemini with function-calling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8EF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8 callable tools (JSON Schema → FunctionDeclaration)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8EF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4 distinct agentic behaviors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8EF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Max 10 iterations per query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8EF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Stateful chat session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8EF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Tool calls log for full audit trail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8EF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Manual loop (not automatic_function_calling)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263640" y="1828800"/>
            <a:ext cx="5486400" cy="4389120"/>
          </a:xfrm>
          <a:prstGeom prst="roundRect">
            <a:avLst>
              <a:gd name="adj" fmla="val 2083"/>
            </a:avLst>
          </a:prstGeom>
          <a:solidFill>
            <a:srgbClr val="233D5C"/>
          </a:solidFill>
          <a:ln w="12700">
            <a:solidFill>
              <a:srgbClr val="7AC4A1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263640" y="1828800"/>
            <a:ext cx="73152" cy="4389120"/>
          </a:xfrm>
          <a:prstGeom prst="rect">
            <a:avLst/>
          </a:prstGeom>
          <a:solidFill>
            <a:srgbClr val="7AC4A1"/>
          </a:solidFill>
          <a:ln/>
        </p:spPr>
      </p:sp>
      <p:sp>
        <p:nvSpPr>
          <p:cNvPr id="10" name="Text 8"/>
          <p:cNvSpPr/>
          <p:nvPr/>
        </p:nvSpPr>
        <p:spPr>
          <a:xfrm>
            <a:off x="6492240" y="196596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7AC4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agentic, not just chat?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6492240" y="2377440"/>
            <a:ext cx="5120640" cy="3749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8EF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Detects violations autonomously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8EF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Picks config without human input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8EF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Re-runs solver, compares results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8EF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Chains multiple tool calls in one turn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8EF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No 'ask permission' loops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8EF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Real-time event handling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8EF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Self-correcting under disruption</a:t>
            </a:r>
            <a:endParaRPr lang="en-US" sz="12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E1B2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E8EF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Agent Tools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1280160"/>
            <a:ext cx="3657600" cy="4114800"/>
          </a:xfrm>
          <a:prstGeom prst="roundRect">
            <a:avLst>
              <a:gd name="adj" fmla="val 2500"/>
            </a:avLst>
          </a:prstGeom>
          <a:solidFill>
            <a:srgbClr val="233D5C"/>
          </a:solidFill>
          <a:ln w="12700">
            <a:solidFill>
              <a:srgbClr val="5BA4E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1280160"/>
            <a:ext cx="73152" cy="4114800"/>
          </a:xfrm>
          <a:prstGeom prst="rect">
            <a:avLst/>
          </a:prstGeom>
          <a:solidFill>
            <a:srgbClr val="5BA4E6"/>
          </a:solidFill>
          <a:ln/>
        </p:spPr>
      </p:sp>
      <p:sp>
        <p:nvSpPr>
          <p:cNvPr id="5" name="Text 3"/>
          <p:cNvSpPr/>
          <p:nvPr/>
        </p:nvSpPr>
        <p:spPr>
          <a:xfrm>
            <a:off x="685800" y="141732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5BA4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Discovery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685800" y="1828800"/>
            <a:ext cx="329184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8EF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get_scenario_list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8EF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Returns all 18 scenarios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8EF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explain_scenario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8EF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What does this scenario test?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251960" y="1280160"/>
            <a:ext cx="3657600" cy="4114800"/>
          </a:xfrm>
          <a:prstGeom prst="roundRect">
            <a:avLst>
              <a:gd name="adj" fmla="val 2500"/>
            </a:avLst>
          </a:prstGeom>
          <a:solidFill>
            <a:srgbClr val="233D5C"/>
          </a:solidFill>
          <a:ln w="12700">
            <a:solidFill>
              <a:srgbClr val="E6B85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251960" y="1280160"/>
            <a:ext cx="73152" cy="4114800"/>
          </a:xfrm>
          <a:prstGeom prst="rect">
            <a:avLst/>
          </a:prstGeom>
          <a:solidFill>
            <a:srgbClr val="E6B85B"/>
          </a:solidFill>
          <a:ln/>
        </p:spPr>
      </p:sp>
      <p:sp>
        <p:nvSpPr>
          <p:cNvPr id="9" name="Text 7"/>
          <p:cNvSpPr/>
          <p:nvPr/>
        </p:nvSpPr>
        <p:spPr>
          <a:xfrm>
            <a:off x="4480560" y="141732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6B8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Analysis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4480560" y="1828800"/>
            <a:ext cx="329184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8EF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analyze_results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8EF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Summary metrics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8EF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detect_violations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8EF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Late routes + overtime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8EF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compare_backends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8EF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Ranked + winner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8046720" y="1280160"/>
            <a:ext cx="3657600" cy="4114800"/>
          </a:xfrm>
          <a:prstGeom prst="roundRect">
            <a:avLst>
              <a:gd name="adj" fmla="val 2500"/>
            </a:avLst>
          </a:prstGeom>
          <a:solidFill>
            <a:srgbClr val="233D5C"/>
          </a:solidFill>
          <a:ln w="12700">
            <a:solidFill>
              <a:srgbClr val="7AC4A1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8046720" y="1280160"/>
            <a:ext cx="73152" cy="4114800"/>
          </a:xfrm>
          <a:prstGeom prst="rect">
            <a:avLst/>
          </a:prstGeom>
          <a:solidFill>
            <a:srgbClr val="7AC4A1"/>
          </a:solidFill>
          <a:ln/>
        </p:spPr>
      </p:sp>
      <p:sp>
        <p:nvSpPr>
          <p:cNvPr id="13" name="Text 11"/>
          <p:cNvSpPr/>
          <p:nvPr/>
        </p:nvSpPr>
        <p:spPr>
          <a:xfrm>
            <a:off x="8275320" y="141732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7AC4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8275320" y="1828800"/>
            <a:ext cx="329184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8EF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suggest_config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8EF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Recommend overrides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8EF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run_backend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8EF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Live solve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8EF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trigger_reoptimization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8EF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Re-run + diff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57200" y="5577840"/>
            <a:ext cx="11247120" cy="914400"/>
          </a:xfrm>
          <a:prstGeom prst="roundRect">
            <a:avLst>
              <a:gd name="adj" fmla="val 5000"/>
            </a:avLst>
          </a:prstGeom>
          <a:solidFill>
            <a:srgbClr val="0A1626"/>
          </a:solidFill>
          <a:ln w="12700">
            <a:solidFill>
              <a:srgbClr val="1A2F4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40080" y="5715000"/>
            <a:ext cx="10881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i="1" dirty="0">
                <a:solidFill>
                  <a:srgbClr val="E6B85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System prompt:</a:t>
            </a:r>
            <a:pPr indent="0" marL="0">
              <a:buNone/>
            </a:pPr>
            <a:r>
              <a:rPr lang="en-US" sz="1200" i="1" dirty="0">
                <a:solidFill>
                  <a:srgbClr val="E8EF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'For violation complaints: call detect_violations, then trigger_reoptimization. Chain tool calls — do NOT ask user for permission between calls.'</a:t>
            </a:r>
            <a:endParaRPr lang="en-US" sz="12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E1B2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E8EF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Agentic Behaviors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1280160"/>
            <a:ext cx="5486400" cy="2377440"/>
          </a:xfrm>
          <a:prstGeom prst="roundRect">
            <a:avLst>
              <a:gd name="adj" fmla="val 3846"/>
            </a:avLst>
          </a:prstGeom>
          <a:solidFill>
            <a:srgbClr val="233D5C"/>
          </a:solidFill>
          <a:ln w="12700">
            <a:solidFill>
              <a:srgbClr val="5BA4E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1280160"/>
            <a:ext cx="73152" cy="2377440"/>
          </a:xfrm>
          <a:prstGeom prst="rect">
            <a:avLst/>
          </a:prstGeom>
          <a:solidFill>
            <a:srgbClr val="5BA4E6"/>
          </a:solidFill>
          <a:ln/>
        </p:spPr>
      </p:sp>
      <p:sp>
        <p:nvSpPr>
          <p:cNvPr id="5" name="Text 3"/>
          <p:cNvSpPr/>
          <p:nvPr/>
        </p:nvSpPr>
        <p:spPr>
          <a:xfrm>
            <a:off x="685800" y="141732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5BA4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· Natural language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685800" y="1828800"/>
            <a:ext cx="51206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8EF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User: 'Which backend for SLA?'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8EF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compare_backends → ranked answer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8EF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analyze_results on top backend → explain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6263640" y="1280160"/>
            <a:ext cx="5486400" cy="2377440"/>
          </a:xfrm>
          <a:prstGeom prst="roundRect">
            <a:avLst>
              <a:gd name="adj" fmla="val 3846"/>
            </a:avLst>
          </a:prstGeom>
          <a:solidFill>
            <a:srgbClr val="233D5C"/>
          </a:solidFill>
          <a:ln w="12700">
            <a:solidFill>
              <a:srgbClr val="E6B85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263640" y="1280160"/>
            <a:ext cx="73152" cy="2377440"/>
          </a:xfrm>
          <a:prstGeom prst="rect">
            <a:avLst/>
          </a:prstGeom>
          <a:solidFill>
            <a:srgbClr val="E6B85B"/>
          </a:solidFill>
          <a:ln/>
        </p:spPr>
      </p:sp>
      <p:sp>
        <p:nvSpPr>
          <p:cNvPr id="9" name="Text 7"/>
          <p:cNvSpPr/>
          <p:nvPr/>
        </p:nvSpPr>
        <p:spPr>
          <a:xfrm>
            <a:off x="6492240" y="141732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6B8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· Autonomous re-optimization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6492240" y="1828800"/>
            <a:ext cx="51206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8EF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User: 'Fix violations in Greedy'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8EF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detect_violations → suggest_config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8EF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trigger_reoptimization → before/after diff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57200" y="3840480"/>
            <a:ext cx="5486400" cy="2377440"/>
          </a:xfrm>
          <a:prstGeom prst="roundRect">
            <a:avLst>
              <a:gd name="adj" fmla="val 3846"/>
            </a:avLst>
          </a:prstGeom>
          <a:solidFill>
            <a:srgbClr val="233D5C"/>
          </a:solidFill>
          <a:ln w="12700">
            <a:solidFill>
              <a:srgbClr val="9B89E6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57200" y="3840480"/>
            <a:ext cx="73152" cy="2377440"/>
          </a:xfrm>
          <a:prstGeom prst="rect">
            <a:avLst/>
          </a:prstGeom>
          <a:solidFill>
            <a:srgbClr val="9B89E6"/>
          </a:solidFill>
          <a:ln/>
        </p:spPr>
      </p:sp>
      <p:sp>
        <p:nvSpPr>
          <p:cNvPr id="13" name="Text 11"/>
          <p:cNvSpPr/>
          <p:nvPr/>
        </p:nvSpPr>
        <p:spPr>
          <a:xfrm>
            <a:off x="685800" y="397764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9B89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· Multi-step reasoning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685800" y="4389120"/>
            <a:ext cx="51206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8EF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User: 'Run A and B, which is better?'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8EF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run_backend(A) → run_backend(B)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8EF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compare_backends → ranked comparison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6263640" y="3840480"/>
            <a:ext cx="5486400" cy="2377440"/>
          </a:xfrm>
          <a:prstGeom prst="roundRect">
            <a:avLst>
              <a:gd name="adj" fmla="val 3846"/>
            </a:avLst>
          </a:prstGeom>
          <a:solidFill>
            <a:srgbClr val="233D5C"/>
          </a:solidFill>
          <a:ln w="12700">
            <a:solidFill>
              <a:srgbClr val="E68B6E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263640" y="3840480"/>
            <a:ext cx="73152" cy="2377440"/>
          </a:xfrm>
          <a:prstGeom prst="rect">
            <a:avLst/>
          </a:prstGeom>
          <a:solidFill>
            <a:srgbClr val="E68B6E"/>
          </a:solidFill>
          <a:ln/>
        </p:spPr>
      </p:sp>
      <p:sp>
        <p:nvSpPr>
          <p:cNvPr id="17" name="Text 15"/>
          <p:cNvSpPr/>
          <p:nvPr/>
        </p:nvSpPr>
        <p:spPr>
          <a:xfrm>
            <a:off x="6492240" y="397764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68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· Real-time reactive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6492240" y="4389120"/>
            <a:ext cx="51206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8EF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Button: 'Driver sick (RT_6)'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8EF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explain_scenario → run_backend(OR-Tools EA)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8EF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analyze_results → recommend re-routing</a:t>
            </a:r>
            <a:endParaRPr lang="en-US" sz="12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0E1B2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E8EF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Agent Loop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1280160"/>
            <a:ext cx="11247120" cy="5212080"/>
          </a:xfrm>
          <a:prstGeom prst="roundRect">
            <a:avLst>
              <a:gd name="adj" fmla="val 877"/>
            </a:avLst>
          </a:prstGeom>
          <a:solidFill>
            <a:srgbClr val="0A1626"/>
          </a:solidFill>
          <a:ln w="12700">
            <a:solidFill>
              <a:srgbClr val="1A2F4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1417320"/>
            <a:ext cx="10881360" cy="4937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79C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</a:t>
            </a:r>
            <a:pPr indent="0" marL="0">
              <a:buNone/>
            </a:pPr>
            <a:r>
              <a:rPr lang="en-US" sz="1300" dirty="0">
                <a:solidFill>
                  <a:srgbClr val="50FA7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_run_agent_loop</a:t>
            </a:r>
            <a:pPr indent="0" marL="0">
              <a:buNone/>
            </a:pPr>
            <a:r>
              <a:rPr lang="en-US" sz="1300" dirty="0">
                <a:solidFill>
                  <a:srgbClr val="E8EF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(self, user_message: str) -&gt; str: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8EF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max_iterations = 10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8EF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current_message = user_message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8EF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while iteration &lt; max_iterations: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8EF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response = self._chat_session.send_message(current_message)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i="1" dirty="0">
                <a:solidFill>
                  <a:srgbClr val="6272A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# Collect function calls from response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8EF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fn_calls = [p.function_call for c in response.candidates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8EF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   for p in c.content.parts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8EF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   if hasattr(p, </a:t>
            </a:r>
            <a:pPr indent="0" marL="0">
              <a:buNone/>
            </a:pPr>
            <a:r>
              <a:rPr lang="en-US" sz="1300" dirty="0">
                <a:solidFill>
                  <a:srgbClr val="F1FA8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'function_call'</a:t>
            </a:r>
            <a:pPr indent="0" marL="0">
              <a:buNone/>
            </a:pPr>
            <a:r>
              <a:rPr lang="en-US" sz="1300" dirty="0">
                <a:solidFill>
                  <a:srgbClr val="E8EF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 and p.function_call.name]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8EF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if not fn_calls:  # Pure text — agent done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8EF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return extract_text(response)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i="1" dirty="0">
                <a:solidFill>
                  <a:srgbClr val="6272A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# Execute tools and feed results back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8EF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for fn_call in fn_calls: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8EF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result = self._dispatch_tool(fn_call.name, dict(fn_call.args))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8EF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self._tool_calls_log.append({</a:t>
            </a:r>
            <a:pPr indent="0" marL="0">
              <a:buNone/>
            </a:pPr>
            <a:r>
              <a:rPr lang="en-US" sz="1300" dirty="0">
                <a:solidFill>
                  <a:srgbClr val="F1FA8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'tool'</a:t>
            </a:r>
            <a:pPr indent="0" marL="0">
              <a:buNone/>
            </a:pPr>
            <a:r>
              <a:rPr lang="en-US" sz="1300" dirty="0">
                <a:solidFill>
                  <a:srgbClr val="E8EF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 fn_call.name, </a:t>
            </a:r>
            <a:pPr indent="0" marL="0">
              <a:buNone/>
            </a:pPr>
            <a:r>
              <a:rPr lang="en-US" sz="1300" dirty="0">
                <a:solidFill>
                  <a:srgbClr val="F1FA8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'result'</a:t>
            </a:r>
            <a:pPr indent="0" marL="0">
              <a:buNone/>
            </a:pPr>
            <a:r>
              <a:rPr lang="en-US" sz="1300" dirty="0">
                <a:solidFill>
                  <a:srgbClr val="E8EF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 result})</a:t>
            </a:r>
            <a:endParaRPr lang="en-US" sz="13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0E1B2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E8EF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Architecture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5BA4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8,140 lines across 4 source files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457200" y="1554480"/>
            <a:ext cx="5486400" cy="1097280"/>
          </a:xfrm>
          <a:prstGeom prst="roundRect">
            <a:avLst>
              <a:gd name="adj" fmla="val 8333"/>
            </a:avLst>
          </a:prstGeom>
          <a:solidFill>
            <a:srgbClr val="233D5C"/>
          </a:solidFill>
          <a:ln w="12700">
            <a:solidFill>
              <a:srgbClr val="5BA4E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1554480"/>
            <a:ext cx="73152" cy="1097280"/>
          </a:xfrm>
          <a:prstGeom prst="rect">
            <a:avLst/>
          </a:prstGeom>
          <a:solidFill>
            <a:srgbClr val="5BA4E6"/>
          </a:solidFill>
          <a:ln/>
        </p:spPr>
      </p:sp>
      <p:sp>
        <p:nvSpPr>
          <p:cNvPr id="6" name="Text 4"/>
          <p:cNvSpPr/>
          <p:nvPr/>
        </p:nvSpPr>
        <p:spPr>
          <a:xfrm>
            <a:off x="685800" y="169164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5BA4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UI Layer · app.py  (845 lines)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685800" y="2103120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8EF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Streamlit · 6 tabs · sidebar config · auto-load · session state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57200" y="2743200"/>
            <a:ext cx="5486400" cy="1097280"/>
          </a:xfrm>
          <a:prstGeom prst="roundRect">
            <a:avLst>
              <a:gd name="adj" fmla="val 8333"/>
            </a:avLst>
          </a:prstGeom>
          <a:solidFill>
            <a:srgbClr val="233D5C"/>
          </a:solidFill>
          <a:ln w="12700">
            <a:solidFill>
              <a:srgbClr val="3FA88A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57200" y="2743200"/>
            <a:ext cx="73152" cy="1097280"/>
          </a:xfrm>
          <a:prstGeom prst="rect">
            <a:avLst/>
          </a:prstGeom>
          <a:solidFill>
            <a:srgbClr val="3FA88A"/>
          </a:solidFill>
          <a:ln/>
        </p:spPr>
      </p:sp>
      <p:sp>
        <p:nvSpPr>
          <p:cNvPr id="10" name="Text 8"/>
          <p:cNvSpPr/>
          <p:nvPr/>
        </p:nvSpPr>
        <p:spPr>
          <a:xfrm>
            <a:off x="685800" y="288036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FA8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Domain Layer · base_engine.py  (933 lines)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685800" y="3291840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8EF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agents · scenario engine · haversine · Folium maps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57200" y="3931920"/>
            <a:ext cx="5486400" cy="1097280"/>
          </a:xfrm>
          <a:prstGeom prst="roundRect">
            <a:avLst>
              <a:gd name="adj" fmla="val 8333"/>
            </a:avLst>
          </a:prstGeom>
          <a:solidFill>
            <a:srgbClr val="233D5C"/>
          </a:solidFill>
          <a:ln w="12700">
            <a:solidFill>
              <a:srgbClr val="E6B85B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57200" y="3931920"/>
            <a:ext cx="73152" cy="1097280"/>
          </a:xfrm>
          <a:prstGeom prst="rect">
            <a:avLst/>
          </a:prstGeom>
          <a:solidFill>
            <a:srgbClr val="E6B85B"/>
          </a:solidFill>
          <a:ln/>
        </p:spPr>
      </p:sp>
      <p:sp>
        <p:nvSpPr>
          <p:cNvPr id="14" name="Text 12"/>
          <p:cNvSpPr/>
          <p:nvPr/>
        </p:nvSpPr>
        <p:spPr>
          <a:xfrm>
            <a:off x="685800" y="406908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6B8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Solver Layer · compare_backends.py  (5,438 lines)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685800" y="4480560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8EF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backends · locked-prefix · OR-Tools EA · Excel export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57200" y="5120640"/>
            <a:ext cx="5486400" cy="1097280"/>
          </a:xfrm>
          <a:prstGeom prst="roundRect">
            <a:avLst>
              <a:gd name="adj" fmla="val 8333"/>
            </a:avLst>
          </a:prstGeom>
          <a:solidFill>
            <a:srgbClr val="233D5C"/>
          </a:solidFill>
          <a:ln w="12700">
            <a:solidFill>
              <a:srgbClr val="9B89E6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57200" y="5120640"/>
            <a:ext cx="73152" cy="1097280"/>
          </a:xfrm>
          <a:prstGeom prst="rect">
            <a:avLst/>
          </a:prstGeom>
          <a:solidFill>
            <a:srgbClr val="9B89E6"/>
          </a:solidFill>
          <a:ln/>
        </p:spPr>
      </p:sp>
      <p:sp>
        <p:nvSpPr>
          <p:cNvPr id="18" name="Text 16"/>
          <p:cNvSpPr/>
          <p:nvPr/>
        </p:nvSpPr>
        <p:spPr>
          <a:xfrm>
            <a:off x="685800" y="525780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9B89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Layer · vrp_agent.py  (960 lines)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685800" y="5669280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8EF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Gemini · 8 tools · agentic loop · system prompt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6263640" y="137160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7AC4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domain agents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6263640" y="1783080"/>
            <a:ext cx="5486400" cy="777240"/>
          </a:xfrm>
          <a:prstGeom prst="roundRect">
            <a:avLst>
              <a:gd name="adj" fmla="val 9412"/>
            </a:avLst>
          </a:prstGeom>
          <a:solidFill>
            <a:srgbClr val="233D5C"/>
          </a:solidFill>
          <a:ln w="12700">
            <a:solidFill>
              <a:srgbClr val="5BA4E6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263640" y="1783080"/>
            <a:ext cx="54864" cy="777240"/>
          </a:xfrm>
          <a:prstGeom prst="rect">
            <a:avLst/>
          </a:prstGeom>
          <a:solidFill>
            <a:srgbClr val="5BA4E6"/>
          </a:solidFill>
          <a:ln/>
        </p:spPr>
      </p:sp>
      <p:sp>
        <p:nvSpPr>
          <p:cNvPr id="23" name="Text 21"/>
          <p:cNvSpPr/>
          <p:nvPr/>
        </p:nvSpPr>
        <p:spPr>
          <a:xfrm>
            <a:off x="6400800" y="1874520"/>
            <a:ext cx="5303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BA4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IntakeAgent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6400800" y="2194560"/>
            <a:ext cx="5303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EF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6263640" y="2697480"/>
            <a:ext cx="5486400" cy="777240"/>
          </a:xfrm>
          <a:prstGeom prst="roundRect">
            <a:avLst>
              <a:gd name="adj" fmla="val 9412"/>
            </a:avLst>
          </a:prstGeom>
          <a:solidFill>
            <a:srgbClr val="233D5C"/>
          </a:solidFill>
          <a:ln w="12700">
            <a:solidFill>
              <a:srgbClr val="3FA88A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263640" y="2697480"/>
            <a:ext cx="54864" cy="777240"/>
          </a:xfrm>
          <a:prstGeom prst="rect">
            <a:avLst/>
          </a:prstGeom>
          <a:solidFill>
            <a:srgbClr val="3FA88A"/>
          </a:solidFill>
          <a:ln/>
        </p:spPr>
      </p:sp>
      <p:sp>
        <p:nvSpPr>
          <p:cNvPr id="27" name="Text 25"/>
          <p:cNvSpPr/>
          <p:nvPr/>
        </p:nvSpPr>
        <p:spPr>
          <a:xfrm>
            <a:off x="6400800" y="2788920"/>
            <a:ext cx="5303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FA8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PolicyAgent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6400800" y="3108960"/>
            <a:ext cx="5303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EF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weights per goal profile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6263640" y="3611880"/>
            <a:ext cx="5486400" cy="777240"/>
          </a:xfrm>
          <a:prstGeom prst="roundRect">
            <a:avLst>
              <a:gd name="adj" fmla="val 9412"/>
            </a:avLst>
          </a:prstGeom>
          <a:solidFill>
            <a:srgbClr val="233D5C"/>
          </a:solidFill>
          <a:ln w="12700">
            <a:solidFill>
              <a:srgbClr val="E6B85B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6263640" y="3611880"/>
            <a:ext cx="54864" cy="777240"/>
          </a:xfrm>
          <a:prstGeom prst="rect">
            <a:avLst/>
          </a:prstGeom>
          <a:solidFill>
            <a:srgbClr val="E6B85B"/>
          </a:solidFill>
          <a:ln/>
        </p:spPr>
      </p:sp>
      <p:sp>
        <p:nvSpPr>
          <p:cNvPr id="31" name="Text 29"/>
          <p:cNvSpPr/>
          <p:nvPr/>
        </p:nvSpPr>
        <p:spPr>
          <a:xfrm>
            <a:off x="6400800" y="3703320"/>
            <a:ext cx="5303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6B8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AssignmentAgent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6400800" y="4023360"/>
            <a:ext cx="5303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EF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greedy + 2-opt scoring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6263640" y="4526280"/>
            <a:ext cx="5486400" cy="777240"/>
          </a:xfrm>
          <a:prstGeom prst="roundRect">
            <a:avLst>
              <a:gd name="adj" fmla="val 9412"/>
            </a:avLst>
          </a:prstGeom>
          <a:solidFill>
            <a:srgbClr val="233D5C"/>
          </a:solidFill>
          <a:ln w="12700">
            <a:solidFill>
              <a:srgbClr val="E68B6E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6263640" y="4526280"/>
            <a:ext cx="54864" cy="777240"/>
          </a:xfrm>
          <a:prstGeom prst="rect">
            <a:avLst/>
          </a:prstGeom>
          <a:solidFill>
            <a:srgbClr val="E68B6E"/>
          </a:solidFill>
          <a:ln/>
        </p:spPr>
      </p:sp>
      <p:sp>
        <p:nvSpPr>
          <p:cNvPr id="35" name="Text 33"/>
          <p:cNvSpPr/>
          <p:nvPr/>
        </p:nvSpPr>
        <p:spPr>
          <a:xfrm>
            <a:off x="6400800" y="4617720"/>
            <a:ext cx="5303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68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ScenarioAgent</a:t>
            </a:r>
            <a:endParaRPr lang="en-US" sz="1400" dirty="0"/>
          </a:p>
        </p:txBody>
      </p:sp>
      <p:sp>
        <p:nvSpPr>
          <p:cNvPr id="36" name="Text 34"/>
          <p:cNvSpPr/>
          <p:nvPr/>
        </p:nvSpPr>
        <p:spPr>
          <a:xfrm>
            <a:off x="6400800" y="4937760"/>
            <a:ext cx="5303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EF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 mutations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6263640" y="5440680"/>
            <a:ext cx="5486400" cy="777240"/>
          </a:xfrm>
          <a:prstGeom prst="roundRect">
            <a:avLst>
              <a:gd name="adj" fmla="val 9412"/>
            </a:avLst>
          </a:prstGeom>
          <a:solidFill>
            <a:srgbClr val="233D5C"/>
          </a:solidFill>
          <a:ln w="12700">
            <a:solidFill>
              <a:srgbClr val="9B89E6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6263640" y="5440680"/>
            <a:ext cx="54864" cy="777240"/>
          </a:xfrm>
          <a:prstGeom prst="rect">
            <a:avLst/>
          </a:prstGeom>
          <a:solidFill>
            <a:srgbClr val="9B89E6"/>
          </a:solidFill>
          <a:ln/>
        </p:spPr>
      </p:sp>
      <p:sp>
        <p:nvSpPr>
          <p:cNvPr id="39" name="Text 37"/>
          <p:cNvSpPr/>
          <p:nvPr/>
        </p:nvSpPr>
        <p:spPr>
          <a:xfrm>
            <a:off x="6400800" y="5532120"/>
            <a:ext cx="5303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9B89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ExplainAgent</a:t>
            </a:r>
            <a:endParaRPr lang="en-US" sz="1400" dirty="0"/>
          </a:p>
        </p:txBody>
      </p:sp>
      <p:sp>
        <p:nvSpPr>
          <p:cNvPr id="40" name="Text 38"/>
          <p:cNvSpPr/>
          <p:nvPr/>
        </p:nvSpPr>
        <p:spPr>
          <a:xfrm>
            <a:off x="6400800" y="5852160"/>
            <a:ext cx="5303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EF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human-readable actions</a:t>
            </a:r>
            <a:endParaRPr lang="en-US" sz="11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0E1B2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E8EF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 Data Model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5BA4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CSV files · 40,000 orders · 400 routes · 8 depots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457200" y="1463040"/>
            <a:ext cx="3200400" cy="457200"/>
          </a:xfrm>
          <a:prstGeom prst="rect">
            <a:avLst/>
          </a:prstGeom>
          <a:solidFill>
            <a:srgbClr val="1A2F4A"/>
          </a:solidFill>
          <a:ln w="12700">
            <a:solidFill>
              <a:srgbClr val="0E1B2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46304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5BA4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657600" y="1463040"/>
            <a:ext cx="1371600" cy="457200"/>
          </a:xfrm>
          <a:prstGeom prst="rect">
            <a:avLst/>
          </a:prstGeom>
          <a:solidFill>
            <a:srgbClr val="1A2F4A"/>
          </a:solidFill>
          <a:ln w="12700">
            <a:solidFill>
              <a:srgbClr val="0E1B2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0" y="146304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5BA4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Rows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029200" y="1463040"/>
            <a:ext cx="6675120" cy="457200"/>
          </a:xfrm>
          <a:prstGeom prst="rect">
            <a:avLst/>
          </a:prstGeom>
          <a:solidFill>
            <a:srgbClr val="1A2F4A"/>
          </a:solidFill>
          <a:ln w="12700">
            <a:solidFill>
              <a:srgbClr val="0E1B2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029200" y="1463040"/>
            <a:ext cx="6675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5BA4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Columns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57200" y="1920240"/>
            <a:ext cx="3200400" cy="548640"/>
          </a:xfrm>
          <a:prstGeom prst="rect">
            <a:avLst/>
          </a:prstGeom>
          <a:solidFill>
            <a:srgbClr val="233D5C"/>
          </a:solidFill>
          <a:ln w="6350">
            <a:solidFill>
              <a:srgbClr val="1A2F4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94360" y="1920240"/>
            <a:ext cx="2926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6B85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orders_40000.csv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657600" y="1920240"/>
            <a:ext cx="1371600" cy="548640"/>
          </a:xfrm>
          <a:prstGeom prst="rect">
            <a:avLst/>
          </a:prstGeom>
          <a:solidFill>
            <a:srgbClr val="233D5C"/>
          </a:solidFill>
          <a:ln w="6350">
            <a:solidFill>
              <a:srgbClr val="1A2F4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794760" y="1920240"/>
            <a:ext cx="1097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EF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40,000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029200" y="1920240"/>
            <a:ext cx="6675120" cy="548640"/>
          </a:xfrm>
          <a:prstGeom prst="rect">
            <a:avLst/>
          </a:prstGeom>
          <a:solidFill>
            <a:srgbClr val="233D5C"/>
          </a:solidFill>
          <a:ln w="6350">
            <a:solidFill>
              <a:srgbClr val="1A2F4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166360" y="1920240"/>
            <a:ext cx="6400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EF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Latitude, Longitude, ServiceTime, TimeWindow, Priority, SLAFlag, AccountId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57200" y="2468880"/>
            <a:ext cx="3200400" cy="548640"/>
          </a:xfrm>
          <a:prstGeom prst="rect">
            <a:avLst/>
          </a:prstGeom>
          <a:solidFill>
            <a:srgbClr val="233D5C"/>
          </a:solidFill>
          <a:ln w="6350">
            <a:solidFill>
              <a:srgbClr val="1A2F4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94360" y="2468880"/>
            <a:ext cx="2926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6B85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routes_400.csv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657600" y="2468880"/>
            <a:ext cx="1371600" cy="548640"/>
          </a:xfrm>
          <a:prstGeom prst="rect">
            <a:avLst/>
          </a:prstGeom>
          <a:solidFill>
            <a:srgbClr val="233D5C"/>
          </a:solidFill>
          <a:ln w="6350">
            <a:solidFill>
              <a:srgbClr val="1A2F4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794760" y="2468880"/>
            <a:ext cx="1097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EF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400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5029200" y="2468880"/>
            <a:ext cx="6675120" cy="548640"/>
          </a:xfrm>
          <a:prstGeom prst="rect">
            <a:avLst/>
          </a:prstGeom>
          <a:solidFill>
            <a:srgbClr val="233D5C"/>
          </a:solidFill>
          <a:ln w="6350">
            <a:solidFill>
              <a:srgbClr val="1A2F4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166360" y="2468880"/>
            <a:ext cx="6400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EF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StartDepotName, EarliestStartTime, MaxOrderCount, OvertimeStartTime, TechnicianRating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457200" y="3017520"/>
            <a:ext cx="3200400" cy="548640"/>
          </a:xfrm>
          <a:prstGeom prst="rect">
            <a:avLst/>
          </a:prstGeom>
          <a:solidFill>
            <a:srgbClr val="233D5C"/>
          </a:solidFill>
          <a:ln w="6350">
            <a:solidFill>
              <a:srgbClr val="1A2F4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94360" y="3017520"/>
            <a:ext cx="2926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6B85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depots_8.csv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3657600" y="3017520"/>
            <a:ext cx="1371600" cy="548640"/>
          </a:xfrm>
          <a:prstGeom prst="rect">
            <a:avLst/>
          </a:prstGeom>
          <a:solidFill>
            <a:srgbClr val="233D5C"/>
          </a:solidFill>
          <a:ln w="6350">
            <a:solidFill>
              <a:srgbClr val="1A2F4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794760" y="3017520"/>
            <a:ext cx="1097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EF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5029200" y="3017520"/>
            <a:ext cx="6675120" cy="548640"/>
          </a:xfrm>
          <a:prstGeom prst="rect">
            <a:avLst/>
          </a:prstGeom>
          <a:solidFill>
            <a:srgbClr val="233D5C"/>
          </a:solidFill>
          <a:ln w="6350">
            <a:solidFill>
              <a:srgbClr val="1A2F4A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166360" y="3017520"/>
            <a:ext cx="6400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EF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Name, Latitude, Longitude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457200" y="3566160"/>
            <a:ext cx="3200400" cy="548640"/>
          </a:xfrm>
          <a:prstGeom prst="rect">
            <a:avLst/>
          </a:prstGeom>
          <a:solidFill>
            <a:srgbClr val="233D5C"/>
          </a:solidFill>
          <a:ln w="6350">
            <a:solidFill>
              <a:srgbClr val="1A2F4A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94360" y="3566160"/>
            <a:ext cx="2926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6B85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accounts.csv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3657600" y="3566160"/>
            <a:ext cx="1371600" cy="548640"/>
          </a:xfrm>
          <a:prstGeom prst="rect">
            <a:avLst/>
          </a:prstGeom>
          <a:solidFill>
            <a:srgbClr val="233D5C"/>
          </a:solidFill>
          <a:ln w="6350">
            <a:solidFill>
              <a:srgbClr val="1A2F4A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794760" y="3566160"/>
            <a:ext cx="1097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EF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120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5029200" y="3566160"/>
            <a:ext cx="6675120" cy="548640"/>
          </a:xfrm>
          <a:prstGeom prst="rect">
            <a:avLst/>
          </a:prstGeom>
          <a:solidFill>
            <a:srgbClr val="233D5C"/>
          </a:solidFill>
          <a:ln w="6350">
            <a:solidFill>
              <a:srgbClr val="1A2F4A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166360" y="3566160"/>
            <a:ext cx="6400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EF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AccountId, GoalProfile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457200" y="4114800"/>
            <a:ext cx="3200400" cy="548640"/>
          </a:xfrm>
          <a:prstGeom prst="rect">
            <a:avLst/>
          </a:prstGeom>
          <a:solidFill>
            <a:srgbClr val="233D5C"/>
          </a:solidFill>
          <a:ln w="6350">
            <a:solidFill>
              <a:srgbClr val="1A2F4A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94360" y="4114800"/>
            <a:ext cx="2926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6B85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goal_profiles.csv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3657600" y="4114800"/>
            <a:ext cx="1371600" cy="548640"/>
          </a:xfrm>
          <a:prstGeom prst="rect">
            <a:avLst/>
          </a:prstGeom>
          <a:solidFill>
            <a:srgbClr val="233D5C"/>
          </a:solidFill>
          <a:ln w="6350">
            <a:solidFill>
              <a:srgbClr val="1A2F4A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794760" y="4114800"/>
            <a:ext cx="1097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EF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5029200" y="4114800"/>
            <a:ext cx="6675120" cy="548640"/>
          </a:xfrm>
          <a:prstGeom prst="rect">
            <a:avLst/>
          </a:prstGeom>
          <a:solidFill>
            <a:srgbClr val="233D5C"/>
          </a:solidFill>
          <a:ln w="6350">
            <a:solidFill>
              <a:srgbClr val="1A2F4A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5166360" y="4114800"/>
            <a:ext cx="6400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EF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minimize_travel_time, maximize_sla_adherence, reduce_overtime, prefer_higher_rated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457200" y="4937760"/>
            <a:ext cx="5486400" cy="1371600"/>
          </a:xfrm>
          <a:prstGeom prst="roundRect">
            <a:avLst>
              <a:gd name="adj" fmla="val 6667"/>
            </a:avLst>
          </a:prstGeom>
          <a:solidFill>
            <a:srgbClr val="233D5C"/>
          </a:solidFill>
          <a:ln w="12700">
            <a:solidFill>
              <a:srgbClr val="3FA88A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457200" y="4937760"/>
            <a:ext cx="73152" cy="1371600"/>
          </a:xfrm>
          <a:prstGeom prst="rect">
            <a:avLst/>
          </a:prstGeom>
          <a:solidFill>
            <a:srgbClr val="3FA88A"/>
          </a:solidFill>
          <a:ln/>
        </p:spPr>
      </p:sp>
      <p:sp>
        <p:nvSpPr>
          <p:cNvPr id="42" name="Text 40"/>
          <p:cNvSpPr/>
          <p:nvPr/>
        </p:nvSpPr>
        <p:spPr>
          <a:xfrm>
            <a:off x="685800" y="507492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FA8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Solve scope per run</a:t>
            </a:r>
            <a:endParaRPr lang="en-US" sz="1600" dirty="0"/>
          </a:p>
        </p:txBody>
      </p:sp>
      <p:sp>
        <p:nvSpPr>
          <p:cNvPr id="43" name="Text 41"/>
          <p:cNvSpPr/>
          <p:nvPr/>
        </p:nvSpPr>
        <p:spPr>
          <a:xfrm>
            <a:off x="685800" y="5486400"/>
            <a:ext cx="5120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8EF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150 orders · 20 routes · 1 depot</a:t>
            </a:r>
            <a:endParaRPr lang="en-US" sz="1200" dirty="0"/>
          </a:p>
        </p:txBody>
      </p:sp>
      <p:sp>
        <p:nvSpPr>
          <p:cNvPr id="44" name="Shape 42"/>
          <p:cNvSpPr/>
          <p:nvPr/>
        </p:nvSpPr>
        <p:spPr>
          <a:xfrm>
            <a:off x="6263640" y="4937760"/>
            <a:ext cx="5486400" cy="1371600"/>
          </a:xfrm>
          <a:prstGeom prst="roundRect">
            <a:avLst>
              <a:gd name="adj" fmla="val 6667"/>
            </a:avLst>
          </a:prstGeom>
          <a:solidFill>
            <a:srgbClr val="233D5C"/>
          </a:solidFill>
          <a:ln w="12700">
            <a:solidFill>
              <a:srgbClr val="E6B85B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6263640" y="4937760"/>
            <a:ext cx="73152" cy="1371600"/>
          </a:xfrm>
          <a:prstGeom prst="rect">
            <a:avLst/>
          </a:prstGeom>
          <a:solidFill>
            <a:srgbClr val="E6B85B"/>
          </a:solidFill>
          <a:ln/>
        </p:spPr>
      </p:sp>
      <p:sp>
        <p:nvSpPr>
          <p:cNvPr id="46" name="Text 44"/>
          <p:cNvSpPr/>
          <p:nvPr/>
        </p:nvSpPr>
        <p:spPr>
          <a:xfrm>
            <a:off x="6492240" y="507492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6B8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Distance metric</a:t>
            </a:r>
            <a:endParaRPr lang="en-US" sz="1600" dirty="0"/>
          </a:p>
        </p:txBody>
      </p:sp>
      <p:sp>
        <p:nvSpPr>
          <p:cNvPr id="47" name="Text 45"/>
          <p:cNvSpPr/>
          <p:nvPr/>
        </p:nvSpPr>
        <p:spPr>
          <a:xfrm>
            <a:off x="6492240" y="5486400"/>
            <a:ext cx="5120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8EF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Haversine at 30 km/h (OSRM uses real roads)</a:t>
            </a:r>
            <a:endParaRPr lang="en-US" sz="12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0E1B2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E8EF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Streamlit UI · 6 Tabs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1280160"/>
            <a:ext cx="11247120" cy="731520"/>
          </a:xfrm>
          <a:prstGeom prst="roundRect">
            <a:avLst>
              <a:gd name="adj" fmla="val 12500"/>
            </a:avLst>
          </a:prstGeom>
          <a:solidFill>
            <a:srgbClr val="233D5C"/>
          </a:solidFill>
          <a:ln w="12700">
            <a:solidFill>
              <a:srgbClr val="5BA4E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1280160"/>
            <a:ext cx="73152" cy="731520"/>
          </a:xfrm>
          <a:prstGeom prst="rect">
            <a:avLst/>
          </a:prstGeom>
          <a:solidFill>
            <a:srgbClr val="5BA4E6"/>
          </a:solidFill>
          <a:ln/>
        </p:spPr>
      </p:sp>
      <p:sp>
        <p:nvSpPr>
          <p:cNvPr id="5" name="Text 3"/>
          <p:cNvSpPr/>
          <p:nvPr/>
        </p:nvSpPr>
        <p:spPr>
          <a:xfrm>
            <a:off x="685800" y="141732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5BA4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Overview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685800" y="1828800"/>
            <a:ext cx="1088136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8EF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run count, scenarios, dataset metrics, summary tables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57200" y="2148840"/>
            <a:ext cx="11247120" cy="731520"/>
          </a:xfrm>
          <a:prstGeom prst="roundRect">
            <a:avLst>
              <a:gd name="adj" fmla="val 12500"/>
            </a:avLst>
          </a:prstGeom>
          <a:solidFill>
            <a:srgbClr val="233D5C"/>
          </a:solidFill>
          <a:ln w="12700">
            <a:solidFill>
              <a:srgbClr val="3FA88A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7200" y="2148840"/>
            <a:ext cx="73152" cy="731520"/>
          </a:xfrm>
          <a:prstGeom prst="rect">
            <a:avLst/>
          </a:prstGeom>
          <a:solidFill>
            <a:srgbClr val="3FA88A"/>
          </a:solidFill>
          <a:ln/>
        </p:spPr>
      </p:sp>
      <p:sp>
        <p:nvSpPr>
          <p:cNvPr id="9" name="Text 7"/>
          <p:cNvSpPr/>
          <p:nvPr/>
        </p:nvSpPr>
        <p:spPr>
          <a:xfrm>
            <a:off x="685800" y="228600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FA8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KPI Comparison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685800" y="2697480"/>
            <a:ext cx="1088136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8EF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Plotly bar charts: Assigned, Routes, Distance, Travel, Late, Runtime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57200" y="3017520"/>
            <a:ext cx="11247120" cy="731520"/>
          </a:xfrm>
          <a:prstGeom prst="roundRect">
            <a:avLst>
              <a:gd name="adj" fmla="val 12500"/>
            </a:avLst>
          </a:prstGeom>
          <a:solidFill>
            <a:srgbClr val="233D5C"/>
          </a:solidFill>
          <a:ln w="12700">
            <a:solidFill>
              <a:srgbClr val="E6B85B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57200" y="3017520"/>
            <a:ext cx="73152" cy="731520"/>
          </a:xfrm>
          <a:prstGeom prst="rect">
            <a:avLst/>
          </a:prstGeom>
          <a:solidFill>
            <a:srgbClr val="E6B85B"/>
          </a:solidFill>
          <a:ln/>
        </p:spPr>
      </p:sp>
      <p:sp>
        <p:nvSpPr>
          <p:cNvPr id="13" name="Text 11"/>
          <p:cNvSpPr/>
          <p:nvPr/>
        </p:nvSpPr>
        <p:spPr>
          <a:xfrm>
            <a:off x="685800" y="315468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6B8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 Explorer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685800" y="3566160"/>
            <a:ext cx="1088136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8EF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Interactive Folium map · per-route stops · sequence polylines · ETA popups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57200" y="3886200"/>
            <a:ext cx="11247120" cy="731520"/>
          </a:xfrm>
          <a:prstGeom prst="roundRect">
            <a:avLst>
              <a:gd name="adj" fmla="val 12500"/>
            </a:avLst>
          </a:prstGeom>
          <a:solidFill>
            <a:srgbClr val="233D5C"/>
          </a:solidFill>
          <a:ln w="12700">
            <a:solidFill>
              <a:srgbClr val="9B89E6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57200" y="3886200"/>
            <a:ext cx="73152" cy="731520"/>
          </a:xfrm>
          <a:prstGeom prst="rect">
            <a:avLst/>
          </a:prstGeom>
          <a:solidFill>
            <a:srgbClr val="9B89E6"/>
          </a:solidFill>
          <a:ln/>
        </p:spPr>
      </p:sp>
      <p:sp>
        <p:nvSpPr>
          <p:cNvPr id="17" name="Text 15"/>
          <p:cNvSpPr/>
          <p:nvPr/>
        </p:nvSpPr>
        <p:spPr>
          <a:xfrm>
            <a:off x="685800" y="402336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9B89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Scenario Tables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685800" y="4434840"/>
            <a:ext cx="1088136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8EF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Per-backend × per-scenario data: Summary, Actions, Routes, Stops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457200" y="4754880"/>
            <a:ext cx="11247120" cy="731520"/>
          </a:xfrm>
          <a:prstGeom prst="roundRect">
            <a:avLst>
              <a:gd name="adj" fmla="val 12500"/>
            </a:avLst>
          </a:prstGeom>
          <a:solidFill>
            <a:srgbClr val="233D5C"/>
          </a:solidFill>
          <a:ln w="12700">
            <a:solidFill>
              <a:srgbClr val="E68B6E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57200" y="4754880"/>
            <a:ext cx="73152" cy="731520"/>
          </a:xfrm>
          <a:prstGeom prst="rect">
            <a:avLst/>
          </a:prstGeom>
          <a:solidFill>
            <a:srgbClr val="E68B6E"/>
          </a:solidFill>
          <a:ln/>
        </p:spPr>
      </p:sp>
      <p:sp>
        <p:nvSpPr>
          <p:cNvPr id="21" name="Text 19"/>
          <p:cNvSpPr/>
          <p:nvPr/>
        </p:nvSpPr>
        <p:spPr>
          <a:xfrm>
            <a:off x="685800" y="489204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68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Export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685800" y="5303520"/>
            <a:ext cx="1088136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8EF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Multi-sheet XLSX download · 4 sheets per backend × 8 = 32 sheets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457200" y="5623560"/>
            <a:ext cx="11247120" cy="731520"/>
          </a:xfrm>
          <a:prstGeom prst="roundRect">
            <a:avLst>
              <a:gd name="adj" fmla="val 12500"/>
            </a:avLst>
          </a:prstGeom>
          <a:solidFill>
            <a:srgbClr val="233D5C"/>
          </a:solidFill>
          <a:ln w="12700">
            <a:solidFill>
              <a:srgbClr val="7AC4A1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57200" y="5623560"/>
            <a:ext cx="73152" cy="731520"/>
          </a:xfrm>
          <a:prstGeom prst="rect">
            <a:avLst/>
          </a:prstGeom>
          <a:solidFill>
            <a:srgbClr val="7AC4A1"/>
          </a:solidFill>
          <a:ln/>
        </p:spPr>
      </p:sp>
      <p:sp>
        <p:nvSpPr>
          <p:cNvPr id="25" name="Text 23"/>
          <p:cNvSpPr/>
          <p:nvPr/>
        </p:nvSpPr>
        <p:spPr>
          <a:xfrm>
            <a:off x="685800" y="576072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7AC4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🤖 AI Agent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685800" y="6172200"/>
            <a:ext cx="1088136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8EF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 · 8 quick actions · 4 reactive event buttons · tool calls log</a:t>
            </a:r>
            <a:endParaRPr lang="en-US" sz="12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0E1B2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E8EF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BackendConfig — 28 Parameters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5BA4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exposed in the Streamlit sidebar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457200" y="1828800"/>
            <a:ext cx="3657600" cy="4389120"/>
          </a:xfrm>
          <a:prstGeom prst="roundRect">
            <a:avLst>
              <a:gd name="adj" fmla="val 2500"/>
            </a:avLst>
          </a:prstGeom>
          <a:solidFill>
            <a:srgbClr val="233D5C"/>
          </a:solidFill>
          <a:ln w="12700">
            <a:solidFill>
              <a:srgbClr val="5BA4E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1828800"/>
            <a:ext cx="73152" cy="4389120"/>
          </a:xfrm>
          <a:prstGeom prst="rect">
            <a:avLst/>
          </a:prstGeom>
          <a:solidFill>
            <a:srgbClr val="5BA4E6"/>
          </a:solidFill>
          <a:ln/>
        </p:spPr>
      </p:sp>
      <p:sp>
        <p:nvSpPr>
          <p:cNvPr id="6" name="Text 4"/>
          <p:cNvSpPr/>
          <p:nvPr/>
        </p:nvSpPr>
        <p:spPr>
          <a:xfrm>
            <a:off x="685800" y="196596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5BA4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(9)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685800" y="2377440"/>
            <a:ext cx="3291840" cy="3749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8EF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speed_kmph = 35.0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8EF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use_two_opt = True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8EF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strict_skill_bias = True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8EF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random_seed = 42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8EF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max_orders = 350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8EF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max_routes = 24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8EF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depot_focus = None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8EF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sample_by_priority = True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8EF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fast_mode = True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251960" y="1828800"/>
            <a:ext cx="3657600" cy="4389120"/>
          </a:xfrm>
          <a:prstGeom prst="roundRect">
            <a:avLst>
              <a:gd name="adj" fmla="val 2500"/>
            </a:avLst>
          </a:prstGeom>
          <a:solidFill>
            <a:srgbClr val="233D5C"/>
          </a:solidFill>
          <a:ln w="12700">
            <a:solidFill>
              <a:srgbClr val="E6B85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251960" y="1828800"/>
            <a:ext cx="73152" cy="4389120"/>
          </a:xfrm>
          <a:prstGeom prst="rect">
            <a:avLst/>
          </a:prstGeom>
          <a:solidFill>
            <a:srgbClr val="E6B85B"/>
          </a:solidFill>
          <a:ln/>
        </p:spPr>
      </p:sp>
      <p:sp>
        <p:nvSpPr>
          <p:cNvPr id="10" name="Text 8"/>
          <p:cNvSpPr/>
          <p:nvPr/>
        </p:nvSpPr>
        <p:spPr>
          <a:xfrm>
            <a:off x="4480560" y="196596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6B8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Hybrid/Adaptive (14)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4480560" y="2377440"/>
            <a:ext cx="3291840" cy="3749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8EF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candidate_routes = 10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8EF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frontier_size = 28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8EF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local_search_passes = 4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8EF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max_hard_late_min = 30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8EF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shift_buffer = 15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8EF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route_activation = 42.0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8EF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compact_passes = 3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8EF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global_relocate = 3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8EF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require_zero_late = True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8046720" y="1828800"/>
            <a:ext cx="3657600" cy="4389120"/>
          </a:xfrm>
          <a:prstGeom prst="roundRect">
            <a:avLst>
              <a:gd name="adj" fmla="val 2500"/>
            </a:avLst>
          </a:prstGeom>
          <a:solidFill>
            <a:srgbClr val="233D5C"/>
          </a:solidFill>
          <a:ln w="12700">
            <a:solidFill>
              <a:srgbClr val="7AC4A1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046720" y="1828800"/>
            <a:ext cx="73152" cy="4389120"/>
          </a:xfrm>
          <a:prstGeom prst="rect">
            <a:avLst/>
          </a:prstGeom>
          <a:solidFill>
            <a:srgbClr val="7AC4A1"/>
          </a:solidFill>
          <a:ln/>
        </p:spPr>
      </p:sp>
      <p:sp>
        <p:nvSpPr>
          <p:cNvPr id="14" name="Text 12"/>
          <p:cNvSpPr/>
          <p:nvPr/>
        </p:nvSpPr>
        <p:spPr>
          <a:xfrm>
            <a:off x="8275320" y="196596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7AC4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Solver-specific (5)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8275320" y="2377440"/>
            <a:ext cx="3291840" cy="3749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8EF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OR-Tools (2):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8EF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ortools_max_runtime = 5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8EF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ortools_allow_drop = True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8EF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PyVRP (2):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8EF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pyvrp_max_runtime = 5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8EF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pyvrp_allow_drop = False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8EF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OSRM (6) · Esri (4) · ...</a:t>
            </a:r>
            <a:endParaRPr lang="en-US" sz="12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0E1B2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E8EF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Complexity Analysis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1280160"/>
            <a:ext cx="2377440" cy="457200"/>
          </a:xfrm>
          <a:prstGeom prst="rect">
            <a:avLst/>
          </a:prstGeom>
          <a:solidFill>
            <a:srgbClr val="1A2F4A"/>
          </a:solidFill>
          <a:ln w="12700">
            <a:solidFill>
              <a:srgbClr val="0E1B2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28016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5BA4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2834640" y="1280160"/>
            <a:ext cx="2743200" cy="457200"/>
          </a:xfrm>
          <a:prstGeom prst="rect">
            <a:avLst/>
          </a:prstGeom>
          <a:solidFill>
            <a:srgbClr val="1A2F4A"/>
          </a:solidFill>
          <a:ln w="12700">
            <a:solidFill>
              <a:srgbClr val="0E1B2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834640" y="128016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5BA4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Assignment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577840" y="1280160"/>
            <a:ext cx="3108960" cy="457200"/>
          </a:xfrm>
          <a:prstGeom prst="rect">
            <a:avLst/>
          </a:prstGeom>
          <a:solidFill>
            <a:srgbClr val="1A2F4A"/>
          </a:solidFill>
          <a:ln w="12700">
            <a:solidFill>
              <a:srgbClr val="0E1B2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577840" y="128016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5BA4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Search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8686800" y="1280160"/>
            <a:ext cx="3017520" cy="457200"/>
          </a:xfrm>
          <a:prstGeom prst="rect">
            <a:avLst/>
          </a:prstGeom>
          <a:solidFill>
            <a:srgbClr val="1A2F4A"/>
          </a:solidFill>
          <a:ln w="12700">
            <a:solidFill>
              <a:srgbClr val="0E1B2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686800" y="128016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5BA4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57200" y="1737360"/>
            <a:ext cx="2377440" cy="502920"/>
          </a:xfrm>
          <a:prstGeom prst="rect">
            <a:avLst/>
          </a:prstGeom>
          <a:solidFill>
            <a:srgbClr val="233D5C"/>
          </a:solidFill>
          <a:ln w="6350">
            <a:solidFill>
              <a:srgbClr val="1A2F4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94360" y="1737360"/>
            <a:ext cx="2103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E8EF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Greedy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2834640" y="1737360"/>
            <a:ext cx="2743200" cy="502920"/>
          </a:xfrm>
          <a:prstGeom prst="rect">
            <a:avLst/>
          </a:prstGeom>
          <a:solidFill>
            <a:srgbClr val="233D5C"/>
          </a:solidFill>
          <a:ln w="6350">
            <a:solidFill>
              <a:srgbClr val="1A2F4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971800" y="1737360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E8EF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O(N × R)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5577840" y="1737360"/>
            <a:ext cx="3108960" cy="502920"/>
          </a:xfrm>
          <a:prstGeom prst="rect">
            <a:avLst/>
          </a:prstGeom>
          <a:solidFill>
            <a:srgbClr val="233D5C"/>
          </a:solidFill>
          <a:ln w="6350">
            <a:solidFill>
              <a:srgbClr val="1A2F4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715000" y="1737360"/>
            <a:ext cx="2834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E8EF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O(R × M²) per pass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8686800" y="1737360"/>
            <a:ext cx="3017520" cy="502920"/>
          </a:xfrm>
          <a:prstGeom prst="rect">
            <a:avLst/>
          </a:prstGeom>
          <a:solidFill>
            <a:srgbClr val="233D5C"/>
          </a:solidFill>
          <a:ln w="6350">
            <a:solidFill>
              <a:srgbClr val="1A2F4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823960" y="1737360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E8EF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O(NR + RM²)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457200" y="2240280"/>
            <a:ext cx="2377440" cy="502920"/>
          </a:xfrm>
          <a:prstGeom prst="rect">
            <a:avLst/>
          </a:prstGeom>
          <a:solidFill>
            <a:srgbClr val="233D5C"/>
          </a:solidFill>
          <a:ln w="6350">
            <a:solidFill>
              <a:srgbClr val="1A2F4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94360" y="2240280"/>
            <a:ext cx="2103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E8EF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OSRM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2834640" y="2240280"/>
            <a:ext cx="2743200" cy="502920"/>
          </a:xfrm>
          <a:prstGeom prst="rect">
            <a:avLst/>
          </a:prstGeom>
          <a:solidFill>
            <a:srgbClr val="233D5C"/>
          </a:solidFill>
          <a:ln w="6350">
            <a:solidFill>
              <a:srgbClr val="1A2F4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971800" y="2240280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E8EF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O(N × R × HTTP)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5577840" y="2240280"/>
            <a:ext cx="3108960" cy="502920"/>
          </a:xfrm>
          <a:prstGeom prst="rect">
            <a:avLst/>
          </a:prstGeom>
          <a:solidFill>
            <a:srgbClr val="233D5C"/>
          </a:solidFill>
          <a:ln w="6350">
            <a:solidFill>
              <a:srgbClr val="1A2F4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715000" y="2240280"/>
            <a:ext cx="2834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E8EF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O(RM² × HTTP)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8686800" y="2240280"/>
            <a:ext cx="3017520" cy="502920"/>
          </a:xfrm>
          <a:prstGeom prst="rect">
            <a:avLst/>
          </a:prstGeom>
          <a:solidFill>
            <a:srgbClr val="233D5C"/>
          </a:solidFill>
          <a:ln w="6350">
            <a:solidFill>
              <a:srgbClr val="1A2F4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823960" y="2240280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E8EF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O((NR + RM²) × HTTP)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457200" y="2743200"/>
            <a:ext cx="2377440" cy="502920"/>
          </a:xfrm>
          <a:prstGeom prst="rect">
            <a:avLst/>
          </a:prstGeom>
          <a:solidFill>
            <a:srgbClr val="233D5C"/>
          </a:solidFill>
          <a:ln w="6350">
            <a:solidFill>
              <a:srgbClr val="1A2F4A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94360" y="2743200"/>
            <a:ext cx="2103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E8EF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PyVRP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2834640" y="2743200"/>
            <a:ext cx="2743200" cy="502920"/>
          </a:xfrm>
          <a:prstGeom prst="rect">
            <a:avLst/>
          </a:prstGeom>
          <a:solidFill>
            <a:srgbClr val="233D5C"/>
          </a:solidFill>
          <a:ln w="6350">
            <a:solidFill>
              <a:srgbClr val="1A2F4A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2971800" y="2743200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E8EF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O(N²) per gen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5577840" y="2743200"/>
            <a:ext cx="3108960" cy="502920"/>
          </a:xfrm>
          <a:prstGeom prst="rect">
            <a:avLst/>
          </a:prstGeom>
          <a:solidFill>
            <a:srgbClr val="233D5C"/>
          </a:solidFill>
          <a:ln w="6350">
            <a:solidFill>
              <a:srgbClr val="1A2F4A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715000" y="2743200"/>
            <a:ext cx="2834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E8EF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C++ moves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8686800" y="2743200"/>
            <a:ext cx="3017520" cy="502920"/>
          </a:xfrm>
          <a:prstGeom prst="rect">
            <a:avLst/>
          </a:prstGeom>
          <a:solidFill>
            <a:srgbClr val="233D5C"/>
          </a:solidFill>
          <a:ln w="6350">
            <a:solidFill>
              <a:srgbClr val="1A2F4A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8823960" y="2743200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E8EF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O(G × N²)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457200" y="3246120"/>
            <a:ext cx="2377440" cy="502920"/>
          </a:xfrm>
          <a:prstGeom prst="rect">
            <a:avLst/>
          </a:prstGeom>
          <a:solidFill>
            <a:srgbClr val="233D5C"/>
          </a:solidFill>
          <a:ln w="6350">
            <a:solidFill>
              <a:srgbClr val="1A2F4A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594360" y="3246120"/>
            <a:ext cx="2103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E8EF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OR-Tools</a:t>
            </a:r>
            <a:endParaRPr lang="en-US" sz="1200" dirty="0"/>
          </a:p>
        </p:txBody>
      </p:sp>
      <p:sp>
        <p:nvSpPr>
          <p:cNvPr id="37" name="Shape 35"/>
          <p:cNvSpPr/>
          <p:nvPr/>
        </p:nvSpPr>
        <p:spPr>
          <a:xfrm>
            <a:off x="2834640" y="3246120"/>
            <a:ext cx="2743200" cy="502920"/>
          </a:xfrm>
          <a:prstGeom prst="rect">
            <a:avLst/>
          </a:prstGeom>
          <a:solidFill>
            <a:srgbClr val="233D5C"/>
          </a:solidFill>
          <a:ln w="6350">
            <a:solidFill>
              <a:srgbClr val="1A2F4A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2971800" y="3246120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E8EF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O(N × R)</a:t>
            </a:r>
            <a:endParaRPr lang="en-US" sz="1200" dirty="0"/>
          </a:p>
        </p:txBody>
      </p:sp>
      <p:sp>
        <p:nvSpPr>
          <p:cNvPr id="39" name="Shape 37"/>
          <p:cNvSpPr/>
          <p:nvPr/>
        </p:nvSpPr>
        <p:spPr>
          <a:xfrm>
            <a:off x="5577840" y="3246120"/>
            <a:ext cx="3108960" cy="502920"/>
          </a:xfrm>
          <a:prstGeom prst="rect">
            <a:avLst/>
          </a:prstGeom>
          <a:solidFill>
            <a:srgbClr val="233D5C"/>
          </a:solidFill>
          <a:ln w="6350">
            <a:solidFill>
              <a:srgbClr val="1A2F4A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5715000" y="3246120"/>
            <a:ext cx="2834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E8EF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O(t × N × R)</a:t>
            </a:r>
            <a:endParaRPr lang="en-US" sz="1200" dirty="0"/>
          </a:p>
        </p:txBody>
      </p:sp>
      <p:sp>
        <p:nvSpPr>
          <p:cNvPr id="41" name="Shape 39"/>
          <p:cNvSpPr/>
          <p:nvPr/>
        </p:nvSpPr>
        <p:spPr>
          <a:xfrm>
            <a:off x="8686800" y="3246120"/>
            <a:ext cx="3017520" cy="502920"/>
          </a:xfrm>
          <a:prstGeom prst="rect">
            <a:avLst/>
          </a:prstGeom>
          <a:solidFill>
            <a:srgbClr val="233D5C"/>
          </a:solidFill>
          <a:ln w="6350">
            <a:solidFill>
              <a:srgbClr val="1A2F4A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8823960" y="3246120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E8EF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O(t × N × R)</a:t>
            </a:r>
            <a:endParaRPr lang="en-US" sz="1200" dirty="0"/>
          </a:p>
        </p:txBody>
      </p:sp>
      <p:sp>
        <p:nvSpPr>
          <p:cNvPr id="43" name="Shape 41"/>
          <p:cNvSpPr/>
          <p:nvPr/>
        </p:nvSpPr>
        <p:spPr>
          <a:xfrm>
            <a:off x="457200" y="3749040"/>
            <a:ext cx="2377440" cy="502920"/>
          </a:xfrm>
          <a:prstGeom prst="rect">
            <a:avLst/>
          </a:prstGeom>
          <a:solidFill>
            <a:srgbClr val="1A3D33"/>
          </a:solidFill>
          <a:ln w="6350">
            <a:solidFill>
              <a:srgbClr val="1A2F4A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594360" y="3749040"/>
            <a:ext cx="2103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7AC4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OR-Tools EA</a:t>
            </a:r>
            <a:endParaRPr lang="en-US" sz="1200" dirty="0"/>
          </a:p>
        </p:txBody>
      </p:sp>
      <p:sp>
        <p:nvSpPr>
          <p:cNvPr id="45" name="Shape 43"/>
          <p:cNvSpPr/>
          <p:nvPr/>
        </p:nvSpPr>
        <p:spPr>
          <a:xfrm>
            <a:off x="2834640" y="3749040"/>
            <a:ext cx="2743200" cy="502920"/>
          </a:xfrm>
          <a:prstGeom prst="rect">
            <a:avLst/>
          </a:prstGeom>
          <a:solidFill>
            <a:srgbClr val="1A3D33"/>
          </a:solidFill>
          <a:ln w="6350">
            <a:solidFill>
              <a:srgbClr val="1A2F4A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2971800" y="3749040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7AC4A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O(K × R)</a:t>
            </a:r>
            <a:endParaRPr lang="en-US" sz="1200" dirty="0"/>
          </a:p>
        </p:txBody>
      </p:sp>
      <p:sp>
        <p:nvSpPr>
          <p:cNvPr id="47" name="Shape 45"/>
          <p:cNvSpPr/>
          <p:nvPr/>
        </p:nvSpPr>
        <p:spPr>
          <a:xfrm>
            <a:off x="5577840" y="3749040"/>
            <a:ext cx="3108960" cy="502920"/>
          </a:xfrm>
          <a:prstGeom prst="rect">
            <a:avLst/>
          </a:prstGeom>
          <a:solidFill>
            <a:srgbClr val="1A3D33"/>
          </a:solidFill>
          <a:ln w="6350">
            <a:solidFill>
              <a:srgbClr val="1A2F4A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5715000" y="3749040"/>
            <a:ext cx="2834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7AC4A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O(t × K × R)</a:t>
            </a:r>
            <a:endParaRPr lang="en-US" sz="1200" dirty="0"/>
          </a:p>
        </p:txBody>
      </p:sp>
      <p:sp>
        <p:nvSpPr>
          <p:cNvPr id="49" name="Shape 47"/>
          <p:cNvSpPr/>
          <p:nvPr/>
        </p:nvSpPr>
        <p:spPr>
          <a:xfrm>
            <a:off x="8686800" y="3749040"/>
            <a:ext cx="3017520" cy="502920"/>
          </a:xfrm>
          <a:prstGeom prst="rect">
            <a:avLst/>
          </a:prstGeom>
          <a:solidFill>
            <a:srgbClr val="1A3D33"/>
          </a:solidFill>
          <a:ln w="6350">
            <a:solidFill>
              <a:srgbClr val="1A2F4A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8823960" y="3749040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7AC4A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O(t × K × R), K &lt;&lt; N</a:t>
            </a:r>
            <a:endParaRPr lang="en-US" sz="1200" dirty="0"/>
          </a:p>
        </p:txBody>
      </p:sp>
      <p:sp>
        <p:nvSpPr>
          <p:cNvPr id="51" name="Shape 49"/>
          <p:cNvSpPr/>
          <p:nvPr/>
        </p:nvSpPr>
        <p:spPr>
          <a:xfrm>
            <a:off x="457200" y="4251960"/>
            <a:ext cx="2377440" cy="502920"/>
          </a:xfrm>
          <a:prstGeom prst="rect">
            <a:avLst/>
          </a:prstGeom>
          <a:solidFill>
            <a:srgbClr val="233D5C"/>
          </a:solidFill>
          <a:ln w="6350">
            <a:solidFill>
              <a:srgbClr val="1A2F4A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594360" y="4251960"/>
            <a:ext cx="2103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E8EF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Hybrid</a:t>
            </a:r>
            <a:endParaRPr lang="en-US" sz="1200" dirty="0"/>
          </a:p>
        </p:txBody>
      </p:sp>
      <p:sp>
        <p:nvSpPr>
          <p:cNvPr id="53" name="Shape 51"/>
          <p:cNvSpPr/>
          <p:nvPr/>
        </p:nvSpPr>
        <p:spPr>
          <a:xfrm>
            <a:off x="2834640" y="4251960"/>
            <a:ext cx="2743200" cy="502920"/>
          </a:xfrm>
          <a:prstGeom prst="rect">
            <a:avLst/>
          </a:prstGeom>
          <a:solidFill>
            <a:srgbClr val="233D5C"/>
          </a:solidFill>
          <a:ln w="6350">
            <a:solidFill>
              <a:srgbClr val="1A2F4A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2971800" y="4251960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E8EF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O(N × R × frontier)</a:t>
            </a:r>
            <a:endParaRPr lang="en-US" sz="1200" dirty="0"/>
          </a:p>
        </p:txBody>
      </p:sp>
      <p:sp>
        <p:nvSpPr>
          <p:cNvPr id="55" name="Shape 53"/>
          <p:cNvSpPr/>
          <p:nvPr/>
        </p:nvSpPr>
        <p:spPr>
          <a:xfrm>
            <a:off x="5577840" y="4251960"/>
            <a:ext cx="3108960" cy="502920"/>
          </a:xfrm>
          <a:prstGeom prst="rect">
            <a:avLst/>
          </a:prstGeom>
          <a:solidFill>
            <a:srgbClr val="233D5C"/>
          </a:solidFill>
          <a:ln w="6350">
            <a:solidFill>
              <a:srgbClr val="1A2F4A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5715000" y="4251960"/>
            <a:ext cx="2834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E8EF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O(NR × passes)</a:t>
            </a:r>
            <a:endParaRPr lang="en-US" sz="1200" dirty="0"/>
          </a:p>
        </p:txBody>
      </p:sp>
      <p:sp>
        <p:nvSpPr>
          <p:cNvPr id="57" name="Shape 55"/>
          <p:cNvSpPr/>
          <p:nvPr/>
        </p:nvSpPr>
        <p:spPr>
          <a:xfrm>
            <a:off x="8686800" y="4251960"/>
            <a:ext cx="3017520" cy="502920"/>
          </a:xfrm>
          <a:prstGeom prst="rect">
            <a:avLst/>
          </a:prstGeom>
          <a:solidFill>
            <a:srgbClr val="233D5C"/>
          </a:solidFill>
          <a:ln w="6350">
            <a:solidFill>
              <a:srgbClr val="1A2F4A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8823960" y="4251960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E8EF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O(NR × passes)</a:t>
            </a:r>
            <a:endParaRPr lang="en-US" sz="1200" dirty="0"/>
          </a:p>
        </p:txBody>
      </p:sp>
      <p:sp>
        <p:nvSpPr>
          <p:cNvPr id="59" name="Shape 57"/>
          <p:cNvSpPr/>
          <p:nvPr/>
        </p:nvSpPr>
        <p:spPr>
          <a:xfrm>
            <a:off x="457200" y="4754880"/>
            <a:ext cx="2377440" cy="502920"/>
          </a:xfrm>
          <a:prstGeom prst="rect">
            <a:avLst/>
          </a:prstGeom>
          <a:solidFill>
            <a:srgbClr val="233D5C"/>
          </a:solidFill>
          <a:ln w="6350">
            <a:solidFill>
              <a:srgbClr val="1A2F4A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594360" y="4754880"/>
            <a:ext cx="2103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E8EF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Adaptive</a:t>
            </a:r>
            <a:endParaRPr lang="en-US" sz="1200" dirty="0"/>
          </a:p>
        </p:txBody>
      </p:sp>
      <p:sp>
        <p:nvSpPr>
          <p:cNvPr id="61" name="Shape 59"/>
          <p:cNvSpPr/>
          <p:nvPr/>
        </p:nvSpPr>
        <p:spPr>
          <a:xfrm>
            <a:off x="2834640" y="4754880"/>
            <a:ext cx="2743200" cy="502920"/>
          </a:xfrm>
          <a:prstGeom prst="rect">
            <a:avLst/>
          </a:prstGeom>
          <a:solidFill>
            <a:srgbClr val="233D5C"/>
          </a:solidFill>
          <a:ln w="6350">
            <a:solidFill>
              <a:srgbClr val="1A2F4A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2971800" y="4754880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E8EF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K_restarts × Hybrid</a:t>
            </a:r>
            <a:endParaRPr lang="en-US" sz="1200" dirty="0"/>
          </a:p>
        </p:txBody>
      </p:sp>
      <p:sp>
        <p:nvSpPr>
          <p:cNvPr id="63" name="Shape 61"/>
          <p:cNvSpPr/>
          <p:nvPr/>
        </p:nvSpPr>
        <p:spPr>
          <a:xfrm>
            <a:off x="5577840" y="4754880"/>
            <a:ext cx="3108960" cy="502920"/>
          </a:xfrm>
          <a:prstGeom prst="rect">
            <a:avLst/>
          </a:prstGeom>
          <a:solidFill>
            <a:srgbClr val="233D5C"/>
          </a:solidFill>
          <a:ln w="6350">
            <a:solidFill>
              <a:srgbClr val="1A2F4A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5715000" y="4754880"/>
            <a:ext cx="2834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E8EF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 × Hybrid</a:t>
            </a:r>
            <a:endParaRPr lang="en-US" sz="1200" dirty="0"/>
          </a:p>
        </p:txBody>
      </p:sp>
      <p:sp>
        <p:nvSpPr>
          <p:cNvPr id="65" name="Shape 63"/>
          <p:cNvSpPr/>
          <p:nvPr/>
        </p:nvSpPr>
        <p:spPr>
          <a:xfrm>
            <a:off x="8686800" y="4754880"/>
            <a:ext cx="3017520" cy="502920"/>
          </a:xfrm>
          <a:prstGeom prst="rect">
            <a:avLst/>
          </a:prstGeom>
          <a:solidFill>
            <a:srgbClr val="233D5C"/>
          </a:solidFill>
          <a:ln w="6350">
            <a:solidFill>
              <a:srgbClr val="1A2F4A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8823960" y="4754880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E8EF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 × O(NR × passes)</a:t>
            </a:r>
            <a:endParaRPr lang="en-US" sz="1200" dirty="0"/>
          </a:p>
        </p:txBody>
      </p:sp>
      <p:sp>
        <p:nvSpPr>
          <p:cNvPr id="67" name="Shape 65"/>
          <p:cNvSpPr/>
          <p:nvPr/>
        </p:nvSpPr>
        <p:spPr>
          <a:xfrm>
            <a:off x="457200" y="5486400"/>
            <a:ext cx="73152" cy="1005840"/>
          </a:xfrm>
          <a:prstGeom prst="rect">
            <a:avLst/>
          </a:prstGeom>
          <a:solidFill>
            <a:srgbClr val="E6B85B"/>
          </a:solidFill>
          <a:ln/>
        </p:spPr>
      </p:sp>
      <p:sp>
        <p:nvSpPr>
          <p:cNvPr id="68" name="Shape 66"/>
          <p:cNvSpPr/>
          <p:nvPr/>
        </p:nvSpPr>
        <p:spPr>
          <a:xfrm>
            <a:off x="530352" y="5486400"/>
            <a:ext cx="11173968" cy="1005840"/>
          </a:xfrm>
          <a:prstGeom prst="rect">
            <a:avLst/>
          </a:prstGeom>
          <a:solidFill>
            <a:srgbClr val="233D5C"/>
          </a:solidFill>
          <a:ln/>
        </p:spPr>
      </p:sp>
      <p:sp>
        <p:nvSpPr>
          <p:cNvPr id="69" name="Text 67"/>
          <p:cNvSpPr/>
          <p:nvPr/>
        </p:nvSpPr>
        <p:spPr>
          <a:xfrm>
            <a:off x="731520" y="5577840"/>
            <a:ext cx="10789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E8EF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OR-Tools EA submits K = ~10 open orders instead of N = 150. Model is 10-15× smaller.</a:t>
            </a:r>
            <a:endParaRPr lang="en-US" sz="16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0E1B2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E8EF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Deployment Path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1280160"/>
            <a:ext cx="2194560" cy="1463040"/>
          </a:xfrm>
          <a:prstGeom prst="roundRect">
            <a:avLst>
              <a:gd name="adj" fmla="val 6250"/>
            </a:avLst>
          </a:prstGeom>
          <a:solidFill>
            <a:srgbClr val="233D5C"/>
          </a:solidFill>
          <a:ln w="19050">
            <a:solidFill>
              <a:srgbClr val="5BA4E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94360" y="1417320"/>
            <a:ext cx="411480" cy="411480"/>
          </a:xfrm>
          <a:prstGeom prst="ellipse">
            <a:avLst/>
          </a:prstGeom>
          <a:solidFill>
            <a:srgbClr val="5BA4E6"/>
          </a:solidFill>
          <a:ln/>
        </p:spPr>
      </p:sp>
      <p:sp>
        <p:nvSpPr>
          <p:cNvPr id="5" name="Text 3"/>
          <p:cNvSpPr/>
          <p:nvPr/>
        </p:nvSpPr>
        <p:spPr>
          <a:xfrm>
            <a:off x="594360" y="141732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E1B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097280" y="137160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BA4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dev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94360" y="1920240"/>
            <a:ext cx="1920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EF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benchmarks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8EF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save artifacts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788920" y="1280160"/>
            <a:ext cx="2194560" cy="1463040"/>
          </a:xfrm>
          <a:prstGeom prst="roundRect">
            <a:avLst>
              <a:gd name="adj" fmla="val 6250"/>
            </a:avLst>
          </a:prstGeom>
          <a:solidFill>
            <a:srgbClr val="233D5C"/>
          </a:solidFill>
          <a:ln w="19050">
            <a:solidFill>
              <a:srgbClr val="E6B85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926080" y="1417320"/>
            <a:ext cx="411480" cy="411480"/>
          </a:xfrm>
          <a:prstGeom prst="ellipse">
            <a:avLst/>
          </a:prstGeom>
          <a:solidFill>
            <a:srgbClr val="E6B85B"/>
          </a:solidFill>
          <a:ln/>
        </p:spPr>
      </p:sp>
      <p:sp>
        <p:nvSpPr>
          <p:cNvPr id="10" name="Text 8"/>
          <p:cNvSpPr/>
          <p:nvPr/>
        </p:nvSpPr>
        <p:spPr>
          <a:xfrm>
            <a:off x="2926080" y="141732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E1B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3429000" y="137160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6B8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 build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2926080" y="1920240"/>
            <a:ext cx="1920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EF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HF Spaces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8EF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image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5120640" y="1280160"/>
            <a:ext cx="2194560" cy="1463040"/>
          </a:xfrm>
          <a:prstGeom prst="roundRect">
            <a:avLst>
              <a:gd name="adj" fmla="val 6250"/>
            </a:avLst>
          </a:prstGeom>
          <a:solidFill>
            <a:srgbClr val="233D5C"/>
          </a:solidFill>
          <a:ln w="19050">
            <a:solidFill>
              <a:srgbClr val="3FA88A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257800" y="1417320"/>
            <a:ext cx="411480" cy="411480"/>
          </a:xfrm>
          <a:prstGeom prst="ellipse">
            <a:avLst/>
          </a:prstGeom>
          <a:solidFill>
            <a:srgbClr val="3FA88A"/>
          </a:solidFill>
          <a:ln/>
        </p:spPr>
      </p:sp>
      <p:sp>
        <p:nvSpPr>
          <p:cNvPr id="15" name="Text 13"/>
          <p:cNvSpPr/>
          <p:nvPr/>
        </p:nvSpPr>
        <p:spPr>
          <a:xfrm>
            <a:off x="5257800" y="141732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E1B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5760720" y="137160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FA8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Push to HF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5257800" y="1920240"/>
            <a:ext cx="1920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EF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lfs for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8EF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7MB CSV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7452360" y="1280160"/>
            <a:ext cx="2194560" cy="1463040"/>
          </a:xfrm>
          <a:prstGeom prst="roundRect">
            <a:avLst>
              <a:gd name="adj" fmla="val 6250"/>
            </a:avLst>
          </a:prstGeom>
          <a:solidFill>
            <a:srgbClr val="233D5C"/>
          </a:solidFill>
          <a:ln w="19050">
            <a:solidFill>
              <a:srgbClr val="9B89E6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589520" y="1417320"/>
            <a:ext cx="411480" cy="411480"/>
          </a:xfrm>
          <a:prstGeom prst="ellipse">
            <a:avLst/>
          </a:prstGeom>
          <a:solidFill>
            <a:srgbClr val="9B89E6"/>
          </a:solidFill>
          <a:ln/>
        </p:spPr>
      </p:sp>
      <p:sp>
        <p:nvSpPr>
          <p:cNvPr id="20" name="Text 18"/>
          <p:cNvSpPr/>
          <p:nvPr/>
        </p:nvSpPr>
        <p:spPr>
          <a:xfrm>
            <a:off x="7589520" y="141732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E1B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8092440" y="137160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9B89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secrets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7589520" y="1920240"/>
            <a:ext cx="1920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EF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GOOGLE_API_KEY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8EF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Settings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9784080" y="1280160"/>
            <a:ext cx="2194560" cy="1463040"/>
          </a:xfrm>
          <a:prstGeom prst="roundRect">
            <a:avLst>
              <a:gd name="adj" fmla="val 6250"/>
            </a:avLst>
          </a:prstGeom>
          <a:solidFill>
            <a:srgbClr val="233D5C"/>
          </a:solidFill>
          <a:ln w="19050">
            <a:solidFill>
              <a:srgbClr val="7AC4A1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9921240" y="1417320"/>
            <a:ext cx="411480" cy="411480"/>
          </a:xfrm>
          <a:prstGeom prst="ellipse">
            <a:avLst/>
          </a:prstGeom>
          <a:solidFill>
            <a:srgbClr val="7AC4A1"/>
          </a:solidFill>
          <a:ln/>
        </p:spPr>
      </p:sp>
      <p:sp>
        <p:nvSpPr>
          <p:cNvPr id="25" name="Text 23"/>
          <p:cNvSpPr/>
          <p:nvPr/>
        </p:nvSpPr>
        <p:spPr>
          <a:xfrm>
            <a:off x="9921240" y="141732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E1B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10424160" y="137160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7AC4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9921240" y="1920240"/>
            <a:ext cx="1920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EF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 HTTPS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8EF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endpoint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457200" y="3108960"/>
            <a:ext cx="11247120" cy="3291840"/>
          </a:xfrm>
          <a:prstGeom prst="roundRect">
            <a:avLst>
              <a:gd name="adj" fmla="val 1389"/>
            </a:avLst>
          </a:prstGeom>
          <a:solidFill>
            <a:srgbClr val="0A1626"/>
          </a:solidFill>
          <a:ln w="12700">
            <a:solidFill>
              <a:srgbClr val="1A2F4A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40080" y="3246120"/>
            <a:ext cx="1088136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79C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</a:t>
            </a:r>
            <a:pPr indent="0" marL="0">
              <a:buNone/>
            </a:pPr>
            <a:r>
              <a:rPr lang="en-US" sz="1200" dirty="0">
                <a:solidFill>
                  <a:srgbClr val="E8EF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python:3.11-slim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79C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RUN </a:t>
            </a:r>
            <a:pPr indent="0" marL="0">
              <a:buNone/>
            </a:pPr>
            <a:r>
              <a:rPr lang="en-US" sz="1200" dirty="0">
                <a:solidFill>
                  <a:srgbClr val="E8EF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apt-get update &amp;&amp; apt-get install -y --no-install-recommends build-essential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79C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RUN </a:t>
            </a:r>
            <a:pPr indent="0" marL="0">
              <a:buNone/>
            </a:pPr>
            <a:r>
              <a:rPr lang="en-US" sz="1200" dirty="0">
                <a:solidFill>
                  <a:srgbClr val="E8EF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useradd -m -u 1000 user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79C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USER </a:t>
            </a:r>
            <a:pPr indent="0" marL="0">
              <a:buNone/>
            </a:pPr>
            <a:r>
              <a:rPr lang="en-US" sz="1200" dirty="0">
                <a:solidFill>
                  <a:srgbClr val="E8EF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user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79C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WORKDIR </a:t>
            </a:r>
            <a:pPr indent="0" marL="0">
              <a:buNone/>
            </a:pPr>
            <a:r>
              <a:rPr lang="en-US" sz="1200" dirty="0">
                <a:solidFill>
                  <a:srgbClr val="E8EF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/home/user/app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79C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COPY </a:t>
            </a:r>
            <a:pPr indent="0" marL="0">
              <a:buNone/>
            </a:pPr>
            <a:r>
              <a:rPr lang="en-US" sz="1200" dirty="0">
                <a:solidFill>
                  <a:srgbClr val="E8EF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--chown=user requirements.txt 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79C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RUN </a:t>
            </a:r>
            <a:pPr indent="0" marL="0">
              <a:buNone/>
            </a:pPr>
            <a:r>
              <a:rPr lang="en-US" sz="1200" dirty="0">
                <a:solidFill>
                  <a:srgbClr val="E8EF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pip install --no-cache-dir -r requirements.txt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79C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COPY </a:t>
            </a:r>
            <a:pPr indent="0" marL="0">
              <a:buNone/>
            </a:pPr>
            <a:r>
              <a:rPr lang="en-US" sz="1200" dirty="0">
                <a:solidFill>
                  <a:srgbClr val="E8EF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--chown=user . 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79C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EXPOSE </a:t>
            </a:r>
            <a:pPr indent="0" marL="0">
              <a:buNone/>
            </a:pPr>
            <a:r>
              <a:rPr lang="en-US" sz="1200" dirty="0">
                <a:solidFill>
                  <a:srgbClr val="E8EF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7860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79C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CMD </a:t>
            </a:r>
            <a:pPr indent="0" marL="0">
              <a:buNone/>
            </a:pPr>
            <a:r>
              <a:rPr lang="en-US" sz="1200" dirty="0">
                <a:solidFill>
                  <a:srgbClr val="E8EF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["streamlit", "run", "app.py", "--server.port=7860", "--server.address=0.0.0.0"]</a:t>
            </a:r>
            <a:endParaRPr lang="en-US" sz="12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0E1B2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E8EF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Zero-Friction Demo Loading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5BA4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 auto-discovers data and pre-computed artifacts on startup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457200" y="1645920"/>
            <a:ext cx="5486400" cy="4572000"/>
          </a:xfrm>
          <a:prstGeom prst="roundRect">
            <a:avLst>
              <a:gd name="adj" fmla="val 1000"/>
            </a:avLst>
          </a:prstGeom>
          <a:solidFill>
            <a:srgbClr val="0A1626"/>
          </a:solidFill>
          <a:ln w="12700">
            <a:solidFill>
              <a:srgbClr val="1A2F4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1783080"/>
            <a:ext cx="5212080" cy="4297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272A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Auto-discovery candidates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8EF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LOCAL_SYNTHETIC_DATA = [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8EF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os.getenv(</a:t>
            </a:r>
            <a:pPr indent="0" marL="0">
              <a:buNone/>
            </a:pPr>
            <a:r>
              <a:rPr lang="en-US" sz="1100" dirty="0">
                <a:solidFill>
                  <a:srgbClr val="F1FA8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'VRP_SYNTHETIC_DATA_DIR'</a:t>
            </a:r>
            <a:pPr indent="0" marL="0">
              <a:buNone/>
            </a:pPr>
            <a:r>
              <a:rPr lang="en-US" sz="1100" dirty="0">
                <a:solidFill>
                  <a:srgbClr val="E8EF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</a:t>
            </a:r>
            <a:pPr indent="0" marL="0">
              <a:buNone/>
            </a:pPr>
            <a:r>
              <a:rPr lang="en-US" sz="1100" dirty="0">
                <a:solidFill>
                  <a:srgbClr val="F1FA8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''</a:t>
            </a:r>
            <a:pPr indent="0" marL="0">
              <a:buNone/>
            </a:pPr>
            <a:r>
              <a:rPr lang="en-US" sz="1100" dirty="0">
                <a:solidFill>
                  <a:srgbClr val="E8EF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).strip(),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8EF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str(Path(__file__).parent / </a:t>
            </a:r>
            <a:pPr indent="0" marL="0">
              <a:buNone/>
            </a:pPr>
            <a:r>
              <a:rPr lang="en-US" sz="1100" dirty="0">
                <a:solidFill>
                  <a:srgbClr val="F1FA8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'data'</a:t>
            </a:r>
            <a:pPr indent="0" marL="0">
              <a:buNone/>
            </a:pPr>
            <a:r>
              <a:rPr lang="en-US" sz="1100" dirty="0">
                <a:solidFill>
                  <a:srgbClr val="E8EF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),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8EF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str(Path(__file__).parent / </a:t>
            </a:r>
            <a:pPr indent="0" marL="0">
              <a:buNone/>
            </a:pPr>
            <a:r>
              <a:rPr lang="en-US" sz="1100" dirty="0">
                <a:solidFill>
                  <a:srgbClr val="F1FA8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'synthetic_data'</a:t>
            </a:r>
            <a:pPr indent="0" marL="0">
              <a:buNone/>
            </a:pPr>
            <a:r>
              <a:rPr lang="en-US" sz="1100" dirty="0">
                <a:solidFill>
                  <a:srgbClr val="E8EF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),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8EF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8EF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LOCAL_ARTIFACTS = [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8EF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os.getenv(</a:t>
            </a:r>
            <a:pPr indent="0" marL="0">
              <a:buNone/>
            </a:pPr>
            <a:r>
              <a:rPr lang="en-US" sz="1100" dirty="0">
                <a:solidFill>
                  <a:srgbClr val="F1FA8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'VRP_NOTEBOOK_ARTIFACTS_DIR'</a:t>
            </a:r>
            <a:pPr indent="0" marL="0">
              <a:buNone/>
            </a:pPr>
            <a:r>
              <a:rPr lang="en-US" sz="1100" dirty="0">
                <a:solidFill>
                  <a:srgbClr val="E8EF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</a:t>
            </a:r>
            <a:pPr indent="0" marL="0">
              <a:buNone/>
            </a:pPr>
            <a:r>
              <a:rPr lang="en-US" sz="1100" dirty="0">
                <a:solidFill>
                  <a:srgbClr val="F1FA8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''</a:t>
            </a:r>
            <a:pPr indent="0" marL="0">
              <a:buNone/>
            </a:pPr>
            <a:r>
              <a:rPr lang="en-US" sz="1100" dirty="0">
                <a:solidFill>
                  <a:srgbClr val="E8EF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).strip(),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8EF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str(Path(__file__).parent / </a:t>
            </a:r>
            <a:pPr indent="0" marL="0">
              <a:buNone/>
            </a:pPr>
            <a:r>
              <a:rPr lang="en-US" sz="1100" dirty="0">
                <a:solidFill>
                  <a:srgbClr val="F1FA8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'artifacts'</a:t>
            </a:r>
            <a:pPr indent="0" marL="0">
              <a:buNone/>
            </a:pPr>
            <a:r>
              <a:rPr lang="en-US" sz="1100" dirty="0">
                <a:solidFill>
                  <a:srgbClr val="E8EF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),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8EF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6263640" y="1645920"/>
            <a:ext cx="5486400" cy="4572000"/>
          </a:xfrm>
          <a:prstGeom prst="roundRect">
            <a:avLst>
              <a:gd name="adj" fmla="val 2000"/>
            </a:avLst>
          </a:prstGeom>
          <a:solidFill>
            <a:srgbClr val="233D5C"/>
          </a:solidFill>
          <a:ln w="12700">
            <a:solidFill>
              <a:srgbClr val="7AC4A1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263640" y="1645920"/>
            <a:ext cx="73152" cy="4572000"/>
          </a:xfrm>
          <a:prstGeom prst="rect">
            <a:avLst/>
          </a:prstGeom>
          <a:solidFill>
            <a:srgbClr val="7AC4A1"/>
          </a:solidFill>
          <a:ln/>
        </p:spPr>
      </p:sp>
      <p:sp>
        <p:nvSpPr>
          <p:cNvPr id="8" name="Text 6"/>
          <p:cNvSpPr/>
          <p:nvPr/>
        </p:nvSpPr>
        <p:spPr>
          <a:xfrm>
            <a:off x="6492240" y="178308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7AC4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 user sees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6492240" y="2194560"/>
            <a:ext cx="5120640" cy="3931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8EF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Open the app → CSVs load automatically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8EF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Backend list shows '✓ found' for each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8EF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Default radio = 'Load saved workbook'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8EF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Click 'Build comparison' → instant results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8EF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No upload required for demo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8EF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Live solves still available with one click</a:t>
            </a:r>
            <a:endParaRPr lang="en-US" sz="12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0E1B2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E8EF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🎥 Demo Video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5BA4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15-minute walkthrough · all 6 tabs · AI Agent live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1371600" y="1645920"/>
            <a:ext cx="9418320" cy="4114800"/>
          </a:xfrm>
          <a:prstGeom prst="roundRect">
            <a:avLst>
              <a:gd name="adj" fmla="val 3333"/>
            </a:avLst>
          </a:prstGeom>
          <a:solidFill>
            <a:srgbClr val="0A0A0A"/>
          </a:solidFill>
          <a:ln w="25400">
            <a:solidFill>
              <a:srgbClr val="E68B6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 rot="5400000">
            <a:off x="5486400" y="3108960"/>
            <a:ext cx="1188720" cy="1188720"/>
          </a:xfrm>
          <a:prstGeom prst="triangle">
            <a:avLst/>
          </a:prstGeom>
          <a:solidFill>
            <a:srgbClr val="E68B6E"/>
          </a:solidFill>
          <a:ln/>
        </p:spPr>
      </p:sp>
      <p:sp>
        <p:nvSpPr>
          <p:cNvPr id="6" name="Text 4">
            <a:hlinkClick r:id="rId1" tooltip=""/>
          </p:cNvPr>
          <p:cNvSpPr/>
          <p:nvPr/>
        </p:nvSpPr>
        <p:spPr>
          <a:xfrm>
            <a:off x="1371600" y="4663440"/>
            <a:ext cx="9418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u="sng" dirty="0">
                <a:solidFill>
                  <a:srgbClr val="E8EFF7"/>
                </a:solidFill>
                <a:latin typeface="Consolas" pitchFamily="34" charset="0"/>
                <a:ea typeface="Consolas" pitchFamily="34" charset="-122"/>
                <a:cs typeface="Consolas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youtu.be/FqVuVjW20yo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57200" y="594360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8FA9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Click the link to watch the full walkthrough</a:t>
            </a:r>
            <a:endParaRPr lang="en-US" sz="12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0E1B2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E8EF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Design Decisions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1188720"/>
            <a:ext cx="3200400" cy="411480"/>
          </a:xfrm>
          <a:prstGeom prst="rect">
            <a:avLst/>
          </a:prstGeom>
          <a:solidFill>
            <a:srgbClr val="1A2F4A"/>
          </a:solidFill>
          <a:ln w="12700">
            <a:solidFill>
              <a:srgbClr val="0E1B2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188720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5BA4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3657600" y="1188720"/>
            <a:ext cx="3200400" cy="411480"/>
          </a:xfrm>
          <a:prstGeom prst="rect">
            <a:avLst/>
          </a:prstGeom>
          <a:solidFill>
            <a:srgbClr val="1A2F4A"/>
          </a:solidFill>
          <a:ln w="12700">
            <a:solidFill>
              <a:srgbClr val="0E1B2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0" y="1188720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5BA4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Alternative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6858000" y="1188720"/>
            <a:ext cx="4846320" cy="411480"/>
          </a:xfrm>
          <a:prstGeom prst="rect">
            <a:avLst/>
          </a:prstGeom>
          <a:solidFill>
            <a:srgbClr val="1A2F4A"/>
          </a:solidFill>
          <a:ln w="12700">
            <a:solidFill>
              <a:srgbClr val="0E1B2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858000" y="1188720"/>
            <a:ext cx="4846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5BA4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this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57200" y="1600200"/>
            <a:ext cx="3200400" cy="502920"/>
          </a:xfrm>
          <a:prstGeom prst="rect">
            <a:avLst/>
          </a:prstGeom>
          <a:solidFill>
            <a:srgbClr val="233D5C"/>
          </a:solidFill>
          <a:ln w="6350">
            <a:solidFill>
              <a:srgbClr val="1A2F4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94360" y="1600200"/>
            <a:ext cx="2926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8EF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Gemini 2.0 Flash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657600" y="1600200"/>
            <a:ext cx="3200400" cy="502920"/>
          </a:xfrm>
          <a:prstGeom prst="rect">
            <a:avLst/>
          </a:prstGeom>
          <a:solidFill>
            <a:srgbClr val="233D5C"/>
          </a:solidFill>
          <a:ln w="6350">
            <a:solidFill>
              <a:srgbClr val="1A2F4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794760" y="1600200"/>
            <a:ext cx="2926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EF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Sonnet, GPT-4o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858000" y="1600200"/>
            <a:ext cx="4846320" cy="502920"/>
          </a:xfrm>
          <a:prstGeom prst="rect">
            <a:avLst/>
          </a:prstGeom>
          <a:solidFill>
            <a:srgbClr val="233D5C"/>
          </a:solidFill>
          <a:ln w="6350">
            <a:solidFill>
              <a:srgbClr val="1A2F4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995160" y="1600200"/>
            <a:ext cx="4572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EF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 1500/day, no card, strong function-calling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57200" y="2103120"/>
            <a:ext cx="3200400" cy="502920"/>
          </a:xfrm>
          <a:prstGeom prst="rect">
            <a:avLst/>
          </a:prstGeom>
          <a:solidFill>
            <a:srgbClr val="1A3D33"/>
          </a:solidFill>
          <a:ln w="6350">
            <a:solidFill>
              <a:srgbClr val="1A2F4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94360" y="2103120"/>
            <a:ext cx="2926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7AC4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Split-solve for OR-Tools EA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3657600" y="2103120"/>
            <a:ext cx="3200400" cy="502920"/>
          </a:xfrm>
          <a:prstGeom prst="rect">
            <a:avLst/>
          </a:prstGeom>
          <a:solidFill>
            <a:srgbClr val="1A3D33"/>
          </a:solidFill>
          <a:ln w="6350">
            <a:solidFill>
              <a:srgbClr val="1A2F4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794760" y="2103120"/>
            <a:ext cx="2926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7AC4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Pin locked stops in model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6858000" y="2103120"/>
            <a:ext cx="4846320" cy="502920"/>
          </a:xfrm>
          <a:prstGeom prst="rect">
            <a:avLst/>
          </a:prstGeom>
          <a:solidFill>
            <a:srgbClr val="1A3D33"/>
          </a:solidFill>
          <a:ln w="6350">
            <a:solidFill>
              <a:srgbClr val="1A2F4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995160" y="2103120"/>
            <a:ext cx="4572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7AC4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Naïve pinning makes PATH_CHEAPEST_ARC infeasible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457200" y="2606040"/>
            <a:ext cx="3200400" cy="502920"/>
          </a:xfrm>
          <a:prstGeom prst="rect">
            <a:avLst/>
          </a:prstGeom>
          <a:solidFill>
            <a:srgbClr val="233D5C"/>
          </a:solidFill>
          <a:ln w="6350">
            <a:solidFill>
              <a:srgbClr val="1A2F4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94360" y="2606040"/>
            <a:ext cx="2926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8EF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Greedy fallback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3657600" y="2606040"/>
            <a:ext cx="3200400" cy="502920"/>
          </a:xfrm>
          <a:prstGeom prst="rect">
            <a:avLst/>
          </a:prstGeom>
          <a:solidFill>
            <a:srgbClr val="233D5C"/>
          </a:solidFill>
          <a:ln w="6350">
            <a:solidFill>
              <a:srgbClr val="1A2F4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794760" y="2606040"/>
            <a:ext cx="2926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EF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Reject any-drop solutions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6858000" y="2606040"/>
            <a:ext cx="4846320" cy="502920"/>
          </a:xfrm>
          <a:prstGeom prst="rect">
            <a:avLst/>
          </a:prstGeom>
          <a:solidFill>
            <a:srgbClr val="233D5C"/>
          </a:solidFill>
          <a:ln w="6350">
            <a:solidFill>
              <a:srgbClr val="1A2F4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995160" y="2606040"/>
            <a:ext cx="4572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EF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Guarantees 100% assignment, rarely triggers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457200" y="3108960"/>
            <a:ext cx="3200400" cy="502920"/>
          </a:xfrm>
          <a:prstGeom prst="rect">
            <a:avLst/>
          </a:prstGeom>
          <a:solidFill>
            <a:srgbClr val="233D5C"/>
          </a:solidFill>
          <a:ln w="6350">
            <a:solidFill>
              <a:srgbClr val="1A2F4A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94360" y="3108960"/>
            <a:ext cx="2926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8EF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Locked-prefix mechanism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3657600" y="3108960"/>
            <a:ext cx="3200400" cy="502920"/>
          </a:xfrm>
          <a:prstGeom prst="rect">
            <a:avLst/>
          </a:prstGeom>
          <a:solidFill>
            <a:srgbClr val="233D5C"/>
          </a:solidFill>
          <a:ln w="6350">
            <a:solidFill>
              <a:srgbClr val="1A2F4A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794760" y="3108960"/>
            <a:ext cx="2926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EF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re-solve per scenario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6858000" y="3108960"/>
            <a:ext cx="4846320" cy="502920"/>
          </a:xfrm>
          <a:prstGeom prst="rect">
            <a:avLst/>
          </a:prstGeom>
          <a:solidFill>
            <a:srgbClr val="233D5C"/>
          </a:solidFill>
          <a:ln w="6350">
            <a:solidFill>
              <a:srgbClr val="1A2F4A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995160" y="3108960"/>
            <a:ext cx="4572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EF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Preserves in-progress work, 11% faster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457200" y="3611880"/>
            <a:ext cx="3200400" cy="502920"/>
          </a:xfrm>
          <a:prstGeom prst="rect">
            <a:avLst/>
          </a:prstGeom>
          <a:solidFill>
            <a:srgbClr val="233D5C"/>
          </a:solidFill>
          <a:ln w="6350">
            <a:solidFill>
              <a:srgbClr val="1A2F4A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94360" y="3611880"/>
            <a:ext cx="2926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8EF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Haversine distance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3657600" y="3611880"/>
            <a:ext cx="3200400" cy="502920"/>
          </a:xfrm>
          <a:prstGeom prst="rect">
            <a:avLst/>
          </a:prstGeom>
          <a:solidFill>
            <a:srgbClr val="233D5C"/>
          </a:solidFill>
          <a:ln w="6350">
            <a:solidFill>
              <a:srgbClr val="1A2F4A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3794760" y="3611880"/>
            <a:ext cx="2926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EF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OSRM for all backends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6858000" y="3611880"/>
            <a:ext cx="4846320" cy="502920"/>
          </a:xfrm>
          <a:prstGeom prst="rect">
            <a:avLst/>
          </a:prstGeom>
          <a:solidFill>
            <a:srgbClr val="233D5C"/>
          </a:solidFill>
          <a:ln w="6350">
            <a:solidFill>
              <a:srgbClr val="1A2F4A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995160" y="3611880"/>
            <a:ext cx="4572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EF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 OSRM rate-limited; haversine = consistent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457200" y="4114800"/>
            <a:ext cx="3200400" cy="502920"/>
          </a:xfrm>
          <a:prstGeom prst="rect">
            <a:avLst/>
          </a:prstGeom>
          <a:solidFill>
            <a:srgbClr val="233D5C"/>
          </a:solidFill>
          <a:ln w="6350">
            <a:solidFill>
              <a:srgbClr val="1A2F4A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594360" y="4114800"/>
            <a:ext cx="2926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8EF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ortools_allow_drop = True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3657600" y="4114800"/>
            <a:ext cx="3200400" cy="502920"/>
          </a:xfrm>
          <a:prstGeom prst="rect">
            <a:avLst/>
          </a:prstGeom>
          <a:solidFill>
            <a:srgbClr val="233D5C"/>
          </a:solidFill>
          <a:ln w="6350">
            <a:solidFill>
              <a:srgbClr val="1A2F4A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3794760" y="4114800"/>
            <a:ext cx="2926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EF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Hard-assign all orders</a:t>
            </a:r>
            <a:endParaRPr lang="en-US" sz="1100" dirty="0"/>
          </a:p>
        </p:txBody>
      </p:sp>
      <p:sp>
        <p:nvSpPr>
          <p:cNvPr id="43" name="Shape 41"/>
          <p:cNvSpPr/>
          <p:nvPr/>
        </p:nvSpPr>
        <p:spPr>
          <a:xfrm>
            <a:off x="6858000" y="4114800"/>
            <a:ext cx="4846320" cy="502920"/>
          </a:xfrm>
          <a:prstGeom prst="rect">
            <a:avLst/>
          </a:prstGeom>
          <a:solidFill>
            <a:srgbClr val="233D5C"/>
          </a:solidFill>
          <a:ln w="6350">
            <a:solidFill>
              <a:srgbClr val="1A2F4A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6995160" y="4114800"/>
            <a:ext cx="4572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EF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Disjunction prizes improve quality</a:t>
            </a:r>
            <a:endParaRPr lang="en-US" sz="1100" dirty="0"/>
          </a:p>
        </p:txBody>
      </p:sp>
      <p:sp>
        <p:nvSpPr>
          <p:cNvPr id="45" name="Shape 43"/>
          <p:cNvSpPr/>
          <p:nvPr/>
        </p:nvSpPr>
        <p:spPr>
          <a:xfrm>
            <a:off x="457200" y="4617720"/>
            <a:ext cx="3200400" cy="502920"/>
          </a:xfrm>
          <a:prstGeom prst="rect">
            <a:avLst/>
          </a:prstGeom>
          <a:solidFill>
            <a:srgbClr val="233D5C"/>
          </a:solidFill>
          <a:ln w="6350">
            <a:solidFill>
              <a:srgbClr val="1A2F4A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594360" y="4617720"/>
            <a:ext cx="2926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8EF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 fixed scenarios</a:t>
            </a:r>
            <a:endParaRPr lang="en-US" sz="1100" dirty="0"/>
          </a:p>
        </p:txBody>
      </p:sp>
      <p:sp>
        <p:nvSpPr>
          <p:cNvPr id="47" name="Shape 45"/>
          <p:cNvSpPr/>
          <p:nvPr/>
        </p:nvSpPr>
        <p:spPr>
          <a:xfrm>
            <a:off x="3657600" y="4617720"/>
            <a:ext cx="3200400" cy="502920"/>
          </a:xfrm>
          <a:prstGeom prst="rect">
            <a:avLst/>
          </a:prstGeom>
          <a:solidFill>
            <a:srgbClr val="233D5C"/>
          </a:solidFill>
          <a:ln w="6350">
            <a:solidFill>
              <a:srgbClr val="1A2F4A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3794760" y="4617720"/>
            <a:ext cx="2926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EF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User-defined mutations</a:t>
            </a:r>
            <a:endParaRPr lang="en-US" sz="1100" dirty="0"/>
          </a:p>
        </p:txBody>
      </p:sp>
      <p:sp>
        <p:nvSpPr>
          <p:cNvPr id="49" name="Shape 47"/>
          <p:cNvSpPr/>
          <p:nvPr/>
        </p:nvSpPr>
        <p:spPr>
          <a:xfrm>
            <a:off x="6858000" y="4617720"/>
            <a:ext cx="4846320" cy="502920"/>
          </a:xfrm>
          <a:prstGeom prst="rect">
            <a:avLst/>
          </a:prstGeom>
          <a:solidFill>
            <a:srgbClr val="233D5C"/>
          </a:solidFill>
          <a:ln w="6350">
            <a:solidFill>
              <a:srgbClr val="1A2F4A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6995160" y="4617720"/>
            <a:ext cx="4572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EF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Reproducible benchmarks, fair compare</a:t>
            </a:r>
            <a:endParaRPr lang="en-US" sz="1100" dirty="0"/>
          </a:p>
        </p:txBody>
      </p:sp>
      <p:sp>
        <p:nvSpPr>
          <p:cNvPr id="51" name="Shape 49"/>
          <p:cNvSpPr/>
          <p:nvPr/>
        </p:nvSpPr>
        <p:spPr>
          <a:xfrm>
            <a:off x="457200" y="5120640"/>
            <a:ext cx="3200400" cy="502920"/>
          </a:xfrm>
          <a:prstGeom prst="rect">
            <a:avLst/>
          </a:prstGeom>
          <a:solidFill>
            <a:srgbClr val="233D5C"/>
          </a:solidFill>
          <a:ln w="6350">
            <a:solidFill>
              <a:srgbClr val="1A2F4A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594360" y="5120640"/>
            <a:ext cx="2926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8EF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Streamlit (not Gradio)</a:t>
            </a:r>
            <a:endParaRPr lang="en-US" sz="1100" dirty="0"/>
          </a:p>
        </p:txBody>
      </p:sp>
      <p:sp>
        <p:nvSpPr>
          <p:cNvPr id="53" name="Shape 51"/>
          <p:cNvSpPr/>
          <p:nvPr/>
        </p:nvSpPr>
        <p:spPr>
          <a:xfrm>
            <a:off x="3657600" y="5120640"/>
            <a:ext cx="3200400" cy="502920"/>
          </a:xfrm>
          <a:prstGeom prst="rect">
            <a:avLst/>
          </a:prstGeom>
          <a:solidFill>
            <a:srgbClr val="233D5C"/>
          </a:solidFill>
          <a:ln w="6350">
            <a:solidFill>
              <a:srgbClr val="1A2F4A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3794760" y="5120640"/>
            <a:ext cx="2926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EF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Gradio, Dash</a:t>
            </a:r>
            <a:endParaRPr lang="en-US" sz="1100" dirty="0"/>
          </a:p>
        </p:txBody>
      </p:sp>
      <p:sp>
        <p:nvSpPr>
          <p:cNvPr id="55" name="Shape 53"/>
          <p:cNvSpPr/>
          <p:nvPr/>
        </p:nvSpPr>
        <p:spPr>
          <a:xfrm>
            <a:off x="6858000" y="5120640"/>
            <a:ext cx="4846320" cy="502920"/>
          </a:xfrm>
          <a:prstGeom prst="rect">
            <a:avLst/>
          </a:prstGeom>
          <a:solidFill>
            <a:srgbClr val="233D5C"/>
          </a:solidFill>
          <a:ln w="6350">
            <a:solidFill>
              <a:srgbClr val="1A2F4A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6995160" y="5120640"/>
            <a:ext cx="4572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EF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multi-tab UX, native dataframe rendering</a:t>
            </a:r>
            <a:endParaRPr lang="en-US" sz="11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0E1B2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E8EF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Roadmap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1463040"/>
            <a:ext cx="5486400" cy="4572000"/>
          </a:xfrm>
          <a:prstGeom prst="roundRect">
            <a:avLst>
              <a:gd name="adj" fmla="val 2000"/>
            </a:avLst>
          </a:prstGeom>
          <a:solidFill>
            <a:srgbClr val="233D5C"/>
          </a:solidFill>
          <a:ln w="12700">
            <a:solidFill>
              <a:srgbClr val="7AC4A1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1463040"/>
            <a:ext cx="73152" cy="4572000"/>
          </a:xfrm>
          <a:prstGeom prst="rect">
            <a:avLst/>
          </a:prstGeom>
          <a:solidFill>
            <a:srgbClr val="7AC4A1"/>
          </a:solidFill>
          <a:ln/>
        </p:spPr>
      </p:sp>
      <p:sp>
        <p:nvSpPr>
          <p:cNvPr id="5" name="Text 3"/>
          <p:cNvSpPr/>
          <p:nvPr/>
        </p:nvSpPr>
        <p:spPr>
          <a:xfrm>
            <a:off x="685800" y="160020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7AC4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Near-term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685800" y="2011680"/>
            <a:ext cx="5120640" cy="3931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8EF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CI/CD with benchmark regression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8EF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Persist OSRM cache to disk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8EF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Multi-depot solving support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8EF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SLA breach prediction model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8EF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OpenAPI spec for headless solves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8EF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Real-time technician GPS feed integration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8EF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Add structured logging and request tracing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6263640" y="1463040"/>
            <a:ext cx="5486400" cy="4572000"/>
          </a:xfrm>
          <a:prstGeom prst="roundRect">
            <a:avLst>
              <a:gd name="adj" fmla="val 2000"/>
            </a:avLst>
          </a:prstGeom>
          <a:solidFill>
            <a:srgbClr val="233D5C"/>
          </a:solidFill>
          <a:ln w="12700">
            <a:solidFill>
              <a:srgbClr val="E6B85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263640" y="1463040"/>
            <a:ext cx="73152" cy="4572000"/>
          </a:xfrm>
          <a:prstGeom prst="rect">
            <a:avLst/>
          </a:prstGeom>
          <a:solidFill>
            <a:srgbClr val="E6B85B"/>
          </a:solidFill>
          <a:ln/>
        </p:spPr>
      </p:sp>
      <p:sp>
        <p:nvSpPr>
          <p:cNvPr id="9" name="Text 7"/>
          <p:cNvSpPr/>
          <p:nvPr/>
        </p:nvSpPr>
        <p:spPr>
          <a:xfrm>
            <a:off x="6492240" y="160020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6B8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Long-term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6492240" y="2011680"/>
            <a:ext cx="5120640" cy="3931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8EF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Anthropic Claude as alternative agent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8EF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Kubernetes deployment manifest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8EF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A/B testing for cost function variants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8EF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Production load + concurrency tests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8EF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Move to async backend execution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8EF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Add per-customer custom scenarios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8EF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Streaming agent responses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57200" y="6126480"/>
            <a:ext cx="73152" cy="640080"/>
          </a:xfrm>
          <a:prstGeom prst="rect">
            <a:avLst/>
          </a:prstGeom>
          <a:solidFill>
            <a:srgbClr val="E6B85B"/>
          </a:solidFill>
          <a:ln/>
        </p:spPr>
      </p:sp>
      <p:sp>
        <p:nvSpPr>
          <p:cNvPr id="12" name="Shape 10"/>
          <p:cNvSpPr/>
          <p:nvPr/>
        </p:nvSpPr>
        <p:spPr>
          <a:xfrm>
            <a:off x="530352" y="6126480"/>
            <a:ext cx="11173968" cy="640080"/>
          </a:xfrm>
          <a:prstGeom prst="rect">
            <a:avLst/>
          </a:prstGeom>
          <a:solidFill>
            <a:srgbClr val="233D5C"/>
          </a:solidFill>
          <a:ln/>
        </p:spPr>
      </p:sp>
      <p:sp>
        <p:nvSpPr>
          <p:cNvPr id="13" name="Text 11"/>
          <p:cNvSpPr/>
          <p:nvPr/>
        </p:nvSpPr>
        <p:spPr>
          <a:xfrm>
            <a:off x="731520" y="6217920"/>
            <a:ext cx="10789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E8EF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solving a routing problem to shipping an autonomous, execution-aware platform.</a:t>
            </a:r>
            <a:endParaRPr lang="en-US" sz="16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0E1B2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E8EF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Thought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1280160"/>
            <a:ext cx="73152" cy="2194560"/>
          </a:xfrm>
          <a:prstGeom prst="rect">
            <a:avLst/>
          </a:prstGeom>
          <a:solidFill>
            <a:srgbClr val="E6B85B"/>
          </a:solidFill>
          <a:ln/>
        </p:spPr>
      </p:sp>
      <p:sp>
        <p:nvSpPr>
          <p:cNvPr id="4" name="Shape 2"/>
          <p:cNvSpPr/>
          <p:nvPr/>
        </p:nvSpPr>
        <p:spPr>
          <a:xfrm>
            <a:off x="530352" y="1280160"/>
            <a:ext cx="11173968" cy="2194560"/>
          </a:xfrm>
          <a:prstGeom prst="rect">
            <a:avLst/>
          </a:prstGeom>
          <a:solidFill>
            <a:srgbClr val="233D5C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1371600"/>
            <a:ext cx="1078992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E8EF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real value is not only the OR-Tools EA winner backend.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i="1" dirty="0">
                <a:solidFill>
                  <a:srgbClr val="E8EF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It's the comparative benchmark scaffolding, the locked-prefix mechanism, and the agentic AI layer that together make the system operationally trustworthy.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457200" y="4023360"/>
            <a:ext cx="1783080" cy="1280160"/>
          </a:xfrm>
          <a:prstGeom prst="roundRect">
            <a:avLst>
              <a:gd name="adj" fmla="val 7143"/>
            </a:avLst>
          </a:prstGeom>
          <a:solidFill>
            <a:srgbClr val="233D5C"/>
          </a:solidFill>
          <a:ln w="12700">
            <a:solidFill>
              <a:srgbClr val="1A2F4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4114800"/>
            <a:ext cx="1783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7AC4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</a:t>
            </a:r>
            <a:endParaRPr lang="en-US" sz="3600" dirty="0"/>
          </a:p>
        </p:txBody>
      </p:sp>
      <p:sp>
        <p:nvSpPr>
          <p:cNvPr id="8" name="Text 6"/>
          <p:cNvSpPr/>
          <p:nvPr/>
        </p:nvSpPr>
        <p:spPr>
          <a:xfrm>
            <a:off x="457200" y="4800600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150" kern="0" dirty="0">
                <a:solidFill>
                  <a:srgbClr val="8FA9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ASSIGNMENT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2423160" y="4023360"/>
            <a:ext cx="1783080" cy="1280160"/>
          </a:xfrm>
          <a:prstGeom prst="roundRect">
            <a:avLst>
              <a:gd name="adj" fmla="val 7143"/>
            </a:avLst>
          </a:prstGeom>
          <a:solidFill>
            <a:srgbClr val="233D5C"/>
          </a:solidFill>
          <a:ln w="12700">
            <a:solidFill>
              <a:srgbClr val="1A2F4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423160" y="4114800"/>
            <a:ext cx="1783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7AC4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3600" dirty="0"/>
          </a:p>
        </p:txBody>
      </p:sp>
      <p:sp>
        <p:nvSpPr>
          <p:cNvPr id="11" name="Text 9"/>
          <p:cNvSpPr/>
          <p:nvPr/>
        </p:nvSpPr>
        <p:spPr>
          <a:xfrm>
            <a:off x="2423160" y="4800600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150" kern="0" dirty="0">
                <a:solidFill>
                  <a:srgbClr val="8FA9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VIOLATIONS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4389120" y="4023360"/>
            <a:ext cx="1783080" cy="1280160"/>
          </a:xfrm>
          <a:prstGeom prst="roundRect">
            <a:avLst>
              <a:gd name="adj" fmla="val 7143"/>
            </a:avLst>
          </a:prstGeom>
          <a:solidFill>
            <a:srgbClr val="233D5C"/>
          </a:solidFill>
          <a:ln w="12700">
            <a:solidFill>
              <a:srgbClr val="1A2F4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389120" y="4114800"/>
            <a:ext cx="1783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7AC4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770s</a:t>
            </a:r>
            <a:endParaRPr lang="en-US" sz="3600" dirty="0"/>
          </a:p>
        </p:txBody>
      </p:sp>
      <p:sp>
        <p:nvSpPr>
          <p:cNvPr id="14" name="Text 12"/>
          <p:cNvSpPr/>
          <p:nvPr/>
        </p:nvSpPr>
        <p:spPr>
          <a:xfrm>
            <a:off x="4389120" y="4800600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150" kern="0" dirty="0">
                <a:solidFill>
                  <a:srgbClr val="8FA9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RUNTIME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6355080" y="4023360"/>
            <a:ext cx="1783080" cy="1280160"/>
          </a:xfrm>
          <a:prstGeom prst="roundRect">
            <a:avLst>
              <a:gd name="adj" fmla="val 7143"/>
            </a:avLst>
          </a:prstGeom>
          <a:solidFill>
            <a:srgbClr val="233D5C"/>
          </a:solidFill>
          <a:ln w="12700">
            <a:solidFill>
              <a:srgbClr val="1A2F4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355080" y="4114800"/>
            <a:ext cx="1783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7AC4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3600" dirty="0"/>
          </a:p>
        </p:txBody>
      </p:sp>
      <p:sp>
        <p:nvSpPr>
          <p:cNvPr id="17" name="Text 15"/>
          <p:cNvSpPr/>
          <p:nvPr/>
        </p:nvSpPr>
        <p:spPr>
          <a:xfrm>
            <a:off x="6355080" y="4800600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150" kern="0" dirty="0">
                <a:solidFill>
                  <a:srgbClr val="8FA9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SOLVERS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8321040" y="4023360"/>
            <a:ext cx="1783080" cy="1280160"/>
          </a:xfrm>
          <a:prstGeom prst="roundRect">
            <a:avLst>
              <a:gd name="adj" fmla="val 7143"/>
            </a:avLst>
          </a:prstGeom>
          <a:solidFill>
            <a:srgbClr val="233D5C"/>
          </a:solidFill>
          <a:ln w="12700">
            <a:solidFill>
              <a:srgbClr val="1A2F4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321040" y="4114800"/>
            <a:ext cx="1783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7AC4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3600" dirty="0"/>
          </a:p>
        </p:txBody>
      </p:sp>
      <p:sp>
        <p:nvSpPr>
          <p:cNvPr id="20" name="Text 18"/>
          <p:cNvSpPr/>
          <p:nvPr/>
        </p:nvSpPr>
        <p:spPr>
          <a:xfrm>
            <a:off x="8321040" y="4800600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150" kern="0" dirty="0">
                <a:solidFill>
                  <a:srgbClr val="8FA9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SCENARIOS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10287000" y="4023360"/>
            <a:ext cx="1508760" cy="1280160"/>
          </a:xfrm>
          <a:prstGeom prst="roundRect">
            <a:avLst>
              <a:gd name="adj" fmla="val 7143"/>
            </a:avLst>
          </a:prstGeom>
          <a:solidFill>
            <a:srgbClr val="233D5C"/>
          </a:solidFill>
          <a:ln w="12700">
            <a:solidFill>
              <a:srgbClr val="1A2F4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0287000" y="4114800"/>
            <a:ext cx="1508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7AC4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3600" dirty="0"/>
          </a:p>
        </p:txBody>
      </p:sp>
      <p:sp>
        <p:nvSpPr>
          <p:cNvPr id="23" name="Text 21"/>
          <p:cNvSpPr/>
          <p:nvPr/>
        </p:nvSpPr>
        <p:spPr>
          <a:xfrm>
            <a:off x="10287000" y="4800600"/>
            <a:ext cx="1508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150" kern="0" dirty="0">
                <a:solidFill>
                  <a:srgbClr val="8FA9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AGENT</a:t>
            </a:r>
            <a:endParaRPr lang="en-US" sz="9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0E1B2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112471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600" b="1" dirty="0">
                <a:solidFill>
                  <a:srgbClr val="7AC4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</a:t>
            </a:r>
            <a:endParaRPr lang="en-US" sz="5600" dirty="0"/>
          </a:p>
        </p:txBody>
      </p:sp>
      <p:sp>
        <p:nvSpPr>
          <p:cNvPr id="3" name="Text 1"/>
          <p:cNvSpPr/>
          <p:nvPr/>
        </p:nvSpPr>
        <p:spPr>
          <a:xfrm>
            <a:off x="457200" y="1371600"/>
            <a:ext cx="11247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i="1" dirty="0">
                <a:solidFill>
                  <a:srgbClr val="5BA4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Questions? Find everything here: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457200" y="2103120"/>
            <a:ext cx="5486400" cy="1828800"/>
          </a:xfrm>
          <a:prstGeom prst="roundRect">
            <a:avLst>
              <a:gd name="adj" fmla="val 5000"/>
            </a:avLst>
          </a:prstGeom>
          <a:solidFill>
            <a:srgbClr val="233D5C"/>
          </a:solidFill>
          <a:ln w="12700">
            <a:solidFill>
              <a:srgbClr val="5BA4E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2103120"/>
            <a:ext cx="73152" cy="1828800"/>
          </a:xfrm>
          <a:prstGeom prst="rect">
            <a:avLst/>
          </a:prstGeom>
          <a:solidFill>
            <a:srgbClr val="5BA4E6"/>
          </a:solidFill>
          <a:ln/>
        </p:spPr>
      </p:sp>
      <p:sp>
        <p:nvSpPr>
          <p:cNvPr id="6" name="Text 4"/>
          <p:cNvSpPr/>
          <p:nvPr/>
        </p:nvSpPr>
        <p:spPr>
          <a:xfrm>
            <a:off x="685800" y="224028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5BA4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📦 Source Code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685800" y="2651760"/>
            <a:ext cx="51206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8EF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github.com/dranubhaparashar/Execution-Aware-Agentic-VRP-Solver-and-Benchmark-Studio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263640" y="2103120"/>
            <a:ext cx="5486400" cy="1828800"/>
          </a:xfrm>
          <a:prstGeom prst="roundRect">
            <a:avLst>
              <a:gd name="adj" fmla="val 5000"/>
            </a:avLst>
          </a:prstGeom>
          <a:solidFill>
            <a:srgbClr val="233D5C"/>
          </a:solidFill>
          <a:ln w="12700">
            <a:solidFill>
              <a:srgbClr val="7AC4A1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263640" y="2103120"/>
            <a:ext cx="73152" cy="1828800"/>
          </a:xfrm>
          <a:prstGeom prst="rect">
            <a:avLst/>
          </a:prstGeom>
          <a:solidFill>
            <a:srgbClr val="7AC4A1"/>
          </a:solidFill>
          <a:ln/>
        </p:spPr>
      </p:sp>
      <p:sp>
        <p:nvSpPr>
          <p:cNvPr id="10" name="Text 8"/>
          <p:cNvSpPr/>
          <p:nvPr/>
        </p:nvSpPr>
        <p:spPr>
          <a:xfrm>
            <a:off x="6492240" y="224028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7AC4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🚀 Live App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6492240" y="2651760"/>
            <a:ext cx="51206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8EF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huggingface.co/spaces/AnubhaParashar/Execution-Aware-Agentic-VRP-Solver-and-Benchmark-Studio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57200" y="4114800"/>
            <a:ext cx="5486400" cy="1828800"/>
          </a:xfrm>
          <a:prstGeom prst="roundRect">
            <a:avLst>
              <a:gd name="adj" fmla="val 5000"/>
            </a:avLst>
          </a:prstGeom>
          <a:solidFill>
            <a:srgbClr val="233D5C"/>
          </a:solidFill>
          <a:ln w="12700">
            <a:solidFill>
              <a:srgbClr val="E6B85B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57200" y="4114800"/>
            <a:ext cx="73152" cy="1828800"/>
          </a:xfrm>
          <a:prstGeom prst="rect">
            <a:avLst/>
          </a:prstGeom>
          <a:solidFill>
            <a:srgbClr val="E6B85B"/>
          </a:solidFill>
          <a:ln/>
        </p:spPr>
      </p:sp>
      <p:sp>
        <p:nvSpPr>
          <p:cNvPr id="14" name="Text 12"/>
          <p:cNvSpPr/>
          <p:nvPr/>
        </p:nvSpPr>
        <p:spPr>
          <a:xfrm>
            <a:off x="685800" y="425196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6B8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🎥 Demo Video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685800" y="4663440"/>
            <a:ext cx="51206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8EF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youtu.be/FqVuVjW20yo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8EF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15-minute walkthrough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263640" y="4114800"/>
            <a:ext cx="5486400" cy="1828800"/>
          </a:xfrm>
          <a:prstGeom prst="roundRect">
            <a:avLst>
              <a:gd name="adj" fmla="val 5000"/>
            </a:avLst>
          </a:prstGeom>
          <a:solidFill>
            <a:srgbClr val="233D5C"/>
          </a:solidFill>
          <a:ln w="12700">
            <a:solidFill>
              <a:srgbClr val="9B89E6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263640" y="4114800"/>
            <a:ext cx="73152" cy="1828800"/>
          </a:xfrm>
          <a:prstGeom prst="rect">
            <a:avLst/>
          </a:prstGeom>
          <a:solidFill>
            <a:srgbClr val="9B89E6"/>
          </a:solidFill>
          <a:ln/>
        </p:spPr>
      </p:sp>
      <p:sp>
        <p:nvSpPr>
          <p:cNvPr id="18" name="Text 16"/>
          <p:cNvSpPr/>
          <p:nvPr/>
        </p:nvSpPr>
        <p:spPr>
          <a:xfrm>
            <a:off x="6492240" y="425196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9B89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📚 Wiki Docs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6492240" y="4663440"/>
            <a:ext cx="51206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8EF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 · Algorithm Comparison · Function Reference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57200" y="621792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8FA9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with ❤ by Anubha Parashar  ·  MIT licensed  ·  April 2026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31</Slides>
  <Notes>31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31</vt:i4>
      </vt:variant>
    </vt:vector>
  </HeadingPairs>
  <TitlesOfParts>
    <vt:vector size="3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Execution-Aware Agentic VRP Solver and Benchmark Studio</dc:title>
  <dc:subject>Deep technical walkthrough</dc:subject>
  <dc:creator>Anubha Parashar</dc:creator>
  <cp:lastModifiedBy>Anubha Parashar</cp:lastModifiedBy>
  <cp:revision>1</cp:revision>
  <dcterms:created xsi:type="dcterms:W3CDTF">2026-04-27T02:00:31Z</dcterms:created>
  <dcterms:modified xsi:type="dcterms:W3CDTF">2026-04-27T02:00:31Z</dcterms:modified>
</cp:coreProperties>
</file>