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49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distance (km)</c:v>
                </c:pt>
              </c:strCache>
            </c:strRef>
          </c:tx>
          <c:spPr>
            <a:solidFill>
              <a:srgbClr val="7AC4A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EB0-4DCF-B678-3AE6AA79EE43}"/>
              </c:ext>
            </c:extLst>
          </c:dPt>
          <c:dPt>
            <c:idx val="1"/>
            <c:invertIfNegative val="0"/>
            <c:bubble3D val="0"/>
            <c:spPr>
              <a:solidFill>
                <a:srgbClr val="5BA4E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EB0-4DCF-B678-3AE6AA79EE43}"/>
              </c:ext>
            </c:extLst>
          </c:dPt>
          <c:dPt>
            <c:idx val="2"/>
            <c:invertIfNegative val="0"/>
            <c:bubble3D val="0"/>
            <c:spPr>
              <a:solidFill>
                <a:srgbClr val="E6B85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EB0-4DCF-B678-3AE6AA79EE43}"/>
              </c:ext>
            </c:extLst>
          </c:dPt>
          <c:dPt>
            <c:idx val="3"/>
            <c:invertIfNegative val="0"/>
            <c:bubble3D val="0"/>
            <c:spPr>
              <a:solidFill>
                <a:srgbClr val="9B89E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EB0-4DCF-B678-3AE6AA79EE43}"/>
              </c:ext>
            </c:extLst>
          </c:dPt>
          <c:dPt>
            <c:idx val="4"/>
            <c:invertIfNegative val="0"/>
            <c:bubble3D val="0"/>
            <c:spPr>
              <a:solidFill>
                <a:srgbClr val="C57F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EB0-4DCF-B678-3AE6AA79EE4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E8EFF7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OR-Tools EA</c:v>
                </c:pt>
                <c:pt idx="1">
                  <c:v>OR-Tools</c:v>
                </c:pt>
                <c:pt idx="2">
                  <c:v>Esri</c:v>
                </c:pt>
                <c:pt idx="3">
                  <c:v>Hybrid</c:v>
                </c:pt>
                <c:pt idx="4">
                  <c:v>Adaptive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231.8</c:v>
                </c:pt>
                <c:pt idx="1">
                  <c:v>233.2</c:v>
                </c:pt>
                <c:pt idx="2">
                  <c:v>238.7</c:v>
                </c:pt>
                <c:pt idx="3">
                  <c:v>424.1</c:v>
                </c:pt>
                <c:pt idx="4">
                  <c:v>424.1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EB0-4DCF-B678-3AE6AA79EE4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E8EFF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A2F4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8EFF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B2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Runtime (s)</c:v>
                </c:pt>
              </c:strCache>
            </c:strRef>
          </c:tx>
          <c:spPr>
            <a:solidFill>
              <a:srgbClr val="E68B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EEB-4AF8-A878-D8347FA367DE}"/>
              </c:ext>
            </c:extLst>
          </c:dPt>
          <c:dPt>
            <c:idx val="1"/>
            <c:invertIfNegative val="0"/>
            <c:bubble3D val="0"/>
            <c:spPr>
              <a:solidFill>
                <a:srgbClr val="C57F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EEB-4AF8-A878-D8347FA367DE}"/>
              </c:ext>
            </c:extLst>
          </c:dPt>
          <c:dPt>
            <c:idx val="2"/>
            <c:invertIfNegative val="0"/>
            <c:bubble3D val="0"/>
            <c:spPr>
              <a:solidFill>
                <a:srgbClr val="7AC4A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EEB-4AF8-A878-D8347FA367DE}"/>
              </c:ext>
            </c:extLst>
          </c:dPt>
          <c:dPt>
            <c:idx val="3"/>
            <c:invertIfNegative val="0"/>
            <c:bubble3D val="0"/>
            <c:spPr>
              <a:solidFill>
                <a:srgbClr val="5BA4E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EEB-4AF8-A878-D8347FA367DE}"/>
              </c:ext>
            </c:extLst>
          </c:dPt>
          <c:dPt>
            <c:idx val="4"/>
            <c:invertIfNegative val="0"/>
            <c:bubble3D val="0"/>
            <c:spPr>
              <a:solidFill>
                <a:srgbClr val="E6B85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EEB-4AF8-A878-D8347FA367DE}"/>
              </c:ext>
            </c:extLst>
          </c:dPt>
          <c:dPt>
            <c:idx val="5"/>
            <c:invertIfNegative val="0"/>
            <c:bubble3D val="0"/>
            <c:spPr>
              <a:solidFill>
                <a:srgbClr val="9B89E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FEEB-4AF8-A878-D8347FA367DE}"/>
              </c:ext>
            </c:extLst>
          </c:dPt>
          <c:dPt>
            <c:idx val="6"/>
            <c:invertIfNegative val="0"/>
            <c:bubble3D val="0"/>
            <c:spPr>
              <a:solidFill>
                <a:srgbClr val="3FA8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FEEB-4AF8-A878-D8347FA367DE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FEEB-4AF8-A878-D8347FA367D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E8EFF7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Greedy</c:v>
                </c:pt>
                <c:pt idx="1">
                  <c:v>PyVRP</c:v>
                </c:pt>
                <c:pt idx="2">
                  <c:v>OR-Tools EA</c:v>
                </c:pt>
                <c:pt idx="3">
                  <c:v>OR-Tools</c:v>
                </c:pt>
                <c:pt idx="4">
                  <c:v>Esri</c:v>
                </c:pt>
                <c:pt idx="5">
                  <c:v>Hybrid</c:v>
                </c:pt>
                <c:pt idx="6">
                  <c:v>OSRM</c:v>
                </c:pt>
                <c:pt idx="7">
                  <c:v>Adaptive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</c:v>
                </c:pt>
                <c:pt idx="1">
                  <c:v>545</c:v>
                </c:pt>
                <c:pt idx="2">
                  <c:v>770</c:v>
                </c:pt>
                <c:pt idx="3">
                  <c:v>868</c:v>
                </c:pt>
                <c:pt idx="4">
                  <c:v>973</c:v>
                </c:pt>
                <c:pt idx="5">
                  <c:v>1790</c:v>
                </c:pt>
                <c:pt idx="6">
                  <c:v>4949</c:v>
                </c:pt>
                <c:pt idx="7">
                  <c:v>6472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FEEB-4AF8-A878-D8347FA367D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8EFF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l"/>
        <c:majorGridlines>
          <c:spPr>
            <a:ln w="6350" cap="flat">
              <a:solidFill>
                <a:srgbClr val="1A2F4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8EFF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B2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4098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spaces/AnubhaParashar/Execution-Aware-Agentic-VRP-Solver-and-Benchmark-Studio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FqVuVjW20yo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Execution-Aware Agentic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Solver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Benchmark Studio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371600" y="420624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33D5C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4297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371600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50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BACKENDS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0" y="420624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33D5C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297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657600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50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SCENARIOS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420624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33D5C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4297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770s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943600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50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 RUNTIME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229600" y="420624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33D5C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4297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229600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50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Anubha Parashar  · 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128016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Problem &amp; Vision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VRP solvers vs live dispatch reality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188720"/>
            <a:ext cx="54406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3FA8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3640" y="1188720"/>
            <a:ext cx="73152" cy="1280160"/>
          </a:xfrm>
          <a:prstGeom prst="rect">
            <a:avLst/>
          </a:prstGeom>
          <a:solidFill>
            <a:srgbClr val="3FA88A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3258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8 Backends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173736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families &amp; complexity analysis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54406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697480"/>
            <a:ext cx="73152" cy="128016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8346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Split-Solve Innovation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324612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OR-Tools EA wins · locked-prefix mechanism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2697480"/>
            <a:ext cx="54406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9B89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2697480"/>
            <a:ext cx="73152" cy="1280160"/>
          </a:xfrm>
          <a:prstGeom prst="rect">
            <a:avLst/>
          </a:prstGeom>
          <a:solidFill>
            <a:srgbClr val="9B89E6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28346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Benchmark Results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324612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Per-scenario performance · trade-offs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54406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E68B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206240"/>
            <a:ext cx="73152" cy="1280160"/>
          </a:xfrm>
          <a:prstGeom prst="rect">
            <a:avLst/>
          </a:prstGeom>
          <a:solidFill>
            <a:srgbClr val="E68B6E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3434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18 Scenarios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5800" y="47548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 · RT · GB stress tests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4206240"/>
            <a:ext cx="54406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4206240"/>
            <a:ext cx="73152" cy="128016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43434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Agentic AI Layer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92240" y="47548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· 8 tools · 4 behaviors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715000"/>
            <a:ext cx="54406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3FA8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5715000"/>
            <a:ext cx="73152" cy="1280160"/>
          </a:xfrm>
          <a:prstGeom prst="rect">
            <a:avLst/>
          </a:prstGeom>
          <a:solidFill>
            <a:srgbClr val="3FA88A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58521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Architecture &amp; Code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" y="62636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 · 8,140 lines · system flow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63640" y="5715000"/>
            <a:ext cx="54406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63640" y="5715000"/>
            <a:ext cx="73152" cy="128016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33" name="Text 31"/>
          <p:cNvSpPr/>
          <p:nvPr/>
        </p:nvSpPr>
        <p:spPr>
          <a:xfrm>
            <a:off x="6492240" y="58521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Deployment &amp; Demo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626364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HF Spaces · live walkthrough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73152" cy="109728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4" name="Shape 2"/>
          <p:cNvSpPr/>
          <p:nvPr/>
        </p:nvSpPr>
        <p:spPr>
          <a:xfrm>
            <a:off x="530352" y="1097280"/>
            <a:ext cx="11173968" cy="1097280"/>
          </a:xfrm>
          <a:prstGeom prst="rect">
            <a:avLst/>
          </a:prstGeom>
          <a:solidFill>
            <a:srgbClr val="233D5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VRP solvers are designed for static route planning.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dispatch is dynamic — and chaotic.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5440680" cy="3840480"/>
          </a:xfrm>
          <a:prstGeom prst="roundRect">
            <a:avLst>
              <a:gd name="adj" fmla="val 2381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560320"/>
            <a:ext cx="73152" cy="384048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697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reality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5074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Technicians are mid-route when changes hit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Drivers call in sick at 8 AM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Urgent SLA orders inject mid-day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Customers cancel after dispatch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Shifts get delayed or cut short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Service times shift as work expands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2560320"/>
            <a:ext cx="5440680" cy="3840480"/>
          </a:xfrm>
          <a:prstGeom prst="roundRect">
            <a:avLst>
              <a:gd name="adj" fmla="val 2381"/>
            </a:avLst>
          </a:prstGeom>
          <a:solidFill>
            <a:srgbClr val="233D5C"/>
          </a:solidFill>
          <a:ln w="12700">
            <a:solidFill>
              <a:srgbClr val="E68B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63640" y="2560320"/>
            <a:ext cx="73152" cy="3840480"/>
          </a:xfrm>
          <a:prstGeom prst="rect">
            <a:avLst/>
          </a:prstGeom>
          <a:solidFill>
            <a:srgbClr val="E68B6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697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standard solvers 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3108960"/>
            <a:ext cx="5074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Re-solve from scratch every time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Reroute already-completed stops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Lose execution state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Miss SLA windows during re-planning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awareness of in-progress work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Treat every change as a full restart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VRP solver that knows execution state and a benchmark that proves it works.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657600" cy="4114800"/>
          </a:xfrm>
          <a:prstGeom prst="roundRect">
            <a:avLst>
              <a:gd name="adj" fmla="val 2500"/>
            </a:avLst>
          </a:prstGeom>
          <a:solidFill>
            <a:srgbClr val="233D5C"/>
          </a:solidFill>
          <a:ln w="12700">
            <a:solidFill>
              <a:srgbClr val="3FA8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73152" cy="4114800"/>
          </a:xfrm>
          <a:prstGeom prst="rect">
            <a:avLst/>
          </a:prstGeom>
          <a:solidFill>
            <a:srgbClr val="3FA88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965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Compare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benchmark of 8 solver families on identical inputs.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Fair, reproducible, and visual.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Greedy · OSRM · PyVRP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OR-Tools · OR-Tools EA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Hybrid · Adaptive · Esri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1828800"/>
            <a:ext cx="3657600" cy="4114800"/>
          </a:xfrm>
          <a:prstGeom prst="roundRect">
            <a:avLst>
              <a:gd name="adj" fmla="val 2500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828800"/>
            <a:ext cx="73152" cy="411480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1965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Preserve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237744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in-progress routes so re-optimization respects committed work.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innovation: split-solve.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Locked stops bypass solver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Vehicle anchored at last stop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Only open work re-routed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828800"/>
            <a:ext cx="3657600" cy="4114800"/>
          </a:xfrm>
          <a:prstGeom prst="roundRect">
            <a:avLst>
              <a:gd name="adj" fmla="val 2500"/>
            </a:avLst>
          </a:prstGeom>
          <a:solidFill>
            <a:srgbClr val="233D5C"/>
          </a:solidFill>
          <a:ln w="12700">
            <a:solidFill>
              <a:srgbClr val="9B89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828800"/>
            <a:ext cx="73152" cy="4114800"/>
          </a:xfrm>
          <a:prstGeom prst="rect">
            <a:avLst/>
          </a:prstGeom>
          <a:solidFill>
            <a:srgbClr val="9B89E6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1965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Self-correct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5320" y="237744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that detects violations and triggers re-optimization autonomously.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2.0 Flash · 8 tools.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Natural language interface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Multi-step reasoning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Reactive event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Hugging Face Spaces · pre-loaded with synthetic dataset &amp; benchmark artifacts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10332720" cy="4114800"/>
          </a:xfrm>
          <a:prstGeom prst="roundRect">
            <a:avLst>
              <a:gd name="adj" fmla="val 3333"/>
            </a:avLst>
          </a:prstGeom>
          <a:solidFill>
            <a:srgbClr val="233D5C"/>
          </a:solidFill>
          <a:ln w="25400">
            <a:solidFill>
              <a:srgbClr val="3FA8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LIVE STREAMLIT APP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backends pre-computed · 18 scenarios · AI agent ready</a:t>
            </a:r>
            <a:endParaRPr lang="en-US" sz="1600" dirty="0"/>
          </a:p>
        </p:txBody>
      </p:sp>
      <p:sp>
        <p:nvSpPr>
          <p:cNvPr id="7" name="Text 5">
            <a:hlinkClick r:id="rId3"/>
          </p:cNvPr>
          <p:cNvSpPr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u="sng" dirty="0">
                <a:solidFill>
                  <a:srgbClr val="5BA4E6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https://huggingface.co/spaces/AnubhaParashar/Execution-Aware-Agentic-VRP-Solver-and-Benchmark-Studio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4572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Open the link to interact with the live app while presenting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Gemini 2.0 Flash API key required for the AI Agent tab · 1,500 req/day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 Solver Backends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233D5C"/>
          </a:solidFill>
          <a:ln w="12700">
            <a:solidFill>
              <a:srgbClr val="7AC4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280160"/>
            <a:ext cx="73152" cy="1691640"/>
          </a:xfrm>
          <a:prstGeom prst="rect">
            <a:avLst/>
          </a:prstGeom>
          <a:solidFill>
            <a:srgbClr val="7AC4A1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OR-Tools EA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Split-solve CP + GLS + greedy fallback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770s · 0 violations · 150/150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1417320"/>
            <a:ext cx="365760" cy="365760"/>
          </a:xfrm>
          <a:prstGeom prst="star5">
            <a:avLst/>
          </a:prstGeom>
          <a:solidFill>
            <a:srgbClr val="E6B85B"/>
          </a:solidFill>
          <a:ln/>
        </p:spPr>
      </p:sp>
      <p:sp>
        <p:nvSpPr>
          <p:cNvPr id="8" name="Shape 6"/>
          <p:cNvSpPr/>
          <p:nvPr/>
        </p:nvSpPr>
        <p:spPr>
          <a:xfrm>
            <a:off x="4251960" y="128016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280160"/>
            <a:ext cx="73152" cy="169164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18288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CVRPTW + Guided Local Search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868s · 0 violations · 150/150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28016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280160"/>
            <a:ext cx="73152" cy="169164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 ArcGIS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5320" y="18288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 Search (cloud)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973s · drops 8 orders avg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233D5C"/>
          </a:solidFill>
          <a:ln w="12700">
            <a:solidFill>
              <a:srgbClr val="9B89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108960"/>
            <a:ext cx="73152" cy="1691640"/>
          </a:xfrm>
          <a:prstGeom prst="rect">
            <a:avLst/>
          </a:prstGeom>
          <a:solidFill>
            <a:srgbClr val="9B89E6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36576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Multi-restart regret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6,472s · 0 violations · 150/150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51960" y="310896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233D5C"/>
          </a:solidFill>
          <a:ln w="12700">
            <a:solidFill>
              <a:srgbClr val="9B89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51960" y="3108960"/>
            <a:ext cx="73152" cy="1691640"/>
          </a:xfrm>
          <a:prstGeom prst="rect">
            <a:avLst/>
          </a:prstGeom>
          <a:solidFill>
            <a:srgbClr val="9B89E6"/>
          </a:solidFill>
          <a:ln/>
        </p:spPr>
      </p:sp>
      <p:sp>
        <p:nvSpPr>
          <p:cNvPr id="22" name="Text 20"/>
          <p:cNvSpPr/>
          <p:nvPr/>
        </p:nvSpPr>
        <p:spPr>
          <a:xfrm>
            <a:off x="448056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80560" y="36576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+ LNS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1,790s · 0 violations · 150/150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310896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233D5C"/>
          </a:solidFill>
          <a:ln w="12700">
            <a:solidFill>
              <a:srgbClr val="E68B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3108960"/>
            <a:ext cx="73152" cy="1691640"/>
          </a:xfrm>
          <a:prstGeom prst="rect">
            <a:avLst/>
          </a:prstGeom>
          <a:solidFill>
            <a:srgbClr val="E68B6E"/>
          </a:solidFill>
          <a:ln/>
        </p:spPr>
      </p:sp>
      <p:sp>
        <p:nvSpPr>
          <p:cNvPr id="26" name="Text 24"/>
          <p:cNvSpPr/>
          <p:nvPr/>
        </p:nvSpPr>
        <p:spPr>
          <a:xfrm>
            <a:off x="827532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+ 2-opt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75320" y="36576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22s · 231,070 late min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93776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233D5C"/>
          </a:solidFill>
          <a:ln w="12700">
            <a:solidFill>
              <a:srgbClr val="E68B6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4937760"/>
            <a:ext cx="73152" cy="1691640"/>
          </a:xfrm>
          <a:prstGeom prst="rect">
            <a:avLst/>
          </a:prstGeom>
          <a:solidFill>
            <a:srgbClr val="E68B6E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074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PyVRP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5800" y="54864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Genetic Search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545s · 134,483 late 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51960" y="493776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233D5C"/>
          </a:solidFill>
          <a:ln w="12700">
            <a:solidFill>
              <a:srgbClr val="E68B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1960" y="4937760"/>
            <a:ext cx="73152" cy="1691640"/>
          </a:xfrm>
          <a:prstGeom prst="rect">
            <a:avLst/>
          </a:prstGeom>
          <a:solidFill>
            <a:srgbClr val="E68B6E"/>
          </a:solidFill>
          <a:ln/>
        </p:spPr>
      </p:sp>
      <p:sp>
        <p:nvSpPr>
          <p:cNvPr id="34" name="Text 32"/>
          <p:cNvSpPr/>
          <p:nvPr/>
        </p:nvSpPr>
        <p:spPr>
          <a:xfrm>
            <a:off x="4480560" y="5074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480560" y="54864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+ road distances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4,949s · 245,827 late min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46720" y="4937760"/>
            <a:ext cx="3657600" cy="1691640"/>
          </a:xfrm>
          <a:prstGeom prst="roundRect">
            <a:avLst>
              <a:gd name="adj" fmla="val 5405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0" y="4937760"/>
            <a:ext cx="73152" cy="169164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38" name="Text 36"/>
          <p:cNvSpPr/>
          <p:nvPr/>
        </p:nvSpPr>
        <p:spPr>
          <a:xfrm>
            <a:off x="8275320" y="5074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275320" y="548640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Production-viable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 of 8 backends pass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Families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19456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37744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0" y="1188720"/>
            <a:ext cx="274320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188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0" y="1188720"/>
            <a:ext cx="182880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 Handling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01200" y="1188720"/>
            <a:ext cx="210312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188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645920"/>
            <a:ext cx="2194560" cy="54864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1645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Programming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651760" y="1645920"/>
            <a:ext cx="2377440" cy="54864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0" y="1645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OR-Tools, OR-Tools EA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0" y="1645920"/>
            <a:ext cx="2743200" cy="54864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1645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+ constraints + search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1645920"/>
            <a:ext cx="1828800" cy="54864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0" y="1645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01200" y="1645920"/>
            <a:ext cx="2103120" cy="54864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2640" y="16459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194560"/>
            <a:ext cx="219456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194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Metaheuristics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651760" y="2194560"/>
            <a:ext cx="237744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Hybrid, Adaptive, PyVRP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0" y="2194560"/>
            <a:ext cx="27432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0" y="21945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improvement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0" y="2194560"/>
            <a:ext cx="18288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0" y="2194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/ Hard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601200" y="2194560"/>
            <a:ext cx="210312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9264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 Specialized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2743200"/>
            <a:ext cx="219456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2743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Heuristics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651760" y="2743200"/>
            <a:ext cx="237744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Greedy, OSRM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29200" y="2743200"/>
            <a:ext cx="27432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20640" y="2743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decisions, no global view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72400" y="2743200"/>
            <a:ext cx="18288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63840" y="2743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only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601200" y="2743200"/>
            <a:ext cx="210312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92640" y="27432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Baseline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291840"/>
            <a:ext cx="219456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Cloud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651760" y="3291840"/>
            <a:ext cx="237744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743200" y="32918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 ArcGIS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029200" y="3291840"/>
            <a:ext cx="27432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064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 Search (proprietary)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772400" y="3291840"/>
            <a:ext cx="18288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863840" y="3291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(drops)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601200" y="3291840"/>
            <a:ext cx="210312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69264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△ Enterprise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7200" y="4846320"/>
            <a:ext cx="73152" cy="109728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54" name="Shape 52"/>
          <p:cNvSpPr/>
          <p:nvPr/>
        </p:nvSpPr>
        <p:spPr>
          <a:xfrm>
            <a:off x="530352" y="4846320"/>
            <a:ext cx="11173968" cy="1097280"/>
          </a:xfrm>
          <a:prstGeom prst="rect">
            <a:avLst/>
          </a:prstGeom>
          <a:solidFill>
            <a:srgbClr val="233D5C"/>
          </a:solidFill>
          <a:ln/>
        </p:spPr>
      </p:sp>
      <p:sp>
        <p:nvSpPr>
          <p:cNvPr id="55" name="Text 53"/>
          <p:cNvSpPr/>
          <p:nvPr/>
        </p:nvSpPr>
        <p:spPr>
          <a:xfrm>
            <a:off x="731520" y="49377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backends follow the same I/O contract:  run_*_backend(inputs, config) → bundle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Benchmark Table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orders · 20 routes · 18 scenarios · means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37744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834640" y="1371600"/>
            <a:ext cx="82296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0" y="137160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1371600"/>
            <a:ext cx="109728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1371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km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109728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371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 km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0" y="1371600"/>
            <a:ext cx="109728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0" y="1371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km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949440" y="1371600"/>
            <a:ext cx="109728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0" y="1371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km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1371600"/>
            <a:ext cx="128016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0" y="13716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326880" y="1371600"/>
            <a:ext cx="91440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371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241280" y="1371600"/>
            <a:ext cx="128016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0" y="13716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1783080"/>
            <a:ext cx="237744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1783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EA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34640" y="1783080"/>
            <a:ext cx="82296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880360" y="17830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0" y="1783080"/>
            <a:ext cx="109728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3320" y="17830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231.8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1783080"/>
            <a:ext cx="109728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17830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232.8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852160" y="1783080"/>
            <a:ext cx="109728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97880" y="17830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232.1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49440" y="1783080"/>
            <a:ext cx="109728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95160" y="17830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239.8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046720" y="1783080"/>
            <a:ext cx="128016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92440" y="17830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326880" y="1783080"/>
            <a:ext cx="91440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72600" y="17830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241280" y="1783080"/>
            <a:ext cx="128016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87000" y="17830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770s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2920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834640" y="2240280"/>
            <a:ext cx="8229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80360" y="22402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657600" y="22402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0332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233.2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54880" y="22402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233.4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852160" y="22402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9788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234.6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949440" y="22402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9516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243.2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046720" y="22402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092440" y="2240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9326880" y="2240280"/>
            <a:ext cx="914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372600" y="22402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0241280" y="22402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287000" y="2240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868s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57200" y="2697480"/>
            <a:ext cx="237744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292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Esri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2834640" y="2697480"/>
            <a:ext cx="8229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880360" y="2697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657600" y="26974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703320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238.7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754880" y="26974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00600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238.8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852160" y="26974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897880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206.3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949440" y="26974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95160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240.3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8046720" y="26974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092440" y="2697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9326880" y="2697480"/>
            <a:ext cx="914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372600" y="2697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10241280" y="26974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287000" y="2697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973s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457200" y="3154680"/>
            <a:ext cx="237744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02920" y="3154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2834640" y="3154680"/>
            <a:ext cx="8229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880360" y="31546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3657600" y="31546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703320" y="3154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424.1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754880" y="31546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800600" y="3154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349.7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5852160" y="31546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897880" y="3154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364.1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6949440" y="31546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995160" y="3154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341.6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8046720" y="31546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092440" y="31546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9326880" y="3154680"/>
            <a:ext cx="914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7260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10241280" y="31546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287000" y="31546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6,472s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457200" y="3611880"/>
            <a:ext cx="237744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02920" y="3611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2834640" y="3611880"/>
            <a:ext cx="8229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880360" y="3611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3657600" y="36118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703320" y="3611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424.1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4754880" y="36118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800600" y="3611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465.3</a:t>
            </a:r>
            <a:endParaRPr lang="en-US" sz="1100" dirty="0"/>
          </a:p>
        </p:txBody>
      </p:sp>
      <p:sp>
        <p:nvSpPr>
          <p:cNvPr id="102" name="Shape 100"/>
          <p:cNvSpPr/>
          <p:nvPr/>
        </p:nvSpPr>
        <p:spPr>
          <a:xfrm>
            <a:off x="5852160" y="36118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897880" y="3611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462.2</a:t>
            </a:r>
            <a:endParaRPr lang="en-US" sz="1100" dirty="0"/>
          </a:p>
        </p:txBody>
      </p:sp>
      <p:sp>
        <p:nvSpPr>
          <p:cNvPr id="104" name="Shape 102"/>
          <p:cNvSpPr/>
          <p:nvPr/>
        </p:nvSpPr>
        <p:spPr>
          <a:xfrm>
            <a:off x="6949440" y="36118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995160" y="3611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356.1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8046720" y="36118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092440" y="3611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9326880" y="3611880"/>
            <a:ext cx="914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372600" y="3611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10241280" y="36118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287000" y="3611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1,790s</a:t>
            </a:r>
            <a:endParaRPr lang="en-US" sz="1100" dirty="0"/>
          </a:p>
        </p:txBody>
      </p:sp>
      <p:sp>
        <p:nvSpPr>
          <p:cNvPr id="112" name="Shape 110"/>
          <p:cNvSpPr/>
          <p:nvPr/>
        </p:nvSpPr>
        <p:spPr>
          <a:xfrm>
            <a:off x="457200" y="4069080"/>
            <a:ext cx="237744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02920" y="4069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2834640" y="4069080"/>
            <a:ext cx="8229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880360" y="40690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3657600" y="40690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3703320" y="40690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394.4</a:t>
            </a:r>
            <a:endParaRPr lang="en-US" sz="1100" dirty="0"/>
          </a:p>
        </p:txBody>
      </p:sp>
      <p:sp>
        <p:nvSpPr>
          <p:cNvPr id="118" name="Shape 116"/>
          <p:cNvSpPr/>
          <p:nvPr/>
        </p:nvSpPr>
        <p:spPr>
          <a:xfrm>
            <a:off x="4754880" y="40690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800600" y="40690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387.1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5852160" y="40690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897880" y="40690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387.3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6949440" y="40690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995160" y="40690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391.2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8046720" y="40690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092440" y="40690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231,070</a:t>
            </a:r>
            <a:endParaRPr lang="en-US" sz="1100" dirty="0"/>
          </a:p>
        </p:txBody>
      </p:sp>
      <p:sp>
        <p:nvSpPr>
          <p:cNvPr id="126" name="Shape 124"/>
          <p:cNvSpPr/>
          <p:nvPr/>
        </p:nvSpPr>
        <p:spPr>
          <a:xfrm>
            <a:off x="9326880" y="4069080"/>
            <a:ext cx="914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372600" y="40690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46,191</a:t>
            </a:r>
            <a:endParaRPr lang="en-US" sz="1100" dirty="0"/>
          </a:p>
        </p:txBody>
      </p:sp>
      <p:sp>
        <p:nvSpPr>
          <p:cNvPr id="128" name="Shape 126"/>
          <p:cNvSpPr/>
          <p:nvPr/>
        </p:nvSpPr>
        <p:spPr>
          <a:xfrm>
            <a:off x="10241280" y="40690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0287000" y="40690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22s</a:t>
            </a:r>
            <a:endParaRPr lang="en-US" sz="1100" dirty="0"/>
          </a:p>
        </p:txBody>
      </p:sp>
      <p:sp>
        <p:nvSpPr>
          <p:cNvPr id="130" name="Shape 128"/>
          <p:cNvSpPr/>
          <p:nvPr/>
        </p:nvSpPr>
        <p:spPr>
          <a:xfrm>
            <a:off x="457200" y="4526280"/>
            <a:ext cx="237744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02920" y="4526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PyVRP</a:t>
            </a:r>
            <a:endParaRPr lang="en-US" sz="1100" dirty="0"/>
          </a:p>
        </p:txBody>
      </p:sp>
      <p:sp>
        <p:nvSpPr>
          <p:cNvPr id="132" name="Shape 130"/>
          <p:cNvSpPr/>
          <p:nvPr/>
        </p:nvSpPr>
        <p:spPr>
          <a:xfrm>
            <a:off x="2834640" y="4526280"/>
            <a:ext cx="8229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2880360" y="45262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134" name="Shape 132"/>
          <p:cNvSpPr/>
          <p:nvPr/>
        </p:nvSpPr>
        <p:spPr>
          <a:xfrm>
            <a:off x="3657600" y="45262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3703320" y="4526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114.0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4754880" y="45262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800600" y="4526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111.8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5852160" y="45262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897880" y="4526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112.5</a:t>
            </a:r>
            <a:endParaRPr lang="en-US" sz="1100" dirty="0"/>
          </a:p>
        </p:txBody>
      </p:sp>
      <p:sp>
        <p:nvSpPr>
          <p:cNvPr id="140" name="Shape 138"/>
          <p:cNvSpPr/>
          <p:nvPr/>
        </p:nvSpPr>
        <p:spPr>
          <a:xfrm>
            <a:off x="6949440" y="45262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995160" y="4526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118.1</a:t>
            </a:r>
            <a:endParaRPr lang="en-US" sz="1100" dirty="0"/>
          </a:p>
        </p:txBody>
      </p:sp>
      <p:sp>
        <p:nvSpPr>
          <p:cNvPr id="142" name="Shape 140"/>
          <p:cNvSpPr/>
          <p:nvPr/>
        </p:nvSpPr>
        <p:spPr>
          <a:xfrm>
            <a:off x="8046720" y="45262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092440" y="4526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134,483</a:t>
            </a:r>
            <a:endParaRPr lang="en-US" sz="1100" dirty="0"/>
          </a:p>
        </p:txBody>
      </p:sp>
      <p:sp>
        <p:nvSpPr>
          <p:cNvPr id="144" name="Shape 142"/>
          <p:cNvSpPr/>
          <p:nvPr/>
        </p:nvSpPr>
        <p:spPr>
          <a:xfrm>
            <a:off x="9326880" y="4526280"/>
            <a:ext cx="914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72600" y="45262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70,615</a:t>
            </a:r>
            <a:endParaRPr lang="en-US" sz="1100" dirty="0"/>
          </a:p>
        </p:txBody>
      </p:sp>
      <p:sp>
        <p:nvSpPr>
          <p:cNvPr id="146" name="Shape 144"/>
          <p:cNvSpPr/>
          <p:nvPr/>
        </p:nvSpPr>
        <p:spPr>
          <a:xfrm>
            <a:off x="10241280" y="45262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0287000" y="4526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545s</a:t>
            </a:r>
            <a:endParaRPr lang="en-US" sz="1100" dirty="0"/>
          </a:p>
        </p:txBody>
      </p:sp>
      <p:sp>
        <p:nvSpPr>
          <p:cNvPr id="148" name="Shape 146"/>
          <p:cNvSpPr/>
          <p:nvPr/>
        </p:nvSpPr>
        <p:spPr>
          <a:xfrm>
            <a:off x="457200" y="4983480"/>
            <a:ext cx="237744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502920" y="4983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</a:t>
            </a:r>
            <a:endParaRPr lang="en-US" sz="1100" dirty="0"/>
          </a:p>
        </p:txBody>
      </p:sp>
      <p:sp>
        <p:nvSpPr>
          <p:cNvPr id="150" name="Shape 148"/>
          <p:cNvSpPr/>
          <p:nvPr/>
        </p:nvSpPr>
        <p:spPr>
          <a:xfrm>
            <a:off x="2834640" y="4983480"/>
            <a:ext cx="8229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2880360" y="4983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152" name="Shape 150"/>
          <p:cNvSpPr/>
          <p:nvPr/>
        </p:nvSpPr>
        <p:spPr>
          <a:xfrm>
            <a:off x="3657600" y="49834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3703320" y="4983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519.3</a:t>
            </a:r>
            <a:endParaRPr lang="en-US" sz="1100" dirty="0"/>
          </a:p>
        </p:txBody>
      </p:sp>
      <p:sp>
        <p:nvSpPr>
          <p:cNvPr id="154" name="Shape 152"/>
          <p:cNvSpPr/>
          <p:nvPr/>
        </p:nvSpPr>
        <p:spPr>
          <a:xfrm>
            <a:off x="4754880" y="49834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800600" y="4983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522.5</a:t>
            </a:r>
            <a:endParaRPr lang="en-US" sz="1100" dirty="0"/>
          </a:p>
        </p:txBody>
      </p:sp>
      <p:sp>
        <p:nvSpPr>
          <p:cNvPr id="156" name="Shape 154"/>
          <p:cNvSpPr/>
          <p:nvPr/>
        </p:nvSpPr>
        <p:spPr>
          <a:xfrm>
            <a:off x="5852160" y="49834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897880" y="4983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518.8</a:t>
            </a:r>
            <a:endParaRPr lang="en-US" sz="1100" dirty="0"/>
          </a:p>
        </p:txBody>
      </p:sp>
      <p:sp>
        <p:nvSpPr>
          <p:cNvPr id="158" name="Shape 156"/>
          <p:cNvSpPr/>
          <p:nvPr/>
        </p:nvSpPr>
        <p:spPr>
          <a:xfrm>
            <a:off x="6949440" y="4983480"/>
            <a:ext cx="109728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995160" y="4983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509.9</a:t>
            </a:r>
            <a:endParaRPr lang="en-US" sz="1100" dirty="0"/>
          </a:p>
        </p:txBody>
      </p:sp>
      <p:sp>
        <p:nvSpPr>
          <p:cNvPr id="160" name="Shape 158"/>
          <p:cNvSpPr/>
          <p:nvPr/>
        </p:nvSpPr>
        <p:spPr>
          <a:xfrm>
            <a:off x="8046720" y="49834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8092440" y="4983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245,827</a:t>
            </a:r>
            <a:endParaRPr lang="en-US" sz="1100" dirty="0"/>
          </a:p>
        </p:txBody>
      </p:sp>
      <p:sp>
        <p:nvSpPr>
          <p:cNvPr id="162" name="Shape 160"/>
          <p:cNvSpPr/>
          <p:nvPr/>
        </p:nvSpPr>
        <p:spPr>
          <a:xfrm>
            <a:off x="9326880" y="4983480"/>
            <a:ext cx="914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937260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52,266</a:t>
            </a:r>
            <a:endParaRPr lang="en-US" sz="1100" dirty="0"/>
          </a:p>
        </p:txBody>
      </p:sp>
      <p:sp>
        <p:nvSpPr>
          <p:cNvPr id="164" name="Shape 162"/>
          <p:cNvSpPr/>
          <p:nvPr/>
        </p:nvSpPr>
        <p:spPr>
          <a:xfrm>
            <a:off x="10241280" y="4983480"/>
            <a:ext cx="128016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0287000" y="4983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4,949s</a:t>
            </a:r>
            <a:endParaRPr lang="en-US" sz="1100" dirty="0"/>
          </a:p>
        </p:txBody>
      </p:sp>
      <p:sp>
        <p:nvSpPr>
          <p:cNvPr id="166" name="Text 164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EA: only backend with 100% assignment + zero violations + sub-1000s runtime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— Zero-Violation Backends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scenario distance in km · lower is better</a:t>
            </a:r>
            <a:endParaRPr lang="en-US" sz="1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463040"/>
          <a:ext cx="1097280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All 18 Scenarios Combined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runtime in seconds · log scale</a:t>
            </a:r>
            <a:endParaRPr lang="en-US" sz="1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463040"/>
          <a:ext cx="1097280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vs OR-Tools EA — Head-to-Head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20040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80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0" y="1280160"/>
            <a:ext cx="274320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(plain)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1280160"/>
            <a:ext cx="274320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EA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0" y="1280160"/>
            <a:ext cx="256032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0" y="12801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3200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distance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0" y="17373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94760" y="1737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233.2 km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0" y="17373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1737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231.8 km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44000" y="1737360"/>
            <a:ext cx="256032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81160" y="1737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 km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194560"/>
            <a:ext cx="3200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 avg distance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0" y="21945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9476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233.4 km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0" y="21945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232.8 km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144000" y="2194560"/>
            <a:ext cx="256032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1160" y="2194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−0.6 km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2651760"/>
            <a:ext cx="3200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avg distance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0" y="26517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94760" y="2651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234.6 km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0" y="26517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37960" y="2651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232.1 km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144000" y="2651760"/>
            <a:ext cx="256032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81160" y="2651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−2.5 km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3108960"/>
            <a:ext cx="3200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avg distance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0" y="31089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94760" y="3108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243.2 km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0" y="31089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37960" y="3108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239.8 km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9144000" y="3108960"/>
            <a:ext cx="256032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81160" y="3108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−3.4 km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3566160"/>
            <a:ext cx="3200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" y="3566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minutes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657600" y="35661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947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400800" y="35661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379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9144000" y="3566160"/>
            <a:ext cx="256032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281160" y="3566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57200" y="4023360"/>
            <a:ext cx="32004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minutes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3657600" y="40233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9476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400800" y="4023360"/>
            <a:ext cx="274320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3796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9144000" y="4023360"/>
            <a:ext cx="2560320" cy="45720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281160" y="4023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320040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4360" y="4480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runtime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657600" y="4480560"/>
            <a:ext cx="274320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794760" y="4480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868 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6400800" y="4480560"/>
            <a:ext cx="274320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37960" y="4480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770 s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60320" cy="45720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28116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457200" y="5394960"/>
            <a:ext cx="73152" cy="109728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68" name="Shape 66"/>
          <p:cNvSpPr/>
          <p:nvPr/>
        </p:nvSpPr>
        <p:spPr>
          <a:xfrm>
            <a:off x="530352" y="5394960"/>
            <a:ext cx="11173968" cy="1097280"/>
          </a:xfrm>
          <a:prstGeom prst="rect">
            <a:avLst/>
          </a:prstGeom>
          <a:solidFill>
            <a:srgbClr val="233D5C"/>
          </a:solidFill>
          <a:ln/>
        </p:spPr>
      </p:sp>
      <p:sp>
        <p:nvSpPr>
          <p:cNvPr id="69" name="Text 67"/>
          <p:cNvSpPr/>
          <p:nvPr/>
        </p:nvSpPr>
        <p:spPr>
          <a:xfrm>
            <a:off x="731520" y="54864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accuracy. 11% faster. Better on every scenario group.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Split-Solve Innovation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orders never enter the OR-Tools model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233D5C"/>
          </a:solidFill>
          <a:ln w="12700">
            <a:solidFill>
              <a:srgbClr val="E68B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73152" cy="4114800"/>
          </a:xfrm>
          <a:prstGeom prst="rect">
            <a:avLst/>
          </a:prstGeom>
          <a:solidFill>
            <a:srgbClr val="E68B6E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965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Naïve approach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Submit all 150 orders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130 with zero-slack TW constraints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PATH_CHEAPEST_ARC fails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0 orders assigned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Solver wastes time on infeasibility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way to improve from there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233D5C"/>
          </a:solidFill>
          <a:ln w="12700">
            <a:solidFill>
              <a:srgbClr val="7AC4A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828800"/>
            <a:ext cx="73152" cy="4114800"/>
          </a:xfrm>
          <a:prstGeom prst="rect">
            <a:avLst/>
          </a:prstGeom>
          <a:solidFill>
            <a:srgbClr val="7AC4A1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965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Split-solve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7744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Submit only ~10 open orders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Locked stops copied verbatim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Vehicle anchored at last locked stop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GLS gets full 45s budget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150/150 assigned · zero violations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Greedy fallback catches edge cases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Split-Solve Pipeline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194560" cy="1463040"/>
          </a:xfrm>
          <a:prstGeom prst="roundRect">
            <a:avLst>
              <a:gd name="adj" fmla="val 6250"/>
            </a:avLst>
          </a:prstGeom>
          <a:solidFill>
            <a:srgbClr val="233D5C"/>
          </a:solidFill>
          <a:ln w="19050">
            <a:solidFill>
              <a:srgbClr val="5BA4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417320"/>
            <a:ext cx="411480" cy="411480"/>
          </a:xfrm>
          <a:prstGeom prst="ellipse">
            <a:avLst/>
          </a:prstGeom>
          <a:solidFill>
            <a:srgbClr val="5BA4E6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vs open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by OrderId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88920" y="1280160"/>
            <a:ext cx="2194560" cy="1463040"/>
          </a:xfrm>
          <a:prstGeom prst="roundRect">
            <a:avLst>
              <a:gd name="adj" fmla="val 6250"/>
            </a:avLst>
          </a:prstGeom>
          <a:solidFill>
            <a:srgbClr val="233D5C"/>
          </a:solidFill>
          <a:ln w="19050">
            <a:solidFill>
              <a:srgbClr val="E6B8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1417320"/>
            <a:ext cx="411480" cy="411480"/>
          </a:xfrm>
          <a:prstGeom prst="ellipse">
            <a:avLst/>
          </a:prstGeom>
          <a:solidFill>
            <a:srgbClr val="E6B85B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2900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19202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vehicle starts at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locked stop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20640" y="1280160"/>
            <a:ext cx="2194560" cy="1463040"/>
          </a:xfrm>
          <a:prstGeom prst="roundRect">
            <a:avLst>
              <a:gd name="adj" fmla="val 6250"/>
            </a:avLst>
          </a:prstGeom>
          <a:solidFill>
            <a:srgbClr val="233D5C"/>
          </a:solidFill>
          <a:ln w="19050">
            <a:solidFill>
              <a:srgbClr val="3FA88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57800" y="1417320"/>
            <a:ext cx="411480" cy="411480"/>
          </a:xfrm>
          <a:prstGeom prst="ellipse">
            <a:avLst/>
          </a:prstGeom>
          <a:solidFill>
            <a:srgbClr val="3FA88A"/>
          </a:solidFill>
          <a:ln/>
        </p:spPr>
      </p:sp>
      <p:sp>
        <p:nvSpPr>
          <p:cNvPr id="15" name="Text 13"/>
          <p:cNvSpPr/>
          <p:nvPr/>
        </p:nvSpPr>
        <p:spPr>
          <a:xfrm>
            <a:off x="525780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6072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57800" y="19202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OR-Tools model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GLS budget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52360" y="1280160"/>
            <a:ext cx="2194560" cy="1463040"/>
          </a:xfrm>
          <a:prstGeom prst="roundRect">
            <a:avLst>
              <a:gd name="adj" fmla="val 6250"/>
            </a:avLst>
          </a:prstGeom>
          <a:solidFill>
            <a:srgbClr val="233D5C"/>
          </a:solidFill>
          <a:ln w="19050">
            <a:solidFill>
              <a:srgbClr val="9B89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9520" y="1417320"/>
            <a:ext cx="411480" cy="411480"/>
          </a:xfrm>
          <a:prstGeom prst="ellipse">
            <a:avLst/>
          </a:prstGeom>
          <a:solidFill>
            <a:srgbClr val="9B89E6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09244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19202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verbatim +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from solver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784080" y="1280160"/>
            <a:ext cx="2194560" cy="1463040"/>
          </a:xfrm>
          <a:prstGeom prst="roundRect">
            <a:avLst>
              <a:gd name="adj" fmla="val 6250"/>
            </a:avLst>
          </a:prstGeom>
          <a:solidFill>
            <a:srgbClr val="233D5C"/>
          </a:solidFill>
          <a:ln w="19050">
            <a:solidFill>
              <a:srgbClr val="7AC4A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921240" y="1417320"/>
            <a:ext cx="411480" cy="411480"/>
          </a:xfrm>
          <a:prstGeom prst="ellipse">
            <a:avLst/>
          </a:prstGeom>
          <a:solidFill>
            <a:srgbClr val="7AC4A1"/>
          </a:solidFill>
          <a:ln/>
        </p:spPr>
      </p:sp>
      <p:sp>
        <p:nvSpPr>
          <p:cNvPr id="25" name="Text 23"/>
          <p:cNvSpPr/>
          <p:nvPr/>
        </p:nvSpPr>
        <p:spPr>
          <a:xfrm>
            <a:off x="992124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42416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921240" y="19202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catch ·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assignment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108960"/>
            <a:ext cx="11247120" cy="3200400"/>
          </a:xfrm>
          <a:prstGeom prst="roundRect">
            <a:avLst>
              <a:gd name="adj" fmla="val 1429"/>
            </a:avLst>
          </a:prstGeom>
          <a:solidFill>
            <a:srgbClr val="0A1626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291840"/>
            <a:ext cx="108813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r>
              <a:rPr lang="en-US" sz="1300" dirty="0">
                <a:solidFill>
                  <a:srgbClr val="50FA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_ortools_ea_solve_scenario</a:t>
            </a: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(scenario, orders, routes, locked_prefixes):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locked_ids = {oid for prefix in locked_prefixes.values() for oid in prefix.OrderId}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open_orders = orders[~orders.OrderId.isin(locked_ids)]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anchors = {r: _anchor_position(r, locked_prefixes[r]) for r in routes}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solution = ortools_solve(open_orders, routes, anchors, time_limit=45)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_merge_locked_with_solution(locked_prefixes, solution, anchors)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_greedy_catch_unassigned(result, open_orders)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Locked-Prefix Mechanism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Determines which stops are stable and can be frozen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5486400" cy="2194560"/>
          </a:xfrm>
          <a:prstGeom prst="roundRect">
            <a:avLst>
              <a:gd name="adj" fmla="val 4167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73152" cy="219456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965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logic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changed_order_ids = baseline ⊕ scenario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impacted_routes = routes containing changes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fully_locked = routes with zero changes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partial_lock = stops up to first change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486400" cy="2194560"/>
          </a:xfrm>
          <a:prstGeom prst="roundRect">
            <a:avLst>
              <a:gd name="adj" fmla="val 4167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828800"/>
            <a:ext cx="73152" cy="219456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965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cases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7744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RT_1 (urgent inject) → unlock 2 nearest routes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RT_6 (sick technician) → drop route entirely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RT_7 (combined) → multi-route unlock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Default → preserve all stable stops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11247120" cy="2286000"/>
          </a:xfrm>
          <a:prstGeom prst="roundRect">
            <a:avLst>
              <a:gd name="adj" fmla="val 2000"/>
            </a:avLst>
          </a:prstGeom>
          <a:solidFill>
            <a:srgbClr val="0A1626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4340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r>
              <a:rPr lang="en-US" sz="1200" dirty="0">
                <a:solidFill>
                  <a:srgbClr val="50FA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_prepare_locked_prefixes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(scenario_key, baseline, scenario_orders):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changed = _changed_order_ids(baseline.orders, scenario_orders)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impacted = {r for r in baseline.routes </a:t>
            </a: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any(s.OrderId </a:t>
            </a: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changed </a:t>
            </a: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 </a:t>
            </a: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r.stops)}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locked = {r.name: r.stops[:first_impact(r, changed)]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r.name </a:t>
            </a: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impacted </a:t>
            </a: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r.stops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 </a:t>
            </a: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baseline.routes}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locked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 Test Scenarios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233D5C"/>
          </a:solidFill>
          <a:ln w="12700">
            <a:solidFill>
              <a:srgbClr val="3FA8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280160"/>
            <a:ext cx="73152" cy="1371600"/>
          </a:xfrm>
          <a:prstGeom prst="rect">
            <a:avLst/>
          </a:prstGeom>
          <a:solidFill>
            <a:srgbClr val="3FA88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 ·  1 scenario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solve · no mutation applied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28016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3640" y="1280160"/>
            <a:ext cx="73152" cy="137160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  ·  4 scenarios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18288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Execution-Aware: TimeWindow shift, ServiceTime change, Depot swap, Downstream cascade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5486400" cy="3474720"/>
          </a:xfrm>
          <a:prstGeom prst="roundRect">
            <a:avLst>
              <a:gd name="adj" fmla="val 2632"/>
            </a:avLst>
          </a:prstGeom>
          <a:solidFill>
            <a:srgbClr val="233D5C"/>
          </a:solidFill>
          <a:ln w="12700">
            <a:solidFill>
              <a:srgbClr val="E68B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834640"/>
            <a:ext cx="73152" cy="3474720"/>
          </a:xfrm>
          <a:prstGeom prst="rect">
            <a:avLst/>
          </a:prstGeom>
          <a:solidFill>
            <a:srgbClr val="E68B6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 ·  7 scenarios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33832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Scheduling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RT_1: Inject urgent order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RT_2: Cancellation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RT_3: ServiceTime ×1.35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RT_4: Shift delay +90min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RT_5: Window shrink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RT_6: Technician sick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RT_7: Combined real-time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2834640"/>
            <a:ext cx="5486400" cy="3474720"/>
          </a:xfrm>
          <a:prstGeom prst="roundRect">
            <a:avLst>
              <a:gd name="adj" fmla="val 2632"/>
            </a:avLst>
          </a:prstGeom>
          <a:solidFill>
            <a:srgbClr val="233D5C"/>
          </a:solidFill>
          <a:ln w="12700">
            <a:solidFill>
              <a:srgbClr val="9B89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2834640"/>
            <a:ext cx="73152" cy="3474720"/>
          </a:xfrm>
          <a:prstGeom prst="rect">
            <a:avLst/>
          </a:prstGeom>
          <a:solidFill>
            <a:srgbClr val="9B89E6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 ·  6 scenarios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3383280"/>
            <a:ext cx="5120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Goal-Based Scheduling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GB_1: Minimize travel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GB_2: Prefer rated techs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GB_3: Prefer specialised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GB_4: Maximise SLA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GB_5: Reduce overtime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GB_6: Customer weights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AI Layer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Google Gemini 2.0 Flash · free tier · 1,500 req/day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73152" cy="438912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965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VRPOrchestrator class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Wraps Gemini with function-calling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 callable tools (JSON Schema → FunctionDeclaration)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distinct agentic behaviors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Max 10 iterations per query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Stateful chat session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Tool calls log for full audit trail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Manual loop (not automatic_function_calling)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233D5C"/>
          </a:solidFill>
          <a:ln w="12700">
            <a:solidFill>
              <a:srgbClr val="7AC4A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828800"/>
            <a:ext cx="73152" cy="4389120"/>
          </a:xfrm>
          <a:prstGeom prst="rect">
            <a:avLst/>
          </a:prstGeom>
          <a:solidFill>
            <a:srgbClr val="7AC4A1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965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agentic, not just chat?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7744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Detects violations autonomously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Picks config without human input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Re-runs solver, compares results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Chains multiple tool calls in one turn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'ask permission' loops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event handling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Self-correcting under disruption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Agent Tools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657600" cy="4114800"/>
          </a:xfrm>
          <a:prstGeom prst="roundRect">
            <a:avLst>
              <a:gd name="adj" fmla="val 2500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280160"/>
            <a:ext cx="73152" cy="411480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get_scenario_list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Returns all 18 scenarios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explain_scenario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What does this scenario test?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280160"/>
            <a:ext cx="3657600" cy="4114800"/>
          </a:xfrm>
          <a:prstGeom prst="roundRect">
            <a:avLst>
              <a:gd name="adj" fmla="val 2500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51960" y="1280160"/>
            <a:ext cx="73152" cy="411480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480560" y="182880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analyze_results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Summary metrics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detect_violations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Late routes + overtime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compare_backends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Ranked + winner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280160"/>
            <a:ext cx="3657600" cy="4114800"/>
          </a:xfrm>
          <a:prstGeom prst="roundRect">
            <a:avLst>
              <a:gd name="adj" fmla="val 2500"/>
            </a:avLst>
          </a:prstGeom>
          <a:solidFill>
            <a:srgbClr val="233D5C"/>
          </a:solidFill>
          <a:ln w="12700">
            <a:solidFill>
              <a:srgbClr val="7AC4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0" y="1280160"/>
            <a:ext cx="73152" cy="4114800"/>
          </a:xfrm>
          <a:prstGeom prst="rect">
            <a:avLst/>
          </a:prstGeom>
          <a:solidFill>
            <a:srgbClr val="7AC4A1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75320" y="182880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suggest_config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 overrides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run_backend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Live solve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trigger_reoptimization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Re-run + diff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577840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0A1626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715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E6B8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prompt:</a:t>
            </a:r>
            <a:r>
              <a:rPr lang="en-US" sz="1200" i="1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'For violation complaints: call detect_violations, then trigger_reoptimization. Chain tool calls — do NOT ask user for permission between calls.'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Agentic Behaviors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280160"/>
            <a:ext cx="73152" cy="237744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Natural language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'Which backend for SLA?'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compare_backends → ranked answer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analyze_results on top backend → explain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28016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3640" y="1280160"/>
            <a:ext cx="73152" cy="237744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Autonomous re-optimization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182880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'Fix violations in Greedy'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detect_violations → suggest_config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trigger_reoptimization → before/after diff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233D5C"/>
          </a:solidFill>
          <a:ln w="12700">
            <a:solidFill>
              <a:srgbClr val="9B89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840480"/>
            <a:ext cx="73152" cy="2377440"/>
          </a:xfrm>
          <a:prstGeom prst="rect">
            <a:avLst/>
          </a:prstGeom>
          <a:solidFill>
            <a:srgbClr val="9B89E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Multi-step reasoning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38912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'Run A and B, which is better?'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run_backend(A) → run_backend(B)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compare_backends → ranked comparison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233D5C"/>
          </a:solidFill>
          <a:ln w="12700">
            <a:solidFill>
              <a:srgbClr val="E68B6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3840480"/>
            <a:ext cx="73152" cy="2377440"/>
          </a:xfrm>
          <a:prstGeom prst="rect">
            <a:avLst/>
          </a:prstGeom>
          <a:solidFill>
            <a:srgbClr val="E68B6E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Real-time reactive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438912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Button: 'Driver sick (RT_6)'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explain_scenario → run_backend(OR-Tools EA)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analyze_results → recommend re-routing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47120" cy="5212080"/>
          </a:xfrm>
          <a:prstGeom prst="roundRect">
            <a:avLst>
              <a:gd name="adj" fmla="val 877"/>
            </a:avLst>
          </a:prstGeom>
          <a:solidFill>
            <a:srgbClr val="0A1626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1732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r>
              <a:rPr lang="en-US" sz="1300" dirty="0">
                <a:solidFill>
                  <a:srgbClr val="50FA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_run_agent_loop</a:t>
            </a: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(self, user_message: str) -&gt; str: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max_iterations = 10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current_message = user_message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iteration &lt; max_iterations: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 = self._chat_session.send_message(current_message)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27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Collect function calls from response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fn_calls = [p.function_call for c in response.candidates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for p in c.content.parts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if hasattr(p, </a:t>
            </a:r>
            <a:r>
              <a:rPr lang="en-US" sz="1300" dirty="0">
                <a:solidFill>
                  <a:srgbClr val="F1F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'function_call'</a:t>
            </a: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and p.function_call.name]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fn_calls:  # Pure text — agent done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extract_text(response)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27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Execute tools and feed results back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fn_call in fn_calls: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result = self._dispatch_tool(fn_call.name, dict(fn_call.args))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self._tool_calls_log.append({</a:t>
            </a:r>
            <a:r>
              <a:rPr lang="en-US" sz="1300" dirty="0">
                <a:solidFill>
                  <a:srgbClr val="F1F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'tool'</a:t>
            </a: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fn_call.name, </a:t>
            </a:r>
            <a:r>
              <a:rPr lang="en-US" sz="1300" dirty="0">
                <a:solidFill>
                  <a:srgbClr val="F1F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'result'</a:t>
            </a:r>
            <a:r>
              <a:rPr lang="en-US" sz="13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result})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8,140 lines across 4 source files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097280"/>
          </a:xfrm>
          <a:prstGeom prst="roundRect">
            <a:avLst>
              <a:gd name="adj" fmla="val 8333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73152" cy="109728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Layer · app.py  (845 lines)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103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· 6 tabs · sidebar config · auto-load · session state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5486400" cy="1097280"/>
          </a:xfrm>
          <a:prstGeom prst="roundRect">
            <a:avLst>
              <a:gd name="adj" fmla="val 8333"/>
            </a:avLst>
          </a:prstGeom>
          <a:solidFill>
            <a:srgbClr val="233D5C"/>
          </a:solidFill>
          <a:ln w="12700">
            <a:solidFill>
              <a:srgbClr val="3FA8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43200"/>
            <a:ext cx="73152" cy="1097280"/>
          </a:xfrm>
          <a:prstGeom prst="rect">
            <a:avLst/>
          </a:prstGeom>
          <a:solidFill>
            <a:srgbClr val="3FA88A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8803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Layer · base_engine.py  (933 lines)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 · scenario engine · haversine · Folium maps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5486400" cy="1097280"/>
          </a:xfrm>
          <a:prstGeom prst="roundRect">
            <a:avLst>
              <a:gd name="adj" fmla="val 8333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931920"/>
            <a:ext cx="73152" cy="109728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Layer · compare_backends.py  (5,438 lines)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backends · locked-prefix · OR-Tools EA · Excel export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5120640"/>
            <a:ext cx="5486400" cy="1097280"/>
          </a:xfrm>
          <a:prstGeom prst="roundRect">
            <a:avLst>
              <a:gd name="adj" fmla="val 8333"/>
            </a:avLst>
          </a:prstGeom>
          <a:solidFill>
            <a:srgbClr val="233D5C"/>
          </a:solidFill>
          <a:ln w="12700">
            <a:solidFill>
              <a:srgbClr val="9B89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5120640"/>
            <a:ext cx="73152" cy="1097280"/>
          </a:xfrm>
          <a:prstGeom prst="rect">
            <a:avLst/>
          </a:prstGeom>
          <a:solidFill>
            <a:srgbClr val="9B89E6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5257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Layer · vrp_agent.py  (960 lines)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6692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· 8 tools · agentic loop · system prompt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63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domain agents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63640" y="178308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83080"/>
            <a:ext cx="54864" cy="77724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IntakeAgent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21945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269748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233D5C"/>
          </a:solidFill>
          <a:ln w="12700">
            <a:solidFill>
              <a:srgbClr val="3FA8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2697480"/>
            <a:ext cx="54864" cy="777240"/>
          </a:xfrm>
          <a:prstGeom prst="rect">
            <a:avLst/>
          </a:prstGeom>
          <a:solidFill>
            <a:srgbClr val="3FA88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27889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PolicyAgent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0" y="3108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per goal profile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61188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611880"/>
            <a:ext cx="54864" cy="77724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703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AssignmentAgent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40233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+ 2-opt scoring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63640" y="452628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233D5C"/>
          </a:solidFill>
          <a:ln w="12700">
            <a:solidFill>
              <a:srgbClr val="E68B6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63640" y="4526280"/>
            <a:ext cx="54864" cy="777240"/>
          </a:xfrm>
          <a:prstGeom prst="rect">
            <a:avLst/>
          </a:prstGeom>
          <a:solidFill>
            <a:srgbClr val="E68B6E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46177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ScenarioAgent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400800" y="49377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mutations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544068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233D5C"/>
          </a:solidFill>
          <a:ln w="12700">
            <a:solidFill>
              <a:srgbClr val="9B89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63640" y="5440680"/>
            <a:ext cx="54864" cy="777240"/>
          </a:xfrm>
          <a:prstGeom prst="rect">
            <a:avLst/>
          </a:prstGeom>
          <a:solidFill>
            <a:srgbClr val="9B89E6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0" y="55321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ExplainAgent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00800" y="5852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 actions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Data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CSV files · 40,000 orders · 400 routes · 8 depots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20040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0" y="1463040"/>
            <a:ext cx="137160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0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0" y="1463040"/>
            <a:ext cx="667512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4630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Columns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32004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920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B8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orders_40000.csv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0" y="1920240"/>
            <a:ext cx="13716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9476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0" y="1920240"/>
            <a:ext cx="667512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19202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Latitude, Longitude, ServiceTime, TimeWindow, Priority, SLAFlag, AccountId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32004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468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B8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routes_400.csv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0" y="2468880"/>
            <a:ext cx="13716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9476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0" y="2468880"/>
            <a:ext cx="667512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66360" y="24688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StartDepotName, EarliestStartTime, MaxOrderCount, OvertimeStartTime, TechnicianRating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17520"/>
            <a:ext cx="32004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B8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depots_8.csv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0" y="3017520"/>
            <a:ext cx="13716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94760" y="3017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0" y="3017520"/>
            <a:ext cx="667512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66360" y="30175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Latitude, Longitude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566160"/>
            <a:ext cx="32004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566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B8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accounts.csv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0" y="3566160"/>
            <a:ext cx="13716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94760" y="35661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0" y="3566160"/>
            <a:ext cx="667512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66360" y="3566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AccountId, GoalProfile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114800"/>
            <a:ext cx="32004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1148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B8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goal_profiles.csv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0" y="4114800"/>
            <a:ext cx="137160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94760" y="4114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029200" y="4114800"/>
            <a:ext cx="6675120" cy="54864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66360" y="41148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minimize_travel_time, maximize_sla_adherence, reduce_overtime, prefer_higher_rated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93776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233D5C"/>
          </a:solidFill>
          <a:ln w="12700">
            <a:solidFill>
              <a:srgbClr val="3FA88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4937760"/>
            <a:ext cx="73152" cy="1371600"/>
          </a:xfrm>
          <a:prstGeom prst="rect">
            <a:avLst/>
          </a:prstGeom>
          <a:solidFill>
            <a:srgbClr val="3FA88A"/>
          </a:solidFill>
          <a:ln/>
        </p:spPr>
      </p:sp>
      <p:sp>
        <p:nvSpPr>
          <p:cNvPr id="42" name="Text 40"/>
          <p:cNvSpPr/>
          <p:nvPr/>
        </p:nvSpPr>
        <p:spPr>
          <a:xfrm>
            <a:off x="685800" y="5074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scope per run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85800" y="5486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orders · 20 routes · 1 depot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263640" y="493776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63640" y="4937760"/>
            <a:ext cx="73152" cy="137160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46" name="Text 44"/>
          <p:cNvSpPr/>
          <p:nvPr/>
        </p:nvSpPr>
        <p:spPr>
          <a:xfrm>
            <a:off x="6492240" y="5074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metric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492240" y="5486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at 30 km/h (OSRM uses real roads)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· 6 Tabs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47120" cy="731520"/>
          </a:xfrm>
          <a:prstGeom prst="roundRect">
            <a:avLst>
              <a:gd name="adj" fmla="val 12500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280160"/>
            <a:ext cx="73152" cy="73152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10881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run count, scenarios, dataset metrics, summary tables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11247120" cy="731520"/>
          </a:xfrm>
          <a:prstGeom prst="roundRect">
            <a:avLst>
              <a:gd name="adj" fmla="val 12500"/>
            </a:avLst>
          </a:prstGeom>
          <a:solidFill>
            <a:srgbClr val="233D5C"/>
          </a:solidFill>
          <a:ln w="12700">
            <a:solidFill>
              <a:srgbClr val="3FA8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48840"/>
            <a:ext cx="73152" cy="731520"/>
          </a:xfrm>
          <a:prstGeom prst="rect">
            <a:avLst/>
          </a:prstGeom>
          <a:solidFill>
            <a:srgbClr val="3FA88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286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Comparison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10881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Plotly bar charts: Assigned, Routes, Distance, Travel, Late, Runtime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11247120" cy="731520"/>
          </a:xfrm>
          <a:prstGeom prst="roundRect">
            <a:avLst>
              <a:gd name="adj" fmla="val 12500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017520"/>
            <a:ext cx="73152" cy="73152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154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Explorer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3566160"/>
            <a:ext cx="10881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Folium map · per-route stops · sequence polylines · ETA popups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11247120" cy="731520"/>
          </a:xfrm>
          <a:prstGeom prst="roundRect">
            <a:avLst>
              <a:gd name="adj" fmla="val 12500"/>
            </a:avLst>
          </a:prstGeom>
          <a:solidFill>
            <a:srgbClr val="233D5C"/>
          </a:solidFill>
          <a:ln w="12700">
            <a:solidFill>
              <a:srgbClr val="9B89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886200"/>
            <a:ext cx="73152" cy="731520"/>
          </a:xfrm>
          <a:prstGeom prst="rect">
            <a:avLst/>
          </a:prstGeom>
          <a:solidFill>
            <a:srgbClr val="9B89E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023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Tables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" y="4434840"/>
            <a:ext cx="10881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Per-backend × per-scenario data: Summary, Actions, Routes, Stops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754880"/>
            <a:ext cx="11247120" cy="731520"/>
          </a:xfrm>
          <a:prstGeom prst="roundRect">
            <a:avLst>
              <a:gd name="adj" fmla="val 12500"/>
            </a:avLst>
          </a:prstGeom>
          <a:solidFill>
            <a:srgbClr val="233D5C"/>
          </a:solidFill>
          <a:ln w="12700">
            <a:solidFill>
              <a:srgbClr val="E68B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754880"/>
            <a:ext cx="73152" cy="731520"/>
          </a:xfrm>
          <a:prstGeom prst="rect">
            <a:avLst/>
          </a:prstGeom>
          <a:solidFill>
            <a:srgbClr val="E68B6E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8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5800" y="5303520"/>
            <a:ext cx="10881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Multi-sheet XLSX download · 4 sheets per backend × 8 = 32 sheets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5623560"/>
            <a:ext cx="11247120" cy="731520"/>
          </a:xfrm>
          <a:prstGeom prst="roundRect">
            <a:avLst>
              <a:gd name="adj" fmla="val 12500"/>
            </a:avLst>
          </a:prstGeom>
          <a:solidFill>
            <a:srgbClr val="233D5C"/>
          </a:solidFill>
          <a:ln w="12700">
            <a:solidFill>
              <a:srgbClr val="7AC4A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5623560"/>
            <a:ext cx="73152" cy="731520"/>
          </a:xfrm>
          <a:prstGeom prst="rect">
            <a:avLst/>
          </a:prstGeom>
          <a:solidFill>
            <a:srgbClr val="7AC4A1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AI Agent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" y="6172200"/>
            <a:ext cx="10881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· 8 quick actions · 4 reactive event buttons · tool calls log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BackendConfig — 28 Parameters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exposed in the Streamlit sidebar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657600" cy="4389120"/>
          </a:xfrm>
          <a:prstGeom prst="roundRect">
            <a:avLst>
              <a:gd name="adj" fmla="val 2500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73152" cy="438912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965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(9)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3291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speed_kmph = 35.0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use_two_opt = True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strict_skill_bias = True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random_seed = 42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max_orders = 350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max_routes = 24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depot_focus = None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sample_by_priority = True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fast_mode = True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1828800"/>
            <a:ext cx="3657600" cy="4389120"/>
          </a:xfrm>
          <a:prstGeom prst="roundRect">
            <a:avLst>
              <a:gd name="adj" fmla="val 2500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828800"/>
            <a:ext cx="73152" cy="438912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1965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Hybrid/Adaptive (14)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2377440"/>
            <a:ext cx="3291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candidate_routes = 10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frontier_size = 28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local_search_passes = 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max_hard_late_min = 30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shift_buffer = 15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route_activation = 42.0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compact_passes = 3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global_relocate = 3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require_zero_late = True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828800"/>
            <a:ext cx="3657600" cy="4389120"/>
          </a:xfrm>
          <a:prstGeom prst="roundRect">
            <a:avLst>
              <a:gd name="adj" fmla="val 2500"/>
            </a:avLst>
          </a:prstGeom>
          <a:solidFill>
            <a:srgbClr val="233D5C"/>
          </a:solidFill>
          <a:ln w="12700">
            <a:solidFill>
              <a:srgbClr val="7AC4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828800"/>
            <a:ext cx="73152" cy="4389120"/>
          </a:xfrm>
          <a:prstGeom prst="rect">
            <a:avLst/>
          </a:prstGeom>
          <a:solidFill>
            <a:srgbClr val="7AC4A1"/>
          </a:solidFill>
          <a:ln/>
        </p:spPr>
      </p:sp>
      <p:sp>
        <p:nvSpPr>
          <p:cNvPr id="14" name="Text 12"/>
          <p:cNvSpPr/>
          <p:nvPr/>
        </p:nvSpPr>
        <p:spPr>
          <a:xfrm>
            <a:off x="8275320" y="1965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Solver-specific (5)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5320" y="2377440"/>
            <a:ext cx="3291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(2):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ortools_max_runtime = 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ortools_allow_drop = True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PyVRP (2):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pyvrp_max_runtime = 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pyvrp_allow_drop = False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(6) · Esri (4) · ...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Analysis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37744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34640" y="1280160"/>
            <a:ext cx="274320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464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77840" y="1280160"/>
            <a:ext cx="310896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77840" y="1280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Search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0" y="1280160"/>
            <a:ext cx="3017520" cy="45720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0" y="1280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237744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7373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834640" y="1737360"/>
            <a:ext cx="27432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7373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× 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577840" y="1737360"/>
            <a:ext cx="310896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15000" y="17373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O(R × M²) per pass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86800" y="1737360"/>
            <a:ext cx="30175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23960" y="17373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O(NR + RM²)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240280"/>
            <a:ext cx="237744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834640" y="2240280"/>
            <a:ext cx="27432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71800" y="22402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× R × HTTP)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577840" y="2240280"/>
            <a:ext cx="310896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15000" y="22402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O(RM² × HTTP)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686800" y="2240280"/>
            <a:ext cx="30175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23960" y="2240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O((NR + RM²) × HTTP)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2743200"/>
            <a:ext cx="237744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27432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PyVRP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834640" y="2743200"/>
            <a:ext cx="27432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743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O(N²) per gen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577840" y="2743200"/>
            <a:ext cx="310896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15000" y="2743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 moves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686800" y="2743200"/>
            <a:ext cx="30175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23960" y="2743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O(G × N²)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3246120"/>
            <a:ext cx="237744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3246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34640" y="3246120"/>
            <a:ext cx="27432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71800" y="3246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× R)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77840" y="3246120"/>
            <a:ext cx="310896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15000" y="3246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O(t × N × R)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686800" y="3246120"/>
            <a:ext cx="30175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823960" y="3246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O(t × N × R)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3749040"/>
            <a:ext cx="2377440" cy="50292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" y="3749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EA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834640" y="3749040"/>
            <a:ext cx="2743200" cy="50292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7490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C4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O(K × R)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577840" y="3749040"/>
            <a:ext cx="3108960" cy="50292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15000" y="3749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C4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O(t × K × R)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8686800" y="3749040"/>
            <a:ext cx="3017520" cy="50292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23960" y="3749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C4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O(t × K × R), K &lt;&lt; 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4251960"/>
            <a:ext cx="237744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42519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834640" y="4251960"/>
            <a:ext cx="27432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71800" y="4251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 × R × frontier)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77840" y="4251960"/>
            <a:ext cx="310896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15000" y="42519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O(NR × passes)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8686800" y="4251960"/>
            <a:ext cx="30175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823960" y="4251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O(NR × passes)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57200" y="4754880"/>
            <a:ext cx="237744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4360" y="4754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834640" y="4754880"/>
            <a:ext cx="27432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71800" y="4754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K_restarts × Hybrid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577840" y="4754880"/>
            <a:ext cx="310896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15000" y="47548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× Hybrid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8686800" y="4754880"/>
            <a:ext cx="30175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2396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× O(NR × passes)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" y="5486400"/>
            <a:ext cx="73152" cy="100584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68" name="Shape 66"/>
          <p:cNvSpPr/>
          <p:nvPr/>
        </p:nvSpPr>
        <p:spPr>
          <a:xfrm>
            <a:off x="530352" y="5486400"/>
            <a:ext cx="11173968" cy="1005840"/>
          </a:xfrm>
          <a:prstGeom prst="rect">
            <a:avLst/>
          </a:prstGeom>
          <a:solidFill>
            <a:srgbClr val="233D5C"/>
          </a:solidFill>
          <a:ln/>
        </p:spPr>
      </p:sp>
      <p:sp>
        <p:nvSpPr>
          <p:cNvPr id="69" name="Text 67"/>
          <p:cNvSpPr/>
          <p:nvPr/>
        </p:nvSpPr>
        <p:spPr>
          <a:xfrm>
            <a:off x="731520" y="5577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EA submits K = ~10 open orders instead of N = 150. Model is 10-15× smaller.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Path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194560" cy="1463040"/>
          </a:xfrm>
          <a:prstGeom prst="roundRect">
            <a:avLst>
              <a:gd name="adj" fmla="val 6250"/>
            </a:avLst>
          </a:prstGeom>
          <a:solidFill>
            <a:srgbClr val="233D5C"/>
          </a:solidFill>
          <a:ln w="19050">
            <a:solidFill>
              <a:srgbClr val="5BA4E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417320"/>
            <a:ext cx="411480" cy="411480"/>
          </a:xfrm>
          <a:prstGeom prst="ellipse">
            <a:avLst/>
          </a:prstGeom>
          <a:solidFill>
            <a:srgbClr val="5BA4E6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benchmarks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artifacts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88920" y="1280160"/>
            <a:ext cx="2194560" cy="1463040"/>
          </a:xfrm>
          <a:prstGeom prst="roundRect">
            <a:avLst>
              <a:gd name="adj" fmla="val 6250"/>
            </a:avLst>
          </a:prstGeom>
          <a:solidFill>
            <a:srgbClr val="233D5C"/>
          </a:solidFill>
          <a:ln w="19050">
            <a:solidFill>
              <a:srgbClr val="E6B85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1417320"/>
            <a:ext cx="411480" cy="411480"/>
          </a:xfrm>
          <a:prstGeom prst="ellipse">
            <a:avLst/>
          </a:prstGeom>
          <a:solidFill>
            <a:srgbClr val="E6B85B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2900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19202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Spaces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image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20640" y="1280160"/>
            <a:ext cx="2194560" cy="1463040"/>
          </a:xfrm>
          <a:prstGeom prst="roundRect">
            <a:avLst>
              <a:gd name="adj" fmla="val 6250"/>
            </a:avLst>
          </a:prstGeom>
          <a:solidFill>
            <a:srgbClr val="233D5C"/>
          </a:solidFill>
          <a:ln w="19050">
            <a:solidFill>
              <a:srgbClr val="3FA88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57800" y="1417320"/>
            <a:ext cx="411480" cy="411480"/>
          </a:xfrm>
          <a:prstGeom prst="ellipse">
            <a:avLst/>
          </a:prstGeom>
          <a:solidFill>
            <a:srgbClr val="3FA88A"/>
          </a:solidFill>
          <a:ln/>
        </p:spPr>
      </p:sp>
      <p:sp>
        <p:nvSpPr>
          <p:cNvPr id="15" name="Text 13"/>
          <p:cNvSpPr/>
          <p:nvPr/>
        </p:nvSpPr>
        <p:spPr>
          <a:xfrm>
            <a:off x="525780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6072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HF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57800" y="19202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lfs for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7MB CSV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52360" y="1280160"/>
            <a:ext cx="2194560" cy="1463040"/>
          </a:xfrm>
          <a:prstGeom prst="roundRect">
            <a:avLst>
              <a:gd name="adj" fmla="val 6250"/>
            </a:avLst>
          </a:prstGeom>
          <a:solidFill>
            <a:srgbClr val="233D5C"/>
          </a:solidFill>
          <a:ln w="19050">
            <a:solidFill>
              <a:srgbClr val="9B89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9520" y="1417320"/>
            <a:ext cx="411480" cy="411480"/>
          </a:xfrm>
          <a:prstGeom prst="ellipse">
            <a:avLst/>
          </a:prstGeom>
          <a:solidFill>
            <a:srgbClr val="9B89E6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09244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secrets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19202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GOOGLE_API_KEY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Settings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784080" y="1280160"/>
            <a:ext cx="2194560" cy="1463040"/>
          </a:xfrm>
          <a:prstGeom prst="roundRect">
            <a:avLst>
              <a:gd name="adj" fmla="val 6250"/>
            </a:avLst>
          </a:prstGeom>
          <a:solidFill>
            <a:srgbClr val="233D5C"/>
          </a:solidFill>
          <a:ln w="19050">
            <a:solidFill>
              <a:srgbClr val="7AC4A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921240" y="1417320"/>
            <a:ext cx="411480" cy="411480"/>
          </a:xfrm>
          <a:prstGeom prst="ellipse">
            <a:avLst/>
          </a:prstGeom>
          <a:solidFill>
            <a:srgbClr val="7AC4A1"/>
          </a:solidFill>
          <a:ln/>
        </p:spPr>
      </p:sp>
      <p:sp>
        <p:nvSpPr>
          <p:cNvPr id="25" name="Text 23"/>
          <p:cNvSpPr/>
          <p:nvPr/>
        </p:nvSpPr>
        <p:spPr>
          <a:xfrm>
            <a:off x="992124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424160" y="1371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921240" y="19202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HTTPS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108960"/>
            <a:ext cx="11247120" cy="3291840"/>
          </a:xfrm>
          <a:prstGeom prst="roundRect">
            <a:avLst>
              <a:gd name="adj" fmla="val 1389"/>
            </a:avLst>
          </a:prstGeom>
          <a:solidFill>
            <a:srgbClr val="0A1626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246120"/>
            <a:ext cx="10881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python:3.11-slim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apt-get update &amp;&amp; apt-get install -y --no-install-recommends build-essential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useradd -m -u 1000 user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/home/user/app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--chown=user requirements.txt 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--no-cache-dir -r requirements.txt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--chown=user . 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7860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79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</a:t>
            </a:r>
            <a:r>
              <a:rPr lang="en-US" sz="12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["streamlit", "run", "app.py", "--server.port=7860", "--server.address=0.0.0.0"]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Zero-Friction Demo Loading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auto-discovers data and pre-computed artifacts on startup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486400" cy="4572000"/>
          </a:xfrm>
          <a:prstGeom prst="roundRect">
            <a:avLst>
              <a:gd name="adj" fmla="val 1000"/>
            </a:avLst>
          </a:prstGeom>
          <a:solidFill>
            <a:srgbClr val="0A1626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272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Auto-discovery candidates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LOCAL_SYNTHETIC_DATA = [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os.getenv(</a:t>
            </a:r>
            <a:r>
              <a:rPr lang="en-US" sz="1100" dirty="0">
                <a:solidFill>
                  <a:srgbClr val="F1F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'VRP_SYNTHETIC_DATA_DIR'</a:t>
            </a: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00" dirty="0">
                <a:solidFill>
                  <a:srgbClr val="F1F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</a:t>
            </a: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).strip(),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str(Path(__file__).parent / </a:t>
            </a:r>
            <a:r>
              <a:rPr lang="en-US" sz="1100" dirty="0">
                <a:solidFill>
                  <a:srgbClr val="F1F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'data'</a:t>
            </a: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str(Path(__file__).parent / </a:t>
            </a:r>
            <a:r>
              <a:rPr lang="en-US" sz="1100" dirty="0">
                <a:solidFill>
                  <a:srgbClr val="F1F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'synthetic_data'</a:t>
            </a: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LOCAL_ARTIFACTS = [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os.getenv(</a:t>
            </a:r>
            <a:r>
              <a:rPr lang="en-US" sz="1100" dirty="0">
                <a:solidFill>
                  <a:srgbClr val="F1F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'VRP_NOTEBOOK_ARTIFACTS_DIR'</a:t>
            </a: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00" dirty="0">
                <a:solidFill>
                  <a:srgbClr val="F1F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</a:t>
            </a: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).strip(),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str(Path(__file__).parent / </a:t>
            </a:r>
            <a:r>
              <a:rPr lang="en-US" sz="1100" dirty="0">
                <a:solidFill>
                  <a:srgbClr val="F1F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'artifacts'</a:t>
            </a: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233D5C"/>
          </a:solidFill>
          <a:ln w="12700">
            <a:solidFill>
              <a:srgbClr val="7AC4A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63640" y="1645920"/>
            <a:ext cx="73152" cy="4572000"/>
          </a:xfrm>
          <a:prstGeom prst="rect">
            <a:avLst/>
          </a:prstGeom>
          <a:solidFill>
            <a:srgbClr val="7AC4A1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user sees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19456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 the app → CSVs load automatically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Backend list shows '✓ found' for each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Default radio = 'Load saved workbook'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Click 'Build comparison' → instant results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upload required for demo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solves still available with one click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 Demo Video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 walkthrough · all 6 tabs · AI Agent live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371600" y="1645920"/>
            <a:ext cx="9418320" cy="4114800"/>
          </a:xfrm>
          <a:prstGeom prst="roundRect">
            <a:avLst>
              <a:gd name="adj" fmla="val 3333"/>
            </a:avLst>
          </a:prstGeom>
          <a:solidFill>
            <a:srgbClr val="0A0A0A"/>
          </a:solidFill>
          <a:ln w="25400">
            <a:solidFill>
              <a:srgbClr val="E68B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5400000">
            <a:off x="5486400" y="3108960"/>
            <a:ext cx="1188720" cy="1188720"/>
          </a:xfrm>
          <a:prstGeom prst="triangle">
            <a:avLst/>
          </a:prstGeom>
          <a:solidFill>
            <a:srgbClr val="E68B6E"/>
          </a:solidFill>
          <a:ln/>
        </p:spPr>
      </p:sp>
      <p:sp>
        <p:nvSpPr>
          <p:cNvPr id="6" name="Text 4">
            <a:hlinkClick r:id="rId3"/>
          </p:cNvPr>
          <p:cNvSpPr/>
          <p:nvPr/>
        </p:nvSpPr>
        <p:spPr>
          <a:xfrm>
            <a:off x="1371600" y="46634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EFF7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youtu.be/FqVuVjW20yo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link to watch the full walkthrough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20040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1188720"/>
            <a:ext cx="320040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1188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0" y="1188720"/>
            <a:ext cx="4846320" cy="411480"/>
          </a:xfrm>
          <a:prstGeom prst="rect">
            <a:avLst/>
          </a:prstGeom>
          <a:solidFill>
            <a:srgbClr val="1A2F4A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1887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600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2.0 Flash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0" y="160020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94760" y="1600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Sonnet, GPT-4o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0" y="1600200"/>
            <a:ext cx="48463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95160" y="16002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1500/day, no card, strong function-calling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103120"/>
            <a:ext cx="3200400" cy="50292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1031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Split-solve for OR-Tools EA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0" y="2103120"/>
            <a:ext cx="3200400" cy="50292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94760" y="21031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locked stops in model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0" y="2103120"/>
            <a:ext cx="4846320" cy="502920"/>
          </a:xfrm>
          <a:prstGeom prst="rect">
            <a:avLst/>
          </a:prstGeom>
          <a:solidFill>
            <a:srgbClr val="1A3D33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95160" y="21031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Naïve pinning makes PATH_CHEAPEST_ARC infeasible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26060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fallback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0" y="260604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94760" y="26060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any-drop solutions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0" y="2606040"/>
            <a:ext cx="48463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2606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100% assignment, rarely triggers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10896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Locked-prefix mechanism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0" y="310896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94760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re-solve per scenario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858000" y="3108960"/>
            <a:ext cx="48463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95160" y="31089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in-progress work, 11% faster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1188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3611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distance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57600" y="361188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794760" y="36118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 for all backends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858000" y="3611880"/>
            <a:ext cx="48463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95160" y="3611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OSRM rate-limited; haversine = consistent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411480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4114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ortools_allow_drop = True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657600" y="411480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794760" y="4114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Hard-assign all orders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858000" y="4114800"/>
            <a:ext cx="48463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95160" y="4114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Disjunction prizes improve quality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461772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" y="4617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fixed scenarios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3657600" y="461772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94760" y="4617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User-defined mutations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858000" y="4617720"/>
            <a:ext cx="48463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995160" y="4617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benchmarks, fair compare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512064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120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(not Gradio)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657600" y="5120640"/>
            <a:ext cx="320040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94760" y="5120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Gradio, Dash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858000" y="5120640"/>
            <a:ext cx="4846320" cy="502920"/>
          </a:xfrm>
          <a:prstGeom prst="rect">
            <a:avLst/>
          </a:prstGeom>
          <a:solidFill>
            <a:srgbClr val="233D5C"/>
          </a:solidFill>
          <a:ln w="6350">
            <a:solidFill>
              <a:srgbClr val="1A2F4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995160" y="51206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multi-tab UX, native dataframe rendering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233D5C"/>
          </a:solidFill>
          <a:ln w="12700">
            <a:solidFill>
              <a:srgbClr val="7AC4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463040"/>
            <a:ext cx="73152" cy="4572000"/>
          </a:xfrm>
          <a:prstGeom prst="rect">
            <a:avLst/>
          </a:prstGeom>
          <a:solidFill>
            <a:srgbClr val="7AC4A1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with benchmark regression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Persist OSRM cache to disk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Multi-depot solving support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SLA breach prediction model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OpenAPI spec for headless solves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technician GPS feed integration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structured logging and request tracing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46304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63640" y="1463040"/>
            <a:ext cx="73152" cy="457200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01168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Anthropic Claude as alternative agent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Kubernetes deployment manifest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A/B testing for cost function variants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Production load + concurrency tests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Move to async backend execution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per-customer custom scenarios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Streaming agent responses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6126480"/>
            <a:ext cx="73152" cy="64008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12" name="Shape 10"/>
          <p:cNvSpPr/>
          <p:nvPr/>
        </p:nvSpPr>
        <p:spPr>
          <a:xfrm>
            <a:off x="530352" y="6126480"/>
            <a:ext cx="11173968" cy="640080"/>
          </a:xfrm>
          <a:prstGeom prst="rect">
            <a:avLst/>
          </a:prstGeom>
          <a:solidFill>
            <a:srgbClr val="233D5C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62179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solving a routing problem to shipping an autonomous, execution-aware platform.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Thought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73152" cy="219456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4" name="Shape 2"/>
          <p:cNvSpPr/>
          <p:nvPr/>
        </p:nvSpPr>
        <p:spPr>
          <a:xfrm>
            <a:off x="530352" y="1280160"/>
            <a:ext cx="11173968" cy="2194560"/>
          </a:xfrm>
          <a:prstGeom prst="rect">
            <a:avLst/>
          </a:prstGeom>
          <a:solidFill>
            <a:srgbClr val="233D5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value is not only the OR-Tools EA winner backend.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comparative benchmark scaffolding, the locked-prefix mechanism, and the agentic AI layer that together make the system operationally trustworthy.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4023360"/>
            <a:ext cx="17830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114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50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4023360"/>
            <a:ext cx="17830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4114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423160" y="48006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50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89120" y="4023360"/>
            <a:ext cx="17830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4114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770s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389120" y="48006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50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55080" y="4023360"/>
            <a:ext cx="17830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4114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355080" y="48006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50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321040" y="4023360"/>
            <a:ext cx="178308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114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8321040" y="48006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50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287000" y="4023360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233D5C"/>
          </a:solidFill>
          <a:ln w="12700">
            <a:solidFill>
              <a:srgbClr val="1A2F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87000" y="411480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0287000" y="48006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150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Find everything here: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233D5C"/>
          </a:solidFill>
          <a:ln w="12700">
            <a:solidFill>
              <a:srgbClr val="5BA4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03120"/>
            <a:ext cx="73152" cy="1828800"/>
          </a:xfrm>
          <a:prstGeom prst="rect">
            <a:avLst/>
          </a:prstGeom>
          <a:solidFill>
            <a:srgbClr val="5BA4E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240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Source Code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6517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github.com/dranubhaparashar/Execution-Aware-Agentic-VRP-Solver-and-Benchmark-Studio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210312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233D5C"/>
          </a:solidFill>
          <a:ln w="12700">
            <a:solidFill>
              <a:srgbClr val="7AC4A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2103120"/>
            <a:ext cx="73152" cy="1828800"/>
          </a:xfrm>
          <a:prstGeom prst="rect">
            <a:avLst/>
          </a:prstGeom>
          <a:solidFill>
            <a:srgbClr val="7AC4A1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240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AC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Live App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huggingface.co/spaces/AnubhaParashar/Execution-Aware-Agentic-VRP-Solver-and-Benchmark-Studio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233D5C"/>
          </a:solidFill>
          <a:ln w="12700">
            <a:solidFill>
              <a:srgbClr val="E6B8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4114800"/>
            <a:ext cx="73152" cy="1828800"/>
          </a:xfrm>
          <a:prstGeom prst="rect">
            <a:avLst/>
          </a:prstGeom>
          <a:solidFill>
            <a:srgbClr val="E6B85B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B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 Demo Video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46634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youtu.be/FqVuVjW20yo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 walkthrough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11480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233D5C"/>
          </a:solidFill>
          <a:ln w="12700">
            <a:solidFill>
              <a:srgbClr val="9B89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3640" y="4114800"/>
            <a:ext cx="73152" cy="1828800"/>
          </a:xfrm>
          <a:prstGeom prst="rect">
            <a:avLst/>
          </a:prstGeom>
          <a:solidFill>
            <a:srgbClr val="9B89E6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8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Wiki Docs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46634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Algorithm Comparison · Function Reference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❤ by Anubha </a:t>
            </a:r>
            <a:r>
              <a:rPr lang="en-US" sz="1300" i="1" dirty="0" err="1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Parashar</a:t>
            </a:r>
            <a:r>
              <a:rPr lang="en-US" sz="1300" i="1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300" i="1" smtClean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300" i="1" dirty="0">
                <a:solidFill>
                  <a:srgbClr val="8FA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2784</Words>
  <Application>Microsoft Office PowerPoint</Application>
  <PresentationFormat>Widescreen</PresentationFormat>
  <Paragraphs>714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Execution-Aware Agentic VRP Solver and Benchmark Studio</dc:title>
  <dc:subject>Deep technical walkthrough</dc:subject>
  <dc:creator>Anubha Parashar</dc:creator>
  <cp:lastModifiedBy>Anubha</cp:lastModifiedBy>
  <cp:revision>2</cp:revision>
  <dcterms:created xsi:type="dcterms:W3CDTF">2026-04-27T02:00:31Z</dcterms:created>
  <dcterms:modified xsi:type="dcterms:W3CDTF">2026-04-27T02:08:41Z</dcterms:modified>
</cp:coreProperties>
</file>