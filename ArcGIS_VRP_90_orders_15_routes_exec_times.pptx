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9" r:id="rId2"/>
    <p:sldId id="28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4F"/>
    <a:srgbClr val="3366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5FB6A4-72FD-4D88-B937-6578907C89FA}" v="2" dt="2026-04-10T17:40:38.259"/>
    <p1510:client id="{DC3CA4B5-FEF3-43D3-B198-13249D9B5D18}" v="7" dt="2026-04-10T19:52:21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bha Parashar" userId="1e0d80f6-7742-4581-ba7f-3d5d0f833d5d" providerId="ADAL" clId="{DC80B7CF-9611-45FB-8314-EA9BB3BFEC7B}"/>
    <pc:docChg chg="undo redo custSel modSld">
      <pc:chgData name="Anubha Parashar" userId="1e0d80f6-7742-4581-ba7f-3d5d0f833d5d" providerId="ADAL" clId="{DC80B7CF-9611-45FB-8314-EA9BB3BFEC7B}" dt="2026-04-10T19:54:30.529" v="499" actId="255"/>
      <pc:docMkLst>
        <pc:docMk/>
      </pc:docMkLst>
      <pc:sldChg chg="modSp mod">
        <pc:chgData name="Anubha Parashar" userId="1e0d80f6-7742-4581-ba7f-3d5d0f833d5d" providerId="ADAL" clId="{DC80B7CF-9611-45FB-8314-EA9BB3BFEC7B}" dt="2026-04-10T19:43:39.912" v="363" actId="14100"/>
        <pc:sldMkLst>
          <pc:docMk/>
          <pc:sldMk cId="0" sldId="258"/>
        </pc:sldMkLst>
        <pc:spChg chg="mod">
          <ac:chgData name="Anubha Parashar" userId="1e0d80f6-7742-4581-ba7f-3d5d0f833d5d" providerId="ADAL" clId="{DC80B7CF-9611-45FB-8314-EA9BB3BFEC7B}" dt="2026-04-10T19:43:39.912" v="363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8:10:37.727" v="102" actId="14100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49:03.360" v="415" actId="255"/>
        <pc:sldMkLst>
          <pc:docMk/>
          <pc:sldMk cId="0" sldId="259"/>
        </pc:sldMkLst>
        <pc:spChg chg="mod">
          <ac:chgData name="Anubha Parashar" userId="1e0d80f6-7742-4581-ba7f-3d5d0f833d5d" providerId="ADAL" clId="{DC80B7CF-9611-45FB-8314-EA9BB3BFEC7B}" dt="2026-04-10T19:48:56.241" v="414" actId="25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9:03.360" v="415" actId="255"/>
          <ac:spMkLst>
            <pc:docMk/>
            <pc:sldMk cId="0" sldId="259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49:18.427" v="417" actId="255"/>
        <pc:sldMkLst>
          <pc:docMk/>
          <pc:sldMk cId="0" sldId="260"/>
        </pc:sldMkLst>
        <pc:spChg chg="mod">
          <ac:chgData name="Anubha Parashar" userId="1e0d80f6-7742-4581-ba7f-3d5d0f833d5d" providerId="ADAL" clId="{DC80B7CF-9611-45FB-8314-EA9BB3BFEC7B}" dt="2026-04-10T19:49:13.207" v="416" actId="25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9:18.427" v="417" actId="255"/>
          <ac:spMkLst>
            <pc:docMk/>
            <pc:sldMk cId="0" sldId="260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49:45.259" v="425" actId="255"/>
        <pc:sldMkLst>
          <pc:docMk/>
          <pc:sldMk cId="0" sldId="261"/>
        </pc:sldMkLst>
        <pc:spChg chg="mod">
          <ac:chgData name="Anubha Parashar" userId="1e0d80f6-7742-4581-ba7f-3d5d0f833d5d" providerId="ADAL" clId="{DC80B7CF-9611-45FB-8314-EA9BB3BFEC7B}" dt="2026-04-10T19:49:33.114" v="419" actId="25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9:45.259" v="425" actId="255"/>
          <ac:spMkLst>
            <pc:docMk/>
            <pc:sldMk cId="0" sldId="261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0:08.852" v="431" actId="255"/>
        <pc:sldMkLst>
          <pc:docMk/>
          <pc:sldMk cId="0" sldId="262"/>
        </pc:sldMkLst>
        <pc:spChg chg="mod">
          <ac:chgData name="Anubha Parashar" userId="1e0d80f6-7742-4581-ba7f-3d5d0f833d5d" providerId="ADAL" clId="{DC80B7CF-9611-45FB-8314-EA9BB3BFEC7B}" dt="2026-04-10T19:50:00.926" v="428" actId="255"/>
          <ac:spMkLst>
            <pc:docMk/>
            <pc:sldMk cId="0" sldId="262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0:08.852" v="431" actId="255"/>
          <ac:spMkLst>
            <pc:docMk/>
            <pc:sldMk cId="0" sldId="262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0:40.017" v="437" actId="255"/>
        <pc:sldMkLst>
          <pc:docMk/>
          <pc:sldMk cId="0" sldId="263"/>
        </pc:sldMkLst>
        <pc:spChg chg="mod">
          <ac:chgData name="Anubha Parashar" userId="1e0d80f6-7742-4581-ba7f-3d5d0f833d5d" providerId="ADAL" clId="{DC80B7CF-9611-45FB-8314-EA9BB3BFEC7B}" dt="2026-04-10T19:50:40.017" v="437" actId="25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0:26.095" v="434" actId="1076"/>
          <ac:spMkLst>
            <pc:docMk/>
            <pc:sldMk cId="0" sldId="263"/>
            <ac:spMk id="28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0:35.287" v="436" actId="255"/>
          <ac:spMkLst>
            <pc:docMk/>
            <pc:sldMk cId="0" sldId="263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0:55.310" v="442" actId="255"/>
        <pc:sldMkLst>
          <pc:docMk/>
          <pc:sldMk cId="0" sldId="264"/>
        </pc:sldMkLst>
        <pc:spChg chg="mod">
          <ac:chgData name="Anubha Parashar" userId="1e0d80f6-7742-4581-ba7f-3d5d0f833d5d" providerId="ADAL" clId="{DC80B7CF-9611-45FB-8314-EA9BB3BFEC7B}" dt="2026-04-10T19:50:55.310" v="442" actId="255"/>
          <ac:spMkLst>
            <pc:docMk/>
            <pc:sldMk cId="0" sldId="264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0:47.274" v="440" actId="255"/>
          <ac:spMkLst>
            <pc:docMk/>
            <pc:sldMk cId="0" sldId="264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1:10.894" v="446" actId="255"/>
        <pc:sldMkLst>
          <pc:docMk/>
          <pc:sldMk cId="0" sldId="265"/>
        </pc:sldMkLst>
        <pc:spChg chg="mod">
          <ac:chgData name="Anubha Parashar" userId="1e0d80f6-7742-4581-ba7f-3d5d0f833d5d" providerId="ADAL" clId="{DC80B7CF-9611-45FB-8314-EA9BB3BFEC7B}" dt="2026-04-10T19:51:10.894" v="446" actId="25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1:04.078" v="444" actId="255"/>
          <ac:spMkLst>
            <pc:docMk/>
            <pc:sldMk cId="0" sldId="265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1:37.261" v="453" actId="255"/>
        <pc:sldMkLst>
          <pc:docMk/>
          <pc:sldMk cId="0" sldId="266"/>
        </pc:sldMkLst>
        <pc:spChg chg="mod">
          <ac:chgData name="Anubha Parashar" userId="1e0d80f6-7742-4581-ba7f-3d5d0f833d5d" providerId="ADAL" clId="{DC80B7CF-9611-45FB-8314-EA9BB3BFEC7B}" dt="2026-04-10T19:51:23.776" v="448" actId="255"/>
          <ac:spMkLst>
            <pc:docMk/>
            <pc:sldMk cId="0" sldId="266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1:28.620" v="450" actId="107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1:37.261" v="453" actId="255"/>
          <ac:spMkLst>
            <pc:docMk/>
            <pc:sldMk cId="0" sldId="266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1:54.773" v="457" actId="255"/>
        <pc:sldMkLst>
          <pc:docMk/>
          <pc:sldMk cId="0" sldId="267"/>
        </pc:sldMkLst>
        <pc:spChg chg="mod">
          <ac:chgData name="Anubha Parashar" userId="1e0d80f6-7742-4581-ba7f-3d5d0f833d5d" providerId="ADAL" clId="{DC80B7CF-9611-45FB-8314-EA9BB3BFEC7B}" dt="2026-04-10T19:51:46.657" v="455" actId="2711"/>
          <ac:spMkLst>
            <pc:docMk/>
            <pc:sldMk cId="0" sldId="267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1:54.773" v="457" actId="255"/>
          <ac:spMkLst>
            <pc:docMk/>
            <pc:sldMk cId="0" sldId="267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2:13.144" v="465" actId="255"/>
        <pc:sldMkLst>
          <pc:docMk/>
          <pc:sldMk cId="0" sldId="268"/>
        </pc:sldMkLst>
        <pc:spChg chg="mod">
          <ac:chgData name="Anubha Parashar" userId="1e0d80f6-7742-4581-ba7f-3d5d0f833d5d" providerId="ADAL" clId="{DC80B7CF-9611-45FB-8314-EA9BB3BFEC7B}" dt="2026-04-10T19:52:04.388" v="459" actId="255"/>
          <ac:spMkLst>
            <pc:docMk/>
            <pc:sldMk cId="0" sldId="268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2:13.144" v="465" actId="255"/>
          <ac:spMkLst>
            <pc:docMk/>
            <pc:sldMk cId="0" sldId="268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2:33.955" v="474" actId="255"/>
        <pc:sldMkLst>
          <pc:docMk/>
          <pc:sldMk cId="0" sldId="269"/>
        </pc:sldMkLst>
        <pc:spChg chg="mod">
          <ac:chgData name="Anubha Parashar" userId="1e0d80f6-7742-4581-ba7f-3d5d0f833d5d" providerId="ADAL" clId="{DC80B7CF-9611-45FB-8314-EA9BB3BFEC7B}" dt="2026-04-10T19:52:26.265" v="472" actId="255"/>
          <ac:spMkLst>
            <pc:docMk/>
            <pc:sldMk cId="0" sldId="269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2:33.955" v="474" actId="255"/>
          <ac:spMkLst>
            <pc:docMk/>
            <pc:sldMk cId="0" sldId="269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2:50.821" v="478" actId="255"/>
        <pc:sldMkLst>
          <pc:docMk/>
          <pc:sldMk cId="0" sldId="270"/>
        </pc:sldMkLst>
        <pc:spChg chg="mod">
          <ac:chgData name="Anubha Parashar" userId="1e0d80f6-7742-4581-ba7f-3d5d0f833d5d" providerId="ADAL" clId="{DC80B7CF-9611-45FB-8314-EA9BB3BFEC7B}" dt="2026-04-10T19:52:43.295" v="476" actId="255"/>
          <ac:spMkLst>
            <pc:docMk/>
            <pc:sldMk cId="0" sldId="270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2:50.821" v="478" actId="255"/>
          <ac:spMkLst>
            <pc:docMk/>
            <pc:sldMk cId="0" sldId="270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3:14.943" v="482" actId="255"/>
        <pc:sldMkLst>
          <pc:docMk/>
          <pc:sldMk cId="0" sldId="271"/>
        </pc:sldMkLst>
        <pc:spChg chg="mod">
          <ac:chgData name="Anubha Parashar" userId="1e0d80f6-7742-4581-ba7f-3d5d0f833d5d" providerId="ADAL" clId="{DC80B7CF-9611-45FB-8314-EA9BB3BFEC7B}" dt="2026-04-10T19:53:06.908" v="480" actId="255"/>
          <ac:spMkLst>
            <pc:docMk/>
            <pc:sldMk cId="0" sldId="271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3:14.943" v="482" actId="255"/>
          <ac:spMkLst>
            <pc:docMk/>
            <pc:sldMk cId="0" sldId="271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3:31.388" v="486" actId="255"/>
        <pc:sldMkLst>
          <pc:docMk/>
          <pc:sldMk cId="0" sldId="272"/>
        </pc:sldMkLst>
        <pc:spChg chg="mod">
          <ac:chgData name="Anubha Parashar" userId="1e0d80f6-7742-4581-ba7f-3d5d0f833d5d" providerId="ADAL" clId="{DC80B7CF-9611-45FB-8314-EA9BB3BFEC7B}" dt="2026-04-10T19:53:23.930" v="484" actId="255"/>
          <ac:spMkLst>
            <pc:docMk/>
            <pc:sldMk cId="0" sldId="272"/>
            <ac:spMk id="30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3:31.388" v="486" actId="255"/>
          <ac:spMkLst>
            <pc:docMk/>
            <pc:sldMk cId="0" sldId="272"/>
            <ac:spMk id="34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3:49.358" v="490" actId="255"/>
        <pc:sldMkLst>
          <pc:docMk/>
          <pc:sldMk cId="0" sldId="273"/>
        </pc:sldMkLst>
        <pc:spChg chg="mod">
          <ac:chgData name="Anubha Parashar" userId="1e0d80f6-7742-4581-ba7f-3d5d0f833d5d" providerId="ADAL" clId="{DC80B7CF-9611-45FB-8314-EA9BB3BFEC7B}" dt="2026-04-10T19:53:41.112" v="488" actId="255"/>
          <ac:spMkLst>
            <pc:docMk/>
            <pc:sldMk cId="0" sldId="273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3:49.358" v="490" actId="255"/>
          <ac:spMkLst>
            <pc:docMk/>
            <pc:sldMk cId="0" sldId="273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4:10.241" v="494" actId="255"/>
        <pc:sldMkLst>
          <pc:docMk/>
          <pc:sldMk cId="0" sldId="274"/>
        </pc:sldMkLst>
        <pc:spChg chg="mod">
          <ac:chgData name="Anubha Parashar" userId="1e0d80f6-7742-4581-ba7f-3d5d0f833d5d" providerId="ADAL" clId="{DC80B7CF-9611-45FB-8314-EA9BB3BFEC7B}" dt="2026-04-10T19:54:00.816" v="492" actId="255"/>
          <ac:spMkLst>
            <pc:docMk/>
            <pc:sldMk cId="0" sldId="274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4:10.241" v="494" actId="255"/>
          <ac:spMkLst>
            <pc:docMk/>
            <pc:sldMk cId="0" sldId="274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9:54:30.529" v="499" actId="255"/>
        <pc:sldMkLst>
          <pc:docMk/>
          <pc:sldMk cId="0" sldId="275"/>
        </pc:sldMkLst>
        <pc:spChg chg="mod">
          <ac:chgData name="Anubha Parashar" userId="1e0d80f6-7742-4581-ba7f-3d5d0f833d5d" providerId="ADAL" clId="{DC80B7CF-9611-45FB-8314-EA9BB3BFEC7B}" dt="2026-04-10T19:54:20.880" v="496" actId="255"/>
          <ac:spMkLst>
            <pc:docMk/>
            <pc:sldMk cId="0" sldId="275"/>
            <ac:spMk id="2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54:30.529" v="499" actId="255"/>
          <ac:spMkLst>
            <pc:docMk/>
            <pc:sldMk cId="0" sldId="275"/>
            <ac:spMk id="31" creationId="{00000000-0000-0000-0000-000000000000}"/>
          </ac:spMkLst>
        </pc:spChg>
      </pc:sldChg>
      <pc:sldChg chg="modSp mod">
        <pc:chgData name="Anubha Parashar" userId="1e0d80f6-7742-4581-ba7f-3d5d0f833d5d" providerId="ADAL" clId="{DC80B7CF-9611-45FB-8314-EA9BB3BFEC7B}" dt="2026-04-10T17:55:23.592" v="36" actId="207"/>
        <pc:sldMkLst>
          <pc:docMk/>
          <pc:sldMk cId="0" sldId="276"/>
        </pc:sldMkLst>
        <pc:spChg chg="mod">
          <ac:chgData name="Anubha Parashar" userId="1e0d80f6-7742-4581-ba7f-3d5d0f833d5d" providerId="ADAL" clId="{DC80B7CF-9611-45FB-8314-EA9BB3BFEC7B}" dt="2026-04-10T17:54:08.533" v="23" actId="207"/>
          <ac:spMkLst>
            <pc:docMk/>
            <pc:sldMk cId="0" sldId="276"/>
            <ac:spMk id="7" creationId="{00000000-0000-0000-0000-000000000000}"/>
          </ac:spMkLst>
        </pc:spChg>
        <pc:graphicFrameChg chg="modGraphic">
          <ac:chgData name="Anubha Parashar" userId="1e0d80f6-7742-4581-ba7f-3d5d0f833d5d" providerId="ADAL" clId="{DC80B7CF-9611-45FB-8314-EA9BB3BFEC7B}" dt="2026-04-10T17:54:56.141" v="29" actId="207"/>
          <ac:graphicFrameMkLst>
            <pc:docMk/>
            <pc:sldMk cId="0" sldId="276"/>
            <ac:graphicFrameMk id="22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4:59.958" v="30" actId="207"/>
          <ac:graphicFrameMkLst>
            <pc:docMk/>
            <pc:sldMk cId="0" sldId="276"/>
            <ac:graphicFrameMk id="43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03.552" v="31" actId="207"/>
          <ac:graphicFrameMkLst>
            <pc:docMk/>
            <pc:sldMk cId="0" sldId="276"/>
            <ac:graphicFrameMk id="64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09.284" v="32" actId="207"/>
          <ac:graphicFrameMkLst>
            <pc:docMk/>
            <pc:sldMk cId="0" sldId="276"/>
            <ac:graphicFrameMk id="85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15.962" v="34" actId="207"/>
          <ac:graphicFrameMkLst>
            <pc:docMk/>
            <pc:sldMk cId="0" sldId="276"/>
            <ac:graphicFrameMk id="106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12.496" v="33" actId="207"/>
          <ac:graphicFrameMkLst>
            <pc:docMk/>
            <pc:sldMk cId="0" sldId="276"/>
            <ac:graphicFrameMk id="127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20.072" v="35" actId="207"/>
          <ac:graphicFrameMkLst>
            <pc:docMk/>
            <pc:sldMk cId="0" sldId="276"/>
            <ac:graphicFrameMk id="148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23.592" v="36" actId="207"/>
          <ac:graphicFrameMkLst>
            <pc:docMk/>
            <pc:sldMk cId="0" sldId="276"/>
            <ac:graphicFrameMk id="169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0:14.342" v="1" actId="207"/>
          <ac:graphicFrameMkLst>
            <pc:docMk/>
            <pc:sldMk cId="0" sldId="276"/>
            <ac:graphicFrameMk id="190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0:30.160" v="3" actId="207"/>
          <ac:graphicFrameMkLst>
            <pc:docMk/>
            <pc:sldMk cId="0" sldId="276"/>
            <ac:graphicFrameMk id="211" creationId="{00000000-0000-0000-0000-000000000000}"/>
          </ac:graphicFrameMkLst>
        </pc:graphicFrameChg>
      </pc:sldChg>
      <pc:sldChg chg="modSp mod">
        <pc:chgData name="Anubha Parashar" userId="1e0d80f6-7742-4581-ba7f-3d5d0f833d5d" providerId="ADAL" clId="{DC80B7CF-9611-45FB-8314-EA9BB3BFEC7B}" dt="2026-04-10T17:56:09.032" v="48" actId="207"/>
        <pc:sldMkLst>
          <pc:docMk/>
          <pc:sldMk cId="0" sldId="277"/>
        </pc:sldMkLst>
        <pc:graphicFrameChg chg="modGraphic">
          <ac:chgData name="Anubha Parashar" userId="1e0d80f6-7742-4581-ba7f-3d5d0f833d5d" providerId="ADAL" clId="{DC80B7CF-9611-45FB-8314-EA9BB3BFEC7B}" dt="2026-04-10T17:55:33.211" v="37" actId="207"/>
          <ac:graphicFrameMkLst>
            <pc:docMk/>
            <pc:sldMk cId="0" sldId="277"/>
            <ac:graphicFrameMk id="23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36.309" v="38" actId="207"/>
          <ac:graphicFrameMkLst>
            <pc:docMk/>
            <pc:sldMk cId="0" sldId="277"/>
            <ac:graphicFrameMk id="45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54.004" v="44" actId="207"/>
          <ac:graphicFrameMkLst>
            <pc:docMk/>
            <pc:sldMk cId="0" sldId="277"/>
            <ac:graphicFrameMk id="67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50.107" v="43" actId="207"/>
          <ac:graphicFrameMkLst>
            <pc:docMk/>
            <pc:sldMk cId="0" sldId="277"/>
            <ac:graphicFrameMk id="89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5:56.946" v="45" actId="207"/>
          <ac:graphicFrameMkLst>
            <pc:docMk/>
            <pc:sldMk cId="0" sldId="277"/>
            <ac:graphicFrameMk id="111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6:00.836" v="46" actId="207"/>
          <ac:graphicFrameMkLst>
            <pc:docMk/>
            <pc:sldMk cId="0" sldId="277"/>
            <ac:graphicFrameMk id="133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6:09.032" v="48" actId="207"/>
          <ac:graphicFrameMkLst>
            <pc:docMk/>
            <pc:sldMk cId="0" sldId="277"/>
            <ac:graphicFrameMk id="155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6:04.569" v="47" actId="207"/>
          <ac:graphicFrameMkLst>
            <pc:docMk/>
            <pc:sldMk cId="0" sldId="277"/>
            <ac:graphicFrameMk id="177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4:14.275" v="25" actId="207"/>
          <ac:graphicFrameMkLst>
            <pc:docMk/>
            <pc:sldMk cId="0" sldId="277"/>
            <ac:graphicFrameMk id="199" creationId="{00000000-0000-0000-0000-000000000000}"/>
          </ac:graphicFrameMkLst>
        </pc:graphicFrameChg>
        <pc:graphicFrameChg chg="modGraphic">
          <ac:chgData name="Anubha Parashar" userId="1e0d80f6-7742-4581-ba7f-3d5d0f833d5d" providerId="ADAL" clId="{DC80B7CF-9611-45FB-8314-EA9BB3BFEC7B}" dt="2026-04-10T17:50:57.439" v="7" actId="207"/>
          <ac:graphicFrameMkLst>
            <pc:docMk/>
            <pc:sldMk cId="0" sldId="277"/>
            <ac:graphicFrameMk id="221" creationId="{00000000-0000-0000-0000-000000000000}"/>
          </ac:graphicFrameMkLst>
        </pc:graphicFrameChg>
      </pc:sldChg>
      <pc:sldChg chg="addSp delSp modSp mod">
        <pc:chgData name="Anubha Parashar" userId="1e0d80f6-7742-4581-ba7f-3d5d0f833d5d" providerId="ADAL" clId="{DC80B7CF-9611-45FB-8314-EA9BB3BFEC7B}" dt="2026-04-10T19:45:12.328" v="392" actId="1035"/>
        <pc:sldMkLst>
          <pc:docMk/>
          <pc:sldMk cId="0" sldId="280"/>
        </pc:sldMkLst>
        <pc:spChg chg="mod">
          <ac:chgData name="Anubha Parashar" userId="1e0d80f6-7742-4581-ba7f-3d5d0f833d5d" providerId="ADAL" clId="{DC80B7CF-9611-45FB-8314-EA9BB3BFEC7B}" dt="2026-04-10T19:36:08.528" v="193" actId="6549"/>
          <ac:spMkLst>
            <pc:docMk/>
            <pc:sldMk cId="0" sldId="280"/>
            <ac:spMk id="3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0:40.541" v="312" actId="1076"/>
          <ac:spMkLst>
            <pc:docMk/>
            <pc:sldMk cId="0" sldId="280"/>
            <ac:spMk id="4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0:43.172" v="313" actId="113"/>
          <ac:spMkLst>
            <pc:docMk/>
            <pc:sldMk cId="0" sldId="280"/>
            <ac:spMk id="11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54.923" v="244" actId="14100"/>
          <ac:spMkLst>
            <pc:docMk/>
            <pc:sldMk cId="0" sldId="280"/>
            <ac:spMk id="12" creationId="{00000000-0000-0000-0000-000000000000}"/>
          </ac:spMkLst>
        </pc:spChg>
        <pc:spChg chg="add mod">
          <ac:chgData name="Anubha Parashar" userId="1e0d80f6-7742-4581-ba7f-3d5d0f833d5d" providerId="ADAL" clId="{DC80B7CF-9611-45FB-8314-EA9BB3BFEC7B}" dt="2026-04-10T19:39:43.716" v="302" actId="20577"/>
          <ac:spMkLst>
            <pc:docMk/>
            <pc:sldMk cId="0" sldId="280"/>
            <ac:spMk id="17" creationId="{CECC63E4-AFA3-0B69-676B-C8982F0EB2BA}"/>
          </ac:spMkLst>
        </pc:spChg>
        <pc:spChg chg="add mod">
          <ac:chgData name="Anubha Parashar" userId="1e0d80f6-7742-4581-ba7f-3d5d0f833d5d" providerId="ADAL" clId="{DC80B7CF-9611-45FB-8314-EA9BB3BFEC7B}" dt="2026-04-10T19:43:01.104" v="360" actId="1076"/>
          <ac:spMkLst>
            <pc:docMk/>
            <pc:sldMk cId="0" sldId="280"/>
            <ac:spMk id="18" creationId="{C9639A99-6E0B-2980-585C-3396EE25D372}"/>
          </ac:spMkLst>
        </pc:spChg>
        <pc:spChg chg="add mod">
          <ac:chgData name="Anubha Parashar" userId="1e0d80f6-7742-4581-ba7f-3d5d0f833d5d" providerId="ADAL" clId="{DC80B7CF-9611-45FB-8314-EA9BB3BFEC7B}" dt="2026-04-10T19:45:12.328" v="392" actId="1035"/>
          <ac:spMkLst>
            <pc:docMk/>
            <pc:sldMk cId="0" sldId="280"/>
            <ac:spMk id="21" creationId="{DB59B1AD-C0DF-EDB5-A4C6-B11665E7F06F}"/>
          </ac:spMkLst>
        </pc:spChg>
        <pc:spChg chg="del">
          <ac:chgData name="Anubha Parashar" userId="1e0d80f6-7742-4581-ba7f-3d5d0f833d5d" providerId="ADAL" clId="{DC80B7CF-9611-45FB-8314-EA9BB3BFEC7B}" dt="2026-04-10T19:35:20.684" v="106" actId="478"/>
          <ac:spMkLst>
            <pc:docMk/>
            <pc:sldMk cId="0" sldId="280"/>
            <ac:spMk id="66" creationId="{00000000-0000-0000-0000-000000000000}"/>
          </ac:spMkLst>
        </pc:spChg>
        <pc:spChg chg="del mod">
          <ac:chgData name="Anubha Parashar" userId="1e0d80f6-7742-4581-ba7f-3d5d0f833d5d" providerId="ADAL" clId="{DC80B7CF-9611-45FB-8314-EA9BB3BFEC7B}" dt="2026-04-10T19:35:23.153" v="107" actId="478"/>
          <ac:spMkLst>
            <pc:docMk/>
            <pc:sldMk cId="0" sldId="280"/>
            <ac:spMk id="67" creationId="{00000000-0000-0000-0000-000000000000}"/>
          </ac:spMkLst>
        </pc:spChg>
        <pc:spChg chg="del">
          <ac:chgData name="Anubha Parashar" userId="1e0d80f6-7742-4581-ba7f-3d5d0f833d5d" providerId="ADAL" clId="{DC80B7CF-9611-45FB-8314-EA9BB3BFEC7B}" dt="2026-04-10T19:35:18.081" v="104" actId="478"/>
          <ac:spMkLst>
            <pc:docMk/>
            <pc:sldMk cId="0" sldId="280"/>
            <ac:spMk id="70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71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27.636" v="277" actId="1036"/>
          <ac:spMkLst>
            <pc:docMk/>
            <pc:sldMk cId="0" sldId="280"/>
            <ac:spMk id="72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33.775" v="213" actId="1038"/>
          <ac:spMkLst>
            <pc:docMk/>
            <pc:sldMk cId="0" sldId="280"/>
            <ac:spMk id="75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7:58:17.646" v="74" actId="1036"/>
          <ac:spMkLst>
            <pc:docMk/>
            <pc:sldMk cId="0" sldId="280"/>
            <ac:spMk id="76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33.775" v="213" actId="1038"/>
          <ac:spMkLst>
            <pc:docMk/>
            <pc:sldMk cId="0" sldId="280"/>
            <ac:spMk id="78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7:58:17.646" v="74" actId="1036"/>
          <ac:spMkLst>
            <pc:docMk/>
            <pc:sldMk cId="0" sldId="280"/>
            <ac:spMk id="79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33.775" v="213" actId="1038"/>
          <ac:spMkLst>
            <pc:docMk/>
            <pc:sldMk cId="0" sldId="280"/>
            <ac:spMk id="80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19.373" v="273" actId="1035"/>
          <ac:spMkLst>
            <pc:docMk/>
            <pc:sldMk cId="0" sldId="280"/>
            <ac:spMk id="83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19.373" v="273" actId="1035"/>
          <ac:spMkLst>
            <pc:docMk/>
            <pc:sldMk cId="0" sldId="280"/>
            <ac:spMk id="85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19.373" v="273" actId="1035"/>
          <ac:spMkLst>
            <pc:docMk/>
            <pc:sldMk cId="0" sldId="280"/>
            <ac:spMk id="86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8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19.373" v="273" actId="1035"/>
          <ac:spMkLst>
            <pc:docMk/>
            <pc:sldMk cId="0" sldId="280"/>
            <ac:spMk id="89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7:58:17.646" v="74" actId="1036"/>
          <ac:spMkLst>
            <pc:docMk/>
            <pc:sldMk cId="0" sldId="280"/>
            <ac:spMk id="90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5:36.948" v="188" actId="1037"/>
          <ac:spMkLst>
            <pc:docMk/>
            <pc:sldMk cId="0" sldId="280"/>
            <ac:spMk id="91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33.775" v="213" actId="1038"/>
          <ac:spMkLst>
            <pc:docMk/>
            <pc:sldMk cId="0" sldId="280"/>
            <ac:spMk id="92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7:57:58.392" v="51" actId="1036"/>
          <ac:spMkLst>
            <pc:docMk/>
            <pc:sldMk cId="0" sldId="280"/>
            <ac:spMk id="95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9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19.373" v="273" actId="1035"/>
          <ac:spMkLst>
            <pc:docMk/>
            <pc:sldMk cId="0" sldId="280"/>
            <ac:spMk id="98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5:36.948" v="188" actId="1037"/>
          <ac:spMkLst>
            <pc:docMk/>
            <pc:sldMk cId="0" sldId="280"/>
            <ac:spMk id="100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33.775" v="213" actId="1038"/>
          <ac:spMkLst>
            <pc:docMk/>
            <pc:sldMk cId="0" sldId="280"/>
            <ac:spMk id="101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33.775" v="213" actId="1038"/>
          <ac:spMkLst>
            <pc:docMk/>
            <pc:sldMk cId="0" sldId="280"/>
            <ac:spMk id="102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103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33.775" v="213" actId="1038"/>
          <ac:spMkLst>
            <pc:docMk/>
            <pc:sldMk cId="0" sldId="280"/>
            <ac:spMk id="104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105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7:57:59.180" v="52" actId="1036"/>
          <ac:spMkLst>
            <pc:docMk/>
            <pc:sldMk cId="0" sldId="280"/>
            <ac:spMk id="106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7:33.775" v="213" actId="1038"/>
          <ac:spMkLst>
            <pc:docMk/>
            <pc:sldMk cId="0" sldId="280"/>
            <ac:spMk id="108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7:58:17.646" v="74" actId="1036"/>
          <ac:spMkLst>
            <pc:docMk/>
            <pc:sldMk cId="0" sldId="280"/>
            <ac:spMk id="109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110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19.373" v="273" actId="1035"/>
          <ac:spMkLst>
            <pc:docMk/>
            <pc:sldMk cId="0" sldId="280"/>
            <ac:spMk id="112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114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19.373" v="273" actId="1035"/>
          <ac:spMkLst>
            <pc:docMk/>
            <pc:sldMk cId="0" sldId="280"/>
            <ac:spMk id="115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116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117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42:08.194" v="343" actId="1038"/>
          <ac:spMkLst>
            <pc:docMk/>
            <pc:sldMk cId="0" sldId="280"/>
            <ac:spMk id="119" creationId="{00000000-0000-0000-0000-000000000000}"/>
          </ac:spMkLst>
        </pc:spChg>
        <pc:spChg chg="mod">
          <ac:chgData name="Anubha Parashar" userId="1e0d80f6-7742-4581-ba7f-3d5d0f833d5d" providerId="ADAL" clId="{DC80B7CF-9611-45FB-8314-EA9BB3BFEC7B}" dt="2026-04-10T19:38:19.373" v="273" actId="1035"/>
          <ac:spMkLst>
            <pc:docMk/>
            <pc:sldMk cId="0" sldId="280"/>
            <ac:spMk id="120" creationId="{00000000-0000-0000-0000-000000000000}"/>
          </ac:spMkLst>
        </pc:spChg>
        <pc:picChg chg="add mod">
          <ac:chgData name="Anubha Parashar" userId="1e0d80f6-7742-4581-ba7f-3d5d0f833d5d" providerId="ADAL" clId="{DC80B7CF-9611-45FB-8314-EA9BB3BFEC7B}" dt="2026-04-10T19:42:46.171" v="357" actId="14100"/>
          <ac:picMkLst>
            <pc:docMk/>
            <pc:sldMk cId="0" sldId="280"/>
            <ac:picMk id="14" creationId="{3B3F34A5-12CA-3E86-D887-1F62536D6B24}"/>
          </ac:picMkLst>
        </pc:picChg>
        <pc:picChg chg="add mod">
          <ac:chgData name="Anubha Parashar" userId="1e0d80f6-7742-4581-ba7f-3d5d0f833d5d" providerId="ADAL" clId="{DC80B7CF-9611-45FB-8314-EA9BB3BFEC7B}" dt="2026-04-10T19:42:57.307" v="359" actId="1076"/>
          <ac:picMkLst>
            <pc:docMk/>
            <pc:sldMk cId="0" sldId="280"/>
            <ac:picMk id="16" creationId="{11734B2D-856E-B6AE-7415-AAC1696819B4}"/>
          </ac:picMkLst>
        </pc:picChg>
        <pc:picChg chg="add mod modCrop">
          <ac:chgData name="Anubha Parashar" userId="1e0d80f6-7742-4581-ba7f-3d5d0f833d5d" providerId="ADAL" clId="{DC80B7CF-9611-45FB-8314-EA9BB3BFEC7B}" dt="2026-04-10T19:43:06.862" v="361" actId="1076"/>
          <ac:picMkLst>
            <pc:docMk/>
            <pc:sldMk cId="0" sldId="280"/>
            <ac:picMk id="20" creationId="{301521EC-F5D1-4913-5E44-8882636F6A95}"/>
          </ac:picMkLst>
        </pc:picChg>
        <pc:picChg chg="del">
          <ac:chgData name="Anubha Parashar" userId="1e0d80f6-7742-4581-ba7f-3d5d0f833d5d" providerId="ADAL" clId="{DC80B7CF-9611-45FB-8314-EA9BB3BFEC7B}" dt="2026-04-10T19:35:18.915" v="105" actId="478"/>
          <ac:picMkLst>
            <pc:docMk/>
            <pc:sldMk cId="0" sldId="280"/>
            <ac:picMk id="68" creationId="{00000000-0000-0000-0000-000000000000}"/>
          </ac:picMkLst>
        </pc:picChg>
        <pc:picChg chg="del">
          <ac:chgData name="Anubha Parashar" userId="1e0d80f6-7742-4581-ba7f-3d5d0f833d5d" providerId="ADAL" clId="{DC80B7CF-9611-45FB-8314-EA9BB3BFEC7B}" dt="2026-04-10T19:35:16.481" v="103" actId="478"/>
          <ac:picMkLst>
            <pc:docMk/>
            <pc:sldMk cId="0" sldId="280"/>
            <ac:picMk id="6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268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 slide image rendered from user-uploaded deck: /mnt/data/ArcGIS_VRP_Sid_16_Scenarios_Rebuilt_Screenshot_Style(1).pptx (slide 1).
- The slide content is carried forward unchanged from the user-provided rebuilt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screenshot reference: /mnt/data/4c522194-a4c1-4e94-a48b-ebacd32fdfea.png
- Daily timeline updated to cover T0 through T16, matching the 16 requirement scenarios.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original base map HTML: /mnt/data/base_map(1).html or /mnt/data/base_map.html
- Input-data summary uses the uploaded CSV filenames and the sample deck workflow narrative.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/mnt/data/base_map(1).html or /mnt/data/base_map.html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/mnt/data/eas1_map(1).html or /mnt/data/eas1_map.html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/mnt/data/eas2_map(1).html or /mnt/data/eas2_map.html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/mnt/data/eas3_map(1).html or /mnt/data/eas3_map.html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/mnt/data/eas4_map(1).html or /mnt/data/eas4_map.html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/mnt/data/rt1_map(1).html or /mnt/data/rt1_map.html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/mnt/data/rt2_map(1).html or /mnt/data/rt2_map.html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/mnt/data/rt3_map(1).html or /mnt/data/rt3_map.html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/mnt/data/rt4_map(1).html or /mnt/data/rt4_map.html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/mnt/data/rt5_map(1).html or /mnt/data/rt5_map.html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/mnt/data/rt6_map(1).html or /mnt/data/rt6_map.html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/mnt/data/rt7_map(1).html or /mnt/data/rt7_map.html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/mnt/data/gb1_map(1).html or /mnt/data/gb1_map.html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/mnt/data/gb2_map(1).html or /mnt/data/gb2_map.html
- User-uploaded additional original map HTML inset: /mnt/data/gb3_map(1).html or /mnt/data/gb3_map.html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/mnt/data/gb4_map(1).html or /mnt/data/gb4_map.html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/mnt/data/gb5_map(1).html or /mnt/data/gb5_map.html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sample deck: /mnt/data/Execution Aware ArcGIS VRP PoC v1.0 (2)(3).pptx
- User-uploaded original map HTML rendered for this slide: /mnt/data/gb6_map(1).html or /mnt/data/gb6_map.html
- Slide card content derived from the validated notebook scenario logic.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Summary slide content is derived from the corrected 16-scenario editable slide set and the uploaded comparison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Summary slide content is derived from the corrected 16-scenario editable slide set and the uploaded comparison screenshots.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Coverage slide updates the sample deck structure from partial coverage to 16/16 requirement-scenario coverage with original maps.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VRP EXECUTION AWARE SCHEDULING POC V2</a:t>
            </a:r>
            <a:endParaRPr lang="en-US" sz="1100" dirty="0"/>
          </a:p>
        </p:txBody>
      </p:sp>
      <p:pic>
        <p:nvPicPr>
          <p:cNvPr id="4" name="Image 0" descr="/mnt/data/user-MhV3miOSSpSgP52yd41iJBFo/0a44bca21bb746b39273816b873b999c/mnt/data/sample_extract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3722" y="27432"/>
            <a:ext cx="553685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rcGIS_VRP_Sid_16_Scenarios_Rebuilt_Screenshot_Style(1)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What the PoC prototype is doing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10694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All open work orders and available technicians are solved first as the nightly reference routes, then re-solved after the 16 requirement triggers.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639312" cy="52120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235"/>
                </a:solidFill>
              </a:rPr>
              <a:t>Business objective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40484C"/>
                </a:solidFill>
              </a:rPr>
              <a:t>Show how technician routes change when operating conditions shift across execution-aware, real-time, and goal-based scheduling.</a:t>
            </a:r>
            <a:endParaRPr lang="en-US" sz="116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235"/>
                </a:solidFill>
              </a:rPr>
              <a:t>Core input files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3383280" cy="8686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40484C"/>
                </a:solidFill>
              </a:rPr>
              <a:t>orders_40000.csv = work orders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40484C"/>
                </a:solidFill>
              </a:rPr>
              <a:t>routes_400.csv = technicians, shifts, capacities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40484C"/>
                </a:solidFill>
              </a:rPr>
              <a:t>depots_8.csv = depot locations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40484C"/>
                </a:solidFill>
              </a:rPr>
              <a:t>accounts / goal_profiles = business priorities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235"/>
                </a:solidFill>
              </a:rPr>
              <a:t>What the prototype now does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Builds a visual impacted subset, re-solves after targeted event changes, and presents every scenario as a map-plus-card slide that stays fully editable in PowerPoint.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85800" y="5074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40484C"/>
                </a:solidFill>
              </a:rPr>
              <a:t>Scenario scope</a:t>
            </a:r>
            <a:endParaRPr lang="en-US" sz="1140" b="1" dirty="0"/>
          </a:p>
          <a:p>
            <a:pPr marL="0" indent="0">
              <a:buNone/>
            </a:pP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40484C"/>
                </a:solidFill>
              </a:rPr>
              <a:t>4 execution-aware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40484C"/>
                </a:solidFill>
              </a:rPr>
              <a:t>7 real-time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40484C"/>
                </a:solidFill>
              </a:rPr>
              <a:t>5 goal-based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9105899" y="1127760"/>
            <a:ext cx="2933701" cy="52120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8145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9424416" y="1302258"/>
            <a:ext cx="27432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dirty="0">
                <a:solidFill>
                  <a:srgbClr val="2E383C"/>
                </a:solidFill>
                <a:latin typeface="Aptos"/>
              </a:rPr>
              <a:t>Daily timeline (nightly baseline → live updates)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39072" y="1974723"/>
            <a:ext cx="9144" cy="4160520"/>
          </a:xfrm>
          <a:prstGeom prst="rect">
            <a:avLst/>
          </a:prstGeom>
          <a:solidFill>
            <a:srgbClr val="B9B9B9"/>
          </a:solidFill>
          <a:ln>
            <a:solidFill>
              <a:srgbClr val="B9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339072" y="1973580"/>
            <a:ext cx="118872" cy="118872"/>
          </a:xfrm>
          <a:prstGeom prst="ellipse">
            <a:avLst/>
          </a:prstGeom>
          <a:solidFill>
            <a:srgbClr val="237673"/>
          </a:solidFill>
          <a:ln>
            <a:solidFill>
              <a:srgbClr val="237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704832" y="196900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25456" y="196443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Base reference scenario</a:t>
            </a:r>
          </a:p>
        </p:txBody>
      </p:sp>
      <p:sp>
        <p:nvSpPr>
          <p:cNvPr id="76" name="Oval 75"/>
          <p:cNvSpPr/>
          <p:nvPr/>
        </p:nvSpPr>
        <p:spPr>
          <a:xfrm>
            <a:off x="9339072" y="2225040"/>
            <a:ext cx="118872" cy="118872"/>
          </a:xfrm>
          <a:prstGeom prst="ellipse">
            <a:avLst/>
          </a:prstGeom>
          <a:solidFill>
            <a:srgbClr val="D9A835"/>
          </a:solidFill>
          <a:ln>
            <a:solidFill>
              <a:srgbClr val="D9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704832" y="222046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25456" y="221589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EAS 1  Start variance</a:t>
            </a:r>
          </a:p>
        </p:txBody>
      </p:sp>
      <p:sp>
        <p:nvSpPr>
          <p:cNvPr id="79" name="Oval 78"/>
          <p:cNvSpPr/>
          <p:nvPr/>
        </p:nvSpPr>
        <p:spPr>
          <a:xfrm>
            <a:off x="9339072" y="2476500"/>
            <a:ext cx="118872" cy="118872"/>
          </a:xfrm>
          <a:prstGeom prst="ellipse">
            <a:avLst/>
          </a:prstGeom>
          <a:solidFill>
            <a:srgbClr val="D9A835"/>
          </a:solidFill>
          <a:ln>
            <a:solidFill>
              <a:srgbClr val="D9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704832" y="247192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25456" y="246735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EAS 2  Finish variance</a:t>
            </a:r>
          </a:p>
        </p:txBody>
      </p:sp>
      <p:sp>
        <p:nvSpPr>
          <p:cNvPr id="82" name="Oval 81"/>
          <p:cNvSpPr/>
          <p:nvPr/>
        </p:nvSpPr>
        <p:spPr>
          <a:xfrm>
            <a:off x="9339072" y="2727960"/>
            <a:ext cx="118872" cy="118872"/>
          </a:xfrm>
          <a:prstGeom prst="ellipse">
            <a:avLst/>
          </a:prstGeom>
          <a:solidFill>
            <a:srgbClr val="D9A835"/>
          </a:solidFill>
          <a:ln>
            <a:solidFill>
              <a:srgbClr val="D9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704832" y="272338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25456" y="271881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EAS 3  Skipped stop</a:t>
            </a:r>
          </a:p>
        </p:txBody>
      </p:sp>
      <p:sp>
        <p:nvSpPr>
          <p:cNvPr id="85" name="Oval 84"/>
          <p:cNvSpPr/>
          <p:nvPr/>
        </p:nvSpPr>
        <p:spPr>
          <a:xfrm>
            <a:off x="9339072" y="2979420"/>
            <a:ext cx="118872" cy="118872"/>
          </a:xfrm>
          <a:prstGeom prst="ellipse">
            <a:avLst/>
          </a:prstGeom>
          <a:solidFill>
            <a:srgbClr val="D9A835"/>
          </a:solidFill>
          <a:ln>
            <a:solidFill>
              <a:srgbClr val="D9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704832" y="297484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25456" y="297027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EAS 4  Auto re-plan</a:t>
            </a:r>
          </a:p>
        </p:txBody>
      </p:sp>
      <p:sp>
        <p:nvSpPr>
          <p:cNvPr id="88" name="Oval 87"/>
          <p:cNvSpPr/>
          <p:nvPr/>
        </p:nvSpPr>
        <p:spPr>
          <a:xfrm>
            <a:off x="9339072" y="3230880"/>
            <a:ext cx="118872" cy="118872"/>
          </a:xfrm>
          <a:prstGeom prst="ellipse">
            <a:avLst/>
          </a:prstGeom>
          <a:solidFill>
            <a:srgbClr val="E16F43"/>
          </a:solidFill>
          <a:ln>
            <a:solidFill>
              <a:srgbClr val="E1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704832" y="322630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25456" y="322173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RT 1  Urgent activity</a:t>
            </a:r>
          </a:p>
        </p:txBody>
      </p:sp>
      <p:sp>
        <p:nvSpPr>
          <p:cNvPr id="91" name="Oval 90"/>
          <p:cNvSpPr/>
          <p:nvPr/>
        </p:nvSpPr>
        <p:spPr>
          <a:xfrm>
            <a:off x="9339072" y="3482340"/>
            <a:ext cx="118872" cy="118872"/>
          </a:xfrm>
          <a:prstGeom prst="ellipse">
            <a:avLst/>
          </a:prstGeom>
          <a:solidFill>
            <a:srgbClr val="E16F43"/>
          </a:solidFill>
          <a:ln>
            <a:solidFill>
              <a:srgbClr val="E1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04832" y="347776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25456" y="347319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RT 2  Cancellation</a:t>
            </a:r>
          </a:p>
        </p:txBody>
      </p:sp>
      <p:sp>
        <p:nvSpPr>
          <p:cNvPr id="94" name="Oval 93"/>
          <p:cNvSpPr/>
          <p:nvPr/>
        </p:nvSpPr>
        <p:spPr>
          <a:xfrm>
            <a:off x="9339072" y="3733800"/>
            <a:ext cx="118872" cy="118872"/>
          </a:xfrm>
          <a:prstGeom prst="ellipse">
            <a:avLst/>
          </a:prstGeom>
          <a:solidFill>
            <a:srgbClr val="E16F43"/>
          </a:solidFill>
          <a:ln>
            <a:solidFill>
              <a:srgbClr val="E1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704832" y="372922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125456" y="372465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RT 3  Duration change</a:t>
            </a:r>
          </a:p>
        </p:txBody>
      </p:sp>
      <p:sp>
        <p:nvSpPr>
          <p:cNvPr id="97" name="Oval 96"/>
          <p:cNvSpPr/>
          <p:nvPr/>
        </p:nvSpPr>
        <p:spPr>
          <a:xfrm>
            <a:off x="9339072" y="3985260"/>
            <a:ext cx="118872" cy="118872"/>
          </a:xfrm>
          <a:prstGeom prst="ellipse">
            <a:avLst/>
          </a:prstGeom>
          <a:solidFill>
            <a:srgbClr val="E16F43"/>
          </a:solidFill>
          <a:ln>
            <a:solidFill>
              <a:srgbClr val="E1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704832" y="398068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25456" y="397611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RT 4  Shift change</a:t>
            </a:r>
          </a:p>
        </p:txBody>
      </p:sp>
      <p:sp>
        <p:nvSpPr>
          <p:cNvPr id="100" name="Oval 99"/>
          <p:cNvSpPr/>
          <p:nvPr/>
        </p:nvSpPr>
        <p:spPr>
          <a:xfrm>
            <a:off x="9339072" y="4236720"/>
            <a:ext cx="118872" cy="118872"/>
          </a:xfrm>
          <a:prstGeom prst="ellipse">
            <a:avLst/>
          </a:prstGeom>
          <a:solidFill>
            <a:srgbClr val="E16F43"/>
          </a:solidFill>
          <a:ln>
            <a:solidFill>
              <a:srgbClr val="E1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704832" y="423214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25456" y="422757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RT 5  Location hours</a:t>
            </a:r>
          </a:p>
        </p:txBody>
      </p:sp>
      <p:sp>
        <p:nvSpPr>
          <p:cNvPr id="103" name="Oval 102"/>
          <p:cNvSpPr/>
          <p:nvPr/>
        </p:nvSpPr>
        <p:spPr>
          <a:xfrm>
            <a:off x="9339072" y="4488180"/>
            <a:ext cx="118872" cy="118872"/>
          </a:xfrm>
          <a:prstGeom prst="ellipse">
            <a:avLst/>
          </a:prstGeom>
          <a:solidFill>
            <a:srgbClr val="E16F43"/>
          </a:solidFill>
          <a:ln>
            <a:solidFill>
              <a:srgbClr val="E1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704832" y="448360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T10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25456" y="447903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RT 6  Technician sick</a:t>
            </a:r>
          </a:p>
        </p:txBody>
      </p:sp>
      <p:sp>
        <p:nvSpPr>
          <p:cNvPr id="106" name="Oval 105"/>
          <p:cNvSpPr/>
          <p:nvPr/>
        </p:nvSpPr>
        <p:spPr>
          <a:xfrm>
            <a:off x="9339072" y="4739640"/>
            <a:ext cx="118872" cy="118872"/>
          </a:xfrm>
          <a:prstGeom prst="ellipse">
            <a:avLst/>
          </a:prstGeom>
          <a:solidFill>
            <a:srgbClr val="E16F43"/>
          </a:solidFill>
          <a:ln>
            <a:solidFill>
              <a:srgbClr val="E1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704832" y="473506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T11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25456" y="473049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RT 7  Combined live flow</a:t>
            </a:r>
          </a:p>
        </p:txBody>
      </p:sp>
      <p:sp>
        <p:nvSpPr>
          <p:cNvPr id="109" name="Oval 108"/>
          <p:cNvSpPr/>
          <p:nvPr/>
        </p:nvSpPr>
        <p:spPr>
          <a:xfrm>
            <a:off x="9339072" y="4991100"/>
            <a:ext cx="118872" cy="118872"/>
          </a:xfrm>
          <a:prstGeom prst="ellipse">
            <a:avLst/>
          </a:prstGeom>
          <a:solidFill>
            <a:srgbClr val="3465BF"/>
          </a:solidFill>
          <a:ln>
            <a:solidFill>
              <a:srgbClr val="346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704832" y="498652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T12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25456" y="498195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GB 1  Travel first</a:t>
            </a:r>
          </a:p>
        </p:txBody>
      </p:sp>
      <p:sp>
        <p:nvSpPr>
          <p:cNvPr id="112" name="Oval 111"/>
          <p:cNvSpPr/>
          <p:nvPr/>
        </p:nvSpPr>
        <p:spPr>
          <a:xfrm>
            <a:off x="9339072" y="5242560"/>
            <a:ext cx="118872" cy="118872"/>
          </a:xfrm>
          <a:prstGeom prst="ellipse">
            <a:avLst/>
          </a:prstGeom>
          <a:solidFill>
            <a:srgbClr val="3465BF"/>
          </a:solidFill>
          <a:ln>
            <a:solidFill>
              <a:srgbClr val="346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704832" y="523798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25456" y="523341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GB 2  Quality / specialty</a:t>
            </a:r>
          </a:p>
        </p:txBody>
      </p:sp>
      <p:sp>
        <p:nvSpPr>
          <p:cNvPr id="115" name="Oval 114"/>
          <p:cNvSpPr/>
          <p:nvPr/>
        </p:nvSpPr>
        <p:spPr>
          <a:xfrm>
            <a:off x="9339072" y="5494020"/>
            <a:ext cx="118872" cy="118872"/>
          </a:xfrm>
          <a:prstGeom prst="ellipse">
            <a:avLst/>
          </a:prstGeom>
          <a:solidFill>
            <a:srgbClr val="3465BF"/>
          </a:solidFill>
          <a:ln>
            <a:solidFill>
              <a:srgbClr val="346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704832" y="548944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T14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125456" y="548487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GB 3  SLA first</a:t>
            </a:r>
          </a:p>
        </p:txBody>
      </p:sp>
      <p:sp>
        <p:nvSpPr>
          <p:cNvPr id="118" name="Oval 117"/>
          <p:cNvSpPr/>
          <p:nvPr/>
        </p:nvSpPr>
        <p:spPr>
          <a:xfrm>
            <a:off x="9339072" y="5745480"/>
            <a:ext cx="118872" cy="118872"/>
          </a:xfrm>
          <a:prstGeom prst="ellipse">
            <a:avLst/>
          </a:prstGeom>
          <a:solidFill>
            <a:srgbClr val="3465BF"/>
          </a:solidFill>
          <a:ln>
            <a:solidFill>
              <a:srgbClr val="346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704832" y="574090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T15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25456" y="573633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GB 4  Reduce overtime</a:t>
            </a:r>
          </a:p>
        </p:txBody>
      </p:sp>
      <p:sp>
        <p:nvSpPr>
          <p:cNvPr id="121" name="Oval 120"/>
          <p:cNvSpPr/>
          <p:nvPr/>
        </p:nvSpPr>
        <p:spPr>
          <a:xfrm>
            <a:off x="9339072" y="5996940"/>
            <a:ext cx="118872" cy="118872"/>
          </a:xfrm>
          <a:prstGeom prst="ellipse">
            <a:avLst/>
          </a:prstGeom>
          <a:solidFill>
            <a:srgbClr val="3465BF"/>
          </a:solidFill>
          <a:ln>
            <a:solidFill>
              <a:srgbClr val="346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704832" y="5992368"/>
            <a:ext cx="530352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3C4347"/>
                </a:solidFill>
                <a:latin typeface="Aptos"/>
              </a:rPr>
              <a:t>T16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125456" y="5987796"/>
            <a:ext cx="23317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3C4347"/>
                </a:solidFill>
                <a:latin typeface="Aptos"/>
              </a:rPr>
              <a:t>GB 5  Customer weights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288000" y="18288000"/>
            <a:ext cx="384048" cy="100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8288000" y="18288000"/>
            <a:ext cx="73152" cy="73152"/>
          </a:xfrm>
          <a:prstGeom prst="ellipse">
            <a:avLst/>
          </a:prstGeom>
          <a:solidFill>
            <a:srgbClr val="237673"/>
          </a:solidFill>
          <a:ln>
            <a:solidFill>
              <a:srgbClr val="237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8288000" y="18288000"/>
            <a:ext cx="310896" cy="100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288000" y="18288000"/>
            <a:ext cx="73152" cy="73152"/>
          </a:xfrm>
          <a:prstGeom prst="ellipse">
            <a:avLst/>
          </a:prstGeom>
          <a:solidFill>
            <a:srgbClr val="D9A835"/>
          </a:solidFill>
          <a:ln>
            <a:solidFill>
              <a:srgbClr val="D9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8288000" y="18288000"/>
            <a:ext cx="256032" cy="100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8288000" y="18288000"/>
            <a:ext cx="73152" cy="73152"/>
          </a:xfrm>
          <a:prstGeom prst="ellipse">
            <a:avLst/>
          </a:prstGeom>
          <a:solidFill>
            <a:srgbClr val="E16F43"/>
          </a:solidFill>
          <a:ln>
            <a:solidFill>
              <a:srgbClr val="E1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8288000" y="18288000"/>
            <a:ext cx="182880" cy="100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8288000" y="18288000"/>
            <a:ext cx="73152" cy="73152"/>
          </a:xfrm>
          <a:prstGeom prst="ellipse">
            <a:avLst/>
          </a:prstGeom>
          <a:solidFill>
            <a:srgbClr val="3465BF"/>
          </a:solidFill>
          <a:ln>
            <a:solidFill>
              <a:srgbClr val="346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8288000" y="18288000"/>
            <a:ext cx="201168" cy="1005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3F34A5-12CA-3E86-D887-1F62536D6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5" y="1504568"/>
            <a:ext cx="4612617" cy="20966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734B2D-856E-B6AE-7415-AAC169681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960" y="4298102"/>
            <a:ext cx="3086640" cy="1438234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CECC63E4-AFA3-0B69-676B-C8982F0EB2BA}"/>
              </a:ext>
            </a:extLst>
          </p:cNvPr>
          <p:cNvSpPr/>
          <p:nvPr/>
        </p:nvSpPr>
        <p:spPr>
          <a:xfrm>
            <a:off x="4259960" y="1268027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235"/>
                </a:solidFill>
              </a:rPr>
              <a:t>Work Orders</a:t>
            </a:r>
            <a:endParaRPr lang="en-US" sz="15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9639A99-6E0B-2980-585C-3396EE25D372}"/>
              </a:ext>
            </a:extLst>
          </p:cNvPr>
          <p:cNvSpPr/>
          <p:nvPr/>
        </p:nvSpPr>
        <p:spPr>
          <a:xfrm>
            <a:off x="4259960" y="3953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235"/>
                </a:solidFill>
              </a:rPr>
              <a:t>Routes</a:t>
            </a:r>
            <a:endParaRPr lang="en-US" sz="15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01521EC-F5D1-4913-5E44-8882636F6A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73"/>
          <a:stretch>
            <a:fillRect/>
          </a:stretch>
        </p:blipFill>
        <p:spPr>
          <a:xfrm>
            <a:off x="7524908" y="4303958"/>
            <a:ext cx="1447799" cy="1057474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DB59B1AD-C0DF-EDB5-A4C6-B11665E7F06F}"/>
              </a:ext>
            </a:extLst>
          </p:cNvPr>
          <p:cNvSpPr/>
          <p:nvPr/>
        </p:nvSpPr>
        <p:spPr>
          <a:xfrm>
            <a:off x="7510272" y="4023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235"/>
                </a:solidFill>
              </a:rPr>
              <a:t>Depots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Summary of the PoC input data and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The same sample-deck narrative is kept, but the underlying demonstration universe is now the 40k / 400 synthetic model.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34924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3235"/>
                </a:solidFill>
              </a:rPr>
              <a:t>orders_40000.csv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40,000 work orders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customer / location / timing / SLA fields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85800" y="22677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3235"/>
                </a:solidFill>
              </a:rPr>
              <a:t>routes_400.csv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400 technicians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shift windows, capacities, overtime, specialties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85800" y="31821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3235"/>
                </a:solidFill>
              </a:rPr>
              <a:t>depots_8.csv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3419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8 depots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regional start / end anchors for the routes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85800" y="409651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3235"/>
                </a:solidFill>
              </a:rPr>
              <a:t>accounts + goal_profiles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43342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customer-level weighting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travel, SLA, rating, and overtime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85799" y="5102352"/>
            <a:ext cx="43807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235"/>
                </a:solidFill>
              </a:rPr>
              <a:t>Workflow from data to scenario maps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85800" y="53949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40484C"/>
                </a:solidFill>
              </a:rPr>
              <a:t>1. Load and validate the full-scale CSV inputs.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40484C"/>
                </a:solidFill>
              </a:rPr>
              <a:t>2. Build a map-friendly impacted subset from the 40k / 400 universe.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40484C"/>
                </a:solidFill>
              </a:rPr>
              <a:t>3. Convert tables to ArcGIS features and solve the reference VRP.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40484C"/>
                </a:solidFill>
              </a:rPr>
              <a:t>4. Re-run the solve after each targeted event or goal-weight change.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40484C"/>
                </a:solidFill>
              </a:rPr>
              <a:t>5. Present every requirement in the same screenshot-style card layout.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925312" y="1097280"/>
            <a:ext cx="585216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99632" y="1353312"/>
            <a:ext cx="36157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73235"/>
                </a:solidFill>
              </a:rPr>
              <a:t>Representative GIS input map</a:t>
            </a:r>
            <a:endParaRPr lang="en-US" sz="1550" dirty="0"/>
          </a:p>
        </p:txBody>
      </p:sp>
      <p:pic>
        <p:nvPicPr>
          <p:cNvPr id="17" name="Image 0" descr="/mnt/data/ppt_media_extract/ppt/media/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60" y="1682496"/>
            <a:ext cx="5097039" cy="32461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72784" y="51023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Reference subset used for the demo narrative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90 work orders · 15 routes · 1 depot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40484C"/>
                </a:solidFill>
              </a:rPr>
              <a:t>Orders, route geometries, and highlighted events are exported from the original notebook maps and reused directly in the deck.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Baseline reference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Reference plan used as the comparison point for the 16 Sid requirement scenarios.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Baseline reference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scenario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15 active routes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90 served orders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None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Reference plan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Observed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  <a:cs typeface="Biome" panose="020B0502040204020203" pitchFamily="34" charset="0"/>
              </a:rPr>
              <a:t>Nothing was modified. The notebook loads the full-scale synthetic inputs, builds the impacted visualization subset, and solves the base VRP before any requirement event is triggered.</a:t>
            </a: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3986784"/>
            <a:ext cx="4370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  <a:cs typeface="Biome" panose="020B0502040204020203" pitchFamily="34" charset="0"/>
              </a:rPr>
              <a:t>This reference subset becomes the benchmark for all later comparisons. It keeps the map readable while still representing the larger 40,000 work-order universe.</a:t>
            </a:r>
            <a:endParaRPr lang="en-US" sz="900" dirty="0">
              <a:latin typeface="Aptos Display" panose="020B0004020202020204" pitchFamily="34" charset="0"/>
              <a:cs typeface="Biome" panose="020B0502040204020203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Reference subset ready for comparison across all later scenarios.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Universe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n/a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40k / 400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source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n/a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 / 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demo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Status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n/a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Baseline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Jobs starting earlier or later than planned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EAS 1.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Jobs starting earlier or later than planned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1 - Start variance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Technician start shifted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+20 min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Routes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Timing shift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Observed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  <a:cs typeface="Biome" panose="020B0502040204020203" pitchFamily="34" charset="0"/>
              </a:rPr>
              <a:t>Adjust the impacted technician's EarliestStartTime and LatestStartTime by the live variance, then re-solve the impacted subset.</a:t>
            </a: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  <a:cs typeface="Biome" panose="020B0502040204020203" pitchFamily="34" charset="0"/>
              </a:rPr>
              <a:t>The subset can keep the same coverage while the impacted route starts later. This is the execution-aware equivalent of the sample traffic-delay slide.</a:t>
            </a: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Impacted technician shifts later while subset coverage stays stable.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Route start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07:00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07:20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+20 min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stable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Jobs finishing earlier or later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EAS 2.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Jobs finishing earlier or later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2 - Finish variance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Service duration changed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+25 min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Orders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Downstream timing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Update the active order's ServiceTime using the finish variance and re-solve the impacted subset so downstream activities reflect the new duration.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The key business effect is compression or expansion of downstream slack around the changed stop, not a full-universe re-plan.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Finish variance changes local slack around the impacted order.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ServiceTime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30 min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55 min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example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stable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Technicians skipping scheduled job order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EAS 3.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Technicians skipping scheduled job order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3 - Skipped stop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Skipped stop reinserted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Priority raised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Orders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Sequence repair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Clear any sequence bias for the skipped job, elevate its operational priority, and let re-optimization place it back into the best feasible route sequence.</a:t>
            </a: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The order stays in the problem, but the old sequence is no longer trusted. This is the right execution-aware response to a skipped stop.</a:t>
            </a: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Skipped work is reinserted for repair instead of being silently dropped.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Skipped order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fixed seq.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free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repair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Priority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normal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high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elevated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Coverage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Automatically re-optimize downstream activities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EAS 4.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Automatically re-optimize downstream activities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4 - Auto re-plan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3 live signals combined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1 rolling solve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Orders + routes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Combined replan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Queue the start variance, finish variance, and skipped-job signals together, then run one impacted-subset re-solve so downstream assignments refresh in one pass.</a:t>
            </a: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is the end-state execution-aware design Sid asked for: automatic downstream repair instead of one-off manual comparison slides.</a:t>
            </a: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Automatic downstream repair combines multiple execution signals in one pass.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Signals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3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combined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Solve mode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manual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rolling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auto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stable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stable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impacted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New or urgent activities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RT 1.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New or urgent activities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5 - Urgent activity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Urgent job inserted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+1 order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Orders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Fast insertion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Observed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Add a new high-priority order with a tight time window, specialty, preferred depot, and SLA-first profile, then re-solve the impacted subset.</a:t>
            </a: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The urgent job enters the schedule without a full 40k global re-solve. That is the core real-time behavior Sid wanted.</a:t>
            </a: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Urgent activity is absorbed quickly while route count stays stable.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91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active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Urgent WO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none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inserted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tight TW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Cancellations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RT 2.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Cancellations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6 - Cancellation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1 order removed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Demand reduced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Orders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Demand reduction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Observed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Remove the cancelled order from orders_df and re-solve the impacted subset so route time and sequence compress around the updated demand.</a:t>
            </a: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Capacity is released immediately and the remaining work can rebalance. This mirrors the sample cancellation slide, but at the synthetic-universe scale.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Cancellation frees capacity and reduces served demand in the subset.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89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active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Cancelled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removed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Duration changes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RT 3.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Duration changes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7 - Duration change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Activity duration updated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95 min example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Orders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Local timing shift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Update the affected order's ServiceTime and re-solve the impacted subset to rebalance timing around the changed stop.</a:t>
            </a: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Only the relevant order needs to change. The route timing around that location expands or contracts accordingly.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A local duration edit changes nearby timing without a full-universe rebuild.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ServiceTime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30 min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95 min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edited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stable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Technician availability or shift changes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RT 4.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Technician availability or shift changes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8 - Shift change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Shift window changed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+30 / +45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Routes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Capacity rebalance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Shift the technician's start and end window and re-solve the impacted subset so work can move away from the constrained route if required.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is more nuanced than removing a route entirely. The technician still exists, but their usable capacity changes in real time.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Shift edits keep the technician in the model while changing usable capacity.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Start shift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07:00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07:30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later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End shift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16:00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16:45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later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Rebalance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none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possible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Location hours changes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RT 5.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Location hours changes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9 - Location hours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Time window tightened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04:00-08:00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Orders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Window constraint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Edit the order's time window and re-solve the impacted subset using the updated customer-availability constraint.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shows that real-time scheduling is not only about technician status; customer-side availability can also force route resequencing or reassignment.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Customer-side availability changes can force automatic resequencing.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TW start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open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04:00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edited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TW end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open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08:00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edited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Effect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none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reseq.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window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Technician calls in sick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RT 6.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Technician calls in sick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10 - Tech sick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1 technician removed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Fleet reduced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Routes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Fleet reduction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Drop the unavailable route from </a:t>
            </a:r>
            <a:r>
              <a:rPr lang="en-US" sz="900" dirty="0" err="1">
                <a:solidFill>
                  <a:srgbClr val="40484C"/>
                </a:solidFill>
                <a:latin typeface="Aptos Display" panose="020B0004020202020204" pitchFamily="34" charset="0"/>
              </a:rPr>
              <a:t>routes_df</a:t>
            </a: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 and re-solve the impacted subset using the reduced fleet.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is the highest-disruption real-time scenario. The business view is either rebalanced coverage across the remaining routes or a partial solution when the subset is too constrained.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One less route increases disruption and can expose unrouted work.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14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active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Coverage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partial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possible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Impact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normal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high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severe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All EAS scenarios included in real-time 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RT 7.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All EAS scenarios included in real-time flow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11 - Combined flow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8 triggers combined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1 rolling solve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Event queue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Rolling replan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Create one event list containing execution-aware and real-time triggers, then run a single impacted-subset re-optimization.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is the end-state story for Sid: one near-real-time event pipeline, one impacted-subset solve, and one continuously updated route picture.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A single rolling pipeline orchestrates all live event classes together.</a:t>
            </a:r>
            <a:endParaRPr lang="en-US" sz="825" dirty="0"/>
          </a:p>
        </p:txBody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Event types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1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8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combined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Solve mode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manual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rolling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live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reference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impacted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updated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Minimize travel time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GB 1.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Minimize travel time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12 - Travel first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Travel weighted highest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Goal profile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Goal weights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Travel minimization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Increase the travel-time weight in the route cost structure so the solver prefers more compact route patterns when multiple solutions are feasible.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is the cleanest goal-based benchmark: if travel is weighted highest, the route layout should become more geographically compact.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The optimization target explicitly favors shorter travel and tighter clusters.</a:t>
            </a:r>
            <a:endParaRPr lang="en-US" sz="825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Travel weight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high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goal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Pattern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neutral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compact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expected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Coverage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Prefer higher-rated or specialized technicians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GB 2.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11233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80560" y="4526280"/>
            <a:ext cx="137160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mnt/data/ppt_media_extract/ppt/media/image-17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4691004"/>
            <a:ext cx="1133856" cy="7221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5522976"/>
            <a:ext cx="11704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4E585B"/>
                </a:solidFill>
              </a:rPr>
              <a:t>Specialty view</a:t>
            </a:r>
            <a:endParaRPr lang="en-US" sz="860" dirty="0"/>
          </a:p>
        </p:txBody>
      </p:sp>
      <p:sp>
        <p:nvSpPr>
          <p:cNvPr id="10" name="Text 6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Prefer higher-rated or specialized technicians</a:t>
            </a:r>
            <a:endParaRPr lang="en-US" sz="1120" dirty="0"/>
          </a:p>
        </p:txBody>
      </p:sp>
      <p:sp>
        <p:nvSpPr>
          <p:cNvPr id="11" name="Shape 7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13 - Quality / specialty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Technician bias added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Skill matched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20" name="Text 16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Weights + skills</a:t>
            </a:r>
            <a:endParaRPr lang="en-US" sz="960" dirty="0"/>
          </a:p>
        </p:txBody>
      </p:sp>
      <p:sp>
        <p:nvSpPr>
          <p:cNvPr id="21" name="Shape 17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Skill-based bias</a:t>
            </a:r>
            <a:endParaRPr lang="en-US" sz="960" dirty="0"/>
          </a:p>
        </p:txBody>
      </p:sp>
      <p:sp>
        <p:nvSpPr>
          <p:cNvPr id="24" name="Shape 20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6" name="Text 22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7" name="Shape 23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Blend technician-rating bias with specialty constraints so premium or typed work is steered toward the technicians best matched to deliver it.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4" name="Text 30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single business requirement is represented by two notebook patterns: one for higher-rated assignment bias and one for specialty-constrained assignment.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Shape 32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3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Quality and specialty preferences make the route plan more technician-aware.</a:t>
            </a:r>
            <a:endParaRPr lang="en-US" sz="825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Rating bias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off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weighted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Specialty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soft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matched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typed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Coverage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Maximize on-time completion / SLA adherence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GB 3.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Maximize on-time completion / SLA adherence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14 - SLA first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SLA-sensitive work protected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Violation tightened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Weights + SLA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Priority to SLA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Apply account goal profiles, tighten time-window violation tolerance for SLA-sensitive orders, and re-solve so these jobs are protected first.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is the clearest enterprise-value story: optimal is not always the shortest route; sometimes it is the route that protects SLA commitments first.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SLA adherence becomes the dominant optimization target for sensitive work.</a:t>
            </a:r>
            <a:endParaRPr lang="en-US" sz="825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SLA list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none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targeted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Violation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tight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tolerance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Goal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neutral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SLA first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weighted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Reduce overtime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GB 4.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1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Reduce overtime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15 - Reduce overtime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Overtime penalty raised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Regular time first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Route cost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Lower OT usage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Raise the overtime penalty and move the overtime threshold earlier so the solver uses regular-time capacity first whenever it can.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The expected route behavior is more balanced regular-time utilization, with overtime becoming a deliberate exception instead of the default outcome.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Overtime becomes a penalized exception instead of the default operating mode.</a:t>
            </a:r>
            <a:endParaRPr lang="en-US" sz="825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OT threshold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earlier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edited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OT penalty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high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weighted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Effect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neutral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lower OT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expected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Customer-defined soft-constraint weights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Notebook walkthrough using the original map output for GB 5.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715000" cy="5413248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2E363A"/>
                </a:solidFill>
              </a:rPr>
              <a:t>Original scenario map</a:t>
            </a:r>
            <a:endParaRPr lang="en-US" sz="1220" dirty="0"/>
          </a:p>
        </p:txBody>
      </p:sp>
      <p:pic>
        <p:nvPicPr>
          <p:cNvPr id="6" name="Image 0" descr="/mnt/data/ppt_media_extract/ppt/media/image-2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81714"/>
            <a:ext cx="5148072" cy="327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5897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i="1" dirty="0">
                <a:solidFill>
                  <a:srgbClr val="546065"/>
                </a:solidFill>
              </a:rPr>
              <a:t>Customer-defined soft-constraint weights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6419088" y="1024128"/>
            <a:ext cx="5257800" cy="5468112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077456" y="1243584"/>
            <a:ext cx="3913632" cy="310896"/>
          </a:xfrm>
          <a:prstGeom prst="roundRect">
            <a:avLst>
              <a:gd name="adj" fmla="val 23529"/>
            </a:avLst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205472" y="130759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 16 - Customer weights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38544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882D"/>
          </a:solidFill>
          <a:ln w="12700">
            <a:solidFill>
              <a:srgbClr val="D888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531352" y="1682496"/>
            <a:ext cx="1783080" cy="292608"/>
          </a:xfrm>
          <a:prstGeom prst="roundRect">
            <a:avLst>
              <a:gd name="adj" fmla="val 21875"/>
            </a:avLst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757416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Account profile applied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8659368" y="1755648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B3438"/>
                </a:solidFill>
              </a:rPr>
              <a:t>Custom optimum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63854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Input changed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674827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Account profiles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828446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9419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Routing effect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839419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Customer-specific optimum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9930384" y="2066544"/>
            <a:ext cx="1481328" cy="694944"/>
          </a:xfrm>
          <a:prstGeom prst="roundRect">
            <a:avLst>
              <a:gd name="adj" fmla="val 5263"/>
            </a:avLst>
          </a:prstGeom>
          <a:solidFill>
            <a:srgbClr val="D9DEE2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0040112" y="2176272"/>
            <a:ext cx="1252728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697278"/>
                </a:solidFill>
              </a:rPr>
              <a:t>Status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040112" y="242316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0383C"/>
                </a:solidFill>
              </a:rPr>
              <a:t>Configured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638544" y="2871216"/>
            <a:ext cx="48006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638544" y="2871216"/>
            <a:ext cx="54864" cy="768096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858000" y="3008376"/>
            <a:ext cx="2423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3235"/>
                </a:solidFill>
              </a:rPr>
              <a:t>What changed in the notebook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3273552"/>
            <a:ext cx="4370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Apply account-level goal profiles and a blended customer weight set across travel, rating, SLA adherence, and overtime, then solve to that customer-specific policy.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638544" y="3730752"/>
            <a:ext cx="48006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6638544" y="3730752"/>
            <a:ext cx="54864" cy="749808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858000" y="386791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b="1" dirty="0">
                <a:solidFill>
                  <a:srgbClr val="273235"/>
                </a:solidFill>
              </a:rPr>
              <a:t>Observed output / interpretation</a:t>
            </a:r>
            <a:endParaRPr lang="en-US" sz="1090" dirty="0"/>
          </a:p>
        </p:txBody>
      </p:sp>
      <p:sp>
        <p:nvSpPr>
          <p:cNvPr id="31" name="Text 28"/>
          <p:cNvSpPr/>
          <p:nvPr/>
        </p:nvSpPr>
        <p:spPr>
          <a:xfrm>
            <a:off x="6858000" y="4123944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40484C"/>
                </a:solidFill>
                <a:latin typeface="Aptos Display" panose="020B0004020202020204" pitchFamily="34" charset="0"/>
              </a:rPr>
              <a:t>This turns the VRP engine into a configurable optimization service rather than a single hard-coded routing policy.</a:t>
            </a:r>
            <a:endParaRPr lang="en-US" sz="900" dirty="0">
              <a:latin typeface="Aptos Display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766560" y="4617720"/>
            <a:ext cx="4297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394247"/>
                </a:solidFill>
              </a:rPr>
              <a:t>Reference subset snapshot used as the comparison point.</a:t>
            </a:r>
            <a:endParaRPr lang="en-US" sz="96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4791456"/>
          <a:ext cx="4599432" cy="682752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Routes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15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subset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Orders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90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served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Stops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110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334045"/>
                          </a:solidFill>
                        </a:rPr>
                        <a:t>measured</a:t>
                      </a:r>
                      <a:endParaRPr lang="en-US" sz="82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6638544" y="5340096"/>
            <a:ext cx="4800600" cy="256032"/>
          </a:xfrm>
          <a:prstGeom prst="roundRect">
            <a:avLst>
              <a:gd name="adj" fmla="val 17857"/>
            </a:avLst>
          </a:prstGeom>
          <a:solidFill>
            <a:srgbClr val="F3D56A"/>
          </a:solidFill>
          <a:ln w="12700">
            <a:solidFill>
              <a:srgbClr val="F3D5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6803136" y="5413248"/>
            <a:ext cx="4498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825" b="1" dirty="0">
                <a:solidFill>
                  <a:srgbClr val="3A3E41"/>
                </a:solidFill>
              </a:rPr>
              <a:t>Each customer can define its own notion of optimal through weighted soft constraints.</a:t>
            </a:r>
            <a:endParaRPr lang="en-US" sz="825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48272" y="5632704"/>
          <a:ext cx="4599432" cy="679704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Metric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Now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Note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Travel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weighted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profile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SLA / rating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weighted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profile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Overtime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base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weighted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15" b="1" dirty="0">
                          <a:solidFill>
                            <a:srgbClr val="334045"/>
                          </a:solidFill>
                        </a:rPr>
                        <a:t>profile</a:t>
                      </a:r>
                      <a:endParaRPr lang="en-US" sz="815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Summary - Base plan vs all 16 scenarios (1/2)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Visual summary of how each scenario affects route timing, service coverage, and business impact.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164592" y="1060704"/>
            <a:ext cx="1184148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37744" y="1170432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7744" y="1170432"/>
            <a:ext cx="45720" cy="1005840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1. Start variance</a:t>
            </a:r>
            <a:endParaRPr lang="en-US" sz="112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881190"/>
              </p:ext>
            </p:extLst>
          </p:nvPr>
        </p:nvGraphicFramePr>
        <p:xfrm>
          <a:off x="329184" y="1444752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07:20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072384" y="1170432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072384" y="1170432"/>
            <a:ext cx="45720" cy="1005840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200400" y="1243584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2. Finish variance</a:t>
            </a:r>
            <a:endParaRPr lang="en-US" sz="112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288420"/>
              </p:ext>
            </p:extLst>
          </p:nvPr>
        </p:nvGraphicFramePr>
        <p:xfrm>
          <a:off x="3163824" y="1444752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55 min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37744" y="2304288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237744" y="2304288"/>
            <a:ext cx="45720" cy="1005840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65760" y="237744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3. Skipped stop</a:t>
            </a:r>
            <a:endParaRPr lang="en-US" sz="1120" dirty="0"/>
          </a:p>
        </p:txBody>
      </p:sp>
      <p:graphicFrame>
        <p:nvGraphicFramePr>
          <p:cNvPr id="6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219937"/>
              </p:ext>
            </p:extLst>
          </p:nvPr>
        </p:nvGraphicFramePr>
        <p:xfrm>
          <a:off x="329184" y="2578608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Repair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3072384" y="2304288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3072384" y="2304288"/>
            <a:ext cx="45720" cy="1005840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3200400" y="237744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4. Auto re-plan</a:t>
            </a:r>
            <a:endParaRPr lang="en-US" sz="1120" dirty="0"/>
          </a:p>
        </p:txBody>
      </p:sp>
      <p:graphicFrame>
        <p:nvGraphicFramePr>
          <p:cNvPr id="8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678678"/>
              </p:ext>
            </p:extLst>
          </p:nvPr>
        </p:nvGraphicFramePr>
        <p:xfrm>
          <a:off x="3163824" y="2578608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3 signals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237744" y="3438144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16"/>
          <p:cNvSpPr/>
          <p:nvPr/>
        </p:nvSpPr>
        <p:spPr>
          <a:xfrm>
            <a:off x="237744" y="3438144"/>
            <a:ext cx="45720" cy="1005840"/>
          </a:xfrm>
          <a:prstGeom prst="rect">
            <a:avLst/>
          </a:prstGeom>
          <a:solidFill>
            <a:srgbClr val="E26C3F"/>
          </a:solidFill>
          <a:ln w="12700">
            <a:solidFill>
              <a:srgbClr val="E26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365760" y="3511296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5. Urgent activity</a:t>
            </a:r>
            <a:endParaRPr lang="en-US" sz="1120" dirty="0"/>
          </a:p>
        </p:txBody>
      </p:sp>
      <p:graphicFrame>
        <p:nvGraphicFramePr>
          <p:cNvPr id="10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862097"/>
              </p:ext>
            </p:extLst>
          </p:nvPr>
        </p:nvGraphicFramePr>
        <p:xfrm>
          <a:off x="329184" y="3712464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91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+1 WO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3072384" y="3438144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3072384" y="3438144"/>
            <a:ext cx="45720" cy="1005840"/>
          </a:xfrm>
          <a:prstGeom prst="rect">
            <a:avLst/>
          </a:prstGeom>
          <a:solidFill>
            <a:srgbClr val="E26C3F"/>
          </a:solidFill>
          <a:ln w="12700">
            <a:solidFill>
              <a:srgbClr val="E26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/>
          <p:nvPr/>
        </p:nvSpPr>
        <p:spPr>
          <a:xfrm>
            <a:off x="3200400" y="3511296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6. Cancellation</a:t>
            </a:r>
            <a:endParaRPr lang="en-US" sz="1120" dirty="0"/>
          </a:p>
        </p:txBody>
      </p:sp>
      <p:graphicFrame>
        <p:nvGraphicFramePr>
          <p:cNvPr id="12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020214"/>
              </p:ext>
            </p:extLst>
          </p:nvPr>
        </p:nvGraphicFramePr>
        <p:xfrm>
          <a:off x="3163824" y="3712464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89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-1 WO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Shape 21"/>
          <p:cNvSpPr/>
          <p:nvPr/>
        </p:nvSpPr>
        <p:spPr>
          <a:xfrm>
            <a:off x="237744" y="4572000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237744" y="4572000"/>
            <a:ext cx="45720" cy="1005840"/>
          </a:xfrm>
          <a:prstGeom prst="rect">
            <a:avLst/>
          </a:prstGeom>
          <a:solidFill>
            <a:srgbClr val="E26C3F"/>
          </a:solidFill>
          <a:ln w="12700">
            <a:solidFill>
              <a:srgbClr val="E26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365760" y="4645152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7. Duration change</a:t>
            </a:r>
            <a:endParaRPr lang="en-US" sz="1120" dirty="0"/>
          </a:p>
        </p:txBody>
      </p:sp>
      <p:graphicFrame>
        <p:nvGraphicFramePr>
          <p:cNvPr id="148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570313"/>
              </p:ext>
            </p:extLst>
          </p:nvPr>
        </p:nvGraphicFramePr>
        <p:xfrm>
          <a:off x="329184" y="4846320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95 min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Shape 24"/>
          <p:cNvSpPr/>
          <p:nvPr/>
        </p:nvSpPr>
        <p:spPr>
          <a:xfrm>
            <a:off x="3072384" y="4572000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3072384" y="4572000"/>
            <a:ext cx="45720" cy="1005840"/>
          </a:xfrm>
          <a:prstGeom prst="rect">
            <a:avLst/>
          </a:prstGeom>
          <a:solidFill>
            <a:srgbClr val="E26C3F"/>
          </a:solidFill>
          <a:ln w="12700">
            <a:solidFill>
              <a:srgbClr val="E26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/>
          <p:nvPr/>
        </p:nvSpPr>
        <p:spPr>
          <a:xfrm>
            <a:off x="3200400" y="4645152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8. Shift change</a:t>
            </a:r>
            <a:endParaRPr lang="en-US" sz="1120" dirty="0"/>
          </a:p>
        </p:txBody>
      </p:sp>
      <p:graphicFrame>
        <p:nvGraphicFramePr>
          <p:cNvPr id="169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243136"/>
              </p:ext>
            </p:extLst>
          </p:nvPr>
        </p:nvGraphicFramePr>
        <p:xfrm>
          <a:off x="3163824" y="4846320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+30/+45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Shape 28"/>
          <p:cNvSpPr/>
          <p:nvPr/>
        </p:nvSpPr>
        <p:spPr>
          <a:xfrm>
            <a:off x="8010144" y="1115568"/>
            <a:ext cx="9601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29"/>
          <p:cNvSpPr/>
          <p:nvPr/>
        </p:nvSpPr>
        <p:spPr>
          <a:xfrm>
            <a:off x="8010144" y="1115568"/>
            <a:ext cx="45720" cy="713232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0"/>
          <p:cNvSpPr/>
          <p:nvPr/>
        </p:nvSpPr>
        <p:spPr>
          <a:xfrm>
            <a:off x="8110728" y="122529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14B50"/>
                </a:solidFill>
              </a:rPr>
              <a:t>Biggest timing shift</a:t>
            </a:r>
            <a:endParaRPr lang="en-US" sz="820" dirty="0"/>
          </a:p>
        </p:txBody>
      </p:sp>
      <p:sp>
        <p:nvSpPr>
          <p:cNvPr id="41" name="Text 31"/>
          <p:cNvSpPr/>
          <p:nvPr/>
        </p:nvSpPr>
        <p:spPr>
          <a:xfrm>
            <a:off x="8110728" y="14447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Start variance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(+20 min)</a:t>
            </a:r>
            <a:endParaRPr lang="en-US" sz="800" dirty="0"/>
          </a:p>
        </p:txBody>
      </p:sp>
      <p:sp>
        <p:nvSpPr>
          <p:cNvPr id="42" name="Shape 32"/>
          <p:cNvSpPr/>
          <p:nvPr/>
        </p:nvSpPr>
        <p:spPr>
          <a:xfrm>
            <a:off x="9070848" y="1115568"/>
            <a:ext cx="9601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33"/>
          <p:cNvSpPr/>
          <p:nvPr/>
        </p:nvSpPr>
        <p:spPr>
          <a:xfrm>
            <a:off x="9070848" y="1115568"/>
            <a:ext cx="45720" cy="713232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4"/>
          <p:cNvSpPr/>
          <p:nvPr/>
        </p:nvSpPr>
        <p:spPr>
          <a:xfrm>
            <a:off x="9171432" y="122529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14B50"/>
                </a:solidFill>
              </a:rPr>
              <a:t>Biggest demand change</a:t>
            </a:r>
            <a:endParaRPr lang="en-US" sz="820" dirty="0"/>
          </a:p>
        </p:txBody>
      </p:sp>
      <p:sp>
        <p:nvSpPr>
          <p:cNvPr id="45" name="Text 35"/>
          <p:cNvSpPr/>
          <p:nvPr/>
        </p:nvSpPr>
        <p:spPr>
          <a:xfrm>
            <a:off x="9171432" y="14447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Urgent +1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Cancel -1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10131552" y="1115568"/>
            <a:ext cx="9601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7"/>
          <p:cNvSpPr/>
          <p:nvPr/>
        </p:nvSpPr>
        <p:spPr>
          <a:xfrm>
            <a:off x="10131552" y="1115568"/>
            <a:ext cx="45720" cy="713232"/>
          </a:xfrm>
          <a:prstGeom prst="rect">
            <a:avLst/>
          </a:prstGeom>
          <a:solidFill>
            <a:srgbClr val="0A6861"/>
          </a:solidFill>
          <a:ln w="12700">
            <a:solidFill>
              <a:srgbClr val="0A68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38"/>
          <p:cNvSpPr/>
          <p:nvPr/>
        </p:nvSpPr>
        <p:spPr>
          <a:xfrm>
            <a:off x="10232136" y="122529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14B50"/>
                </a:solidFill>
              </a:rPr>
              <a:t>Most workflow change</a:t>
            </a:r>
            <a:endParaRPr lang="en-US" sz="820" dirty="0"/>
          </a:p>
        </p:txBody>
      </p:sp>
      <p:sp>
        <p:nvSpPr>
          <p:cNvPr id="49" name="Text 39"/>
          <p:cNvSpPr/>
          <p:nvPr/>
        </p:nvSpPr>
        <p:spPr>
          <a:xfrm>
            <a:off x="10232136" y="14447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Auto re-plan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(3 signals)</a:t>
            </a:r>
            <a:endParaRPr lang="en-US" sz="800" dirty="0"/>
          </a:p>
        </p:txBody>
      </p:sp>
      <p:sp>
        <p:nvSpPr>
          <p:cNvPr id="50" name="Shape 40"/>
          <p:cNvSpPr/>
          <p:nvPr/>
        </p:nvSpPr>
        <p:spPr>
          <a:xfrm>
            <a:off x="6045017" y="1899459"/>
            <a:ext cx="5888736" cy="201168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1"/>
          <p:cNvSpPr/>
          <p:nvPr/>
        </p:nvSpPr>
        <p:spPr>
          <a:xfrm>
            <a:off x="6154745" y="1945179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D966"/>
                </a:solidFill>
              </a:rPr>
              <a:t>Detailed comparison</a:t>
            </a:r>
            <a:endParaRPr lang="en-US" sz="1020" dirty="0"/>
          </a:p>
        </p:txBody>
      </p:sp>
      <p:graphicFrame>
        <p:nvGraphicFramePr>
          <p:cNvPr id="190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64841"/>
              </p:ext>
            </p:extLst>
          </p:nvPr>
        </p:nvGraphicFramePr>
        <p:xfrm>
          <a:off x="6136457" y="2100627"/>
          <a:ext cx="5715000" cy="1996440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What changed vs Base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Routes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Served / Stops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Impacted timing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Operational impact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Start variance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Tech delayed +20 min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07:20 start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Coverage stable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Finish variance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Service time +25 min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Local slack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Downstream adjusts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Skipped stop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Skipped job reinserted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Seq repair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Missed work retained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Auto re-plan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3 live signals combined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Rolling repair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Auto downstream update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Urgent activity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Urgent order inserted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91 / 111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Route extends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Urgent work absorbed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Cancellation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 active order removed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89 / 109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Route compresses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Capacity rebalanced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5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Duration change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ServiceTime edited live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Nearby timings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Local resequencing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4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Shift change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Shift window shifted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Usable capacity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Work can rebalance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" name="Shape 42"/>
          <p:cNvSpPr/>
          <p:nvPr/>
        </p:nvSpPr>
        <p:spPr>
          <a:xfrm>
            <a:off x="6045017" y="4232847"/>
            <a:ext cx="5888736" cy="201168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3"/>
          <p:cNvSpPr/>
          <p:nvPr/>
        </p:nvSpPr>
        <p:spPr>
          <a:xfrm>
            <a:off x="6154745" y="4278563"/>
            <a:ext cx="1920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D966"/>
                </a:solidFill>
              </a:rPr>
              <a:t>Quick comparison to base</a:t>
            </a:r>
            <a:endParaRPr lang="en-US" sz="1020" dirty="0"/>
          </a:p>
        </p:txBody>
      </p:sp>
      <p:graphicFrame>
        <p:nvGraphicFramePr>
          <p:cNvPr id="21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153508"/>
              </p:ext>
            </p:extLst>
          </p:nvPr>
        </p:nvGraphicFramePr>
        <p:xfrm>
          <a:off x="6136457" y="4434015"/>
          <a:ext cx="5715000" cy="150876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Comparison to Base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Base subset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Start variance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Same coverage as base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 routes / 90 served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Route starts later by 20 min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Finish variance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Same coverage as base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 routes / 90 served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Slack expands at impacted stop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Skipped stop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Same coverage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 routes / 90 served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Skipped order re-optimized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Auto re-plan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More dynamic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Manual reference subset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One rolling solve refreshes plan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Urgent activity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+1 order vs base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served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Subset absorbs urgent work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Cancellation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-1 order vs base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served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Freed capacity redistributed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Duration change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Same coverage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 routes / 90 served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Only local timing changes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Shift change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Route still active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07:00-16:00 shift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Capacity changes without removal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" name="Text 44"/>
          <p:cNvSpPr/>
          <p:nvPr/>
        </p:nvSpPr>
        <p:spPr>
          <a:xfrm>
            <a:off x="475488" y="6126480"/>
            <a:ext cx="7772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i="1" dirty="0">
                <a:solidFill>
                  <a:srgbClr val="5B6368"/>
                </a:solidFill>
              </a:rPr>
              <a:t>These summary slides keep the same screenshot-style visual pattern as the sample while covering all 16 Sid scenarios.</a:t>
            </a:r>
            <a:endParaRPr lang="en-US" sz="92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Summary - Base plan vs all 16 scenarios (2/2)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Visual summary of how each scenario affects route timing, service coverage, and business impact.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164592" y="1060704"/>
            <a:ext cx="1184148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37744" y="1170432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37744" y="1170432"/>
            <a:ext cx="45720" cy="1005840"/>
          </a:xfrm>
          <a:prstGeom prst="rect">
            <a:avLst/>
          </a:prstGeom>
          <a:solidFill>
            <a:srgbClr val="E26C3F"/>
          </a:solidFill>
          <a:ln w="12700">
            <a:solidFill>
              <a:srgbClr val="E26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9. Location hours</a:t>
            </a:r>
            <a:endParaRPr lang="en-US" sz="112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238977"/>
              </p:ext>
            </p:extLst>
          </p:nvPr>
        </p:nvGraphicFramePr>
        <p:xfrm>
          <a:off x="329184" y="1444752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04-08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072384" y="1170432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072384" y="1170432"/>
            <a:ext cx="45720" cy="1005840"/>
          </a:xfrm>
          <a:prstGeom prst="rect">
            <a:avLst/>
          </a:prstGeom>
          <a:solidFill>
            <a:srgbClr val="2F63B7"/>
          </a:solidFill>
          <a:ln w="12700">
            <a:solidFill>
              <a:srgbClr val="2F63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200400" y="1243584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10. Technician sick</a:t>
            </a:r>
            <a:endParaRPr lang="en-US" sz="112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24976"/>
              </p:ext>
            </p:extLst>
          </p:nvPr>
        </p:nvGraphicFramePr>
        <p:xfrm>
          <a:off x="3163824" y="1444752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14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Partial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-1 route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237744" y="2304288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237744" y="2304288"/>
            <a:ext cx="45720" cy="1005840"/>
          </a:xfrm>
          <a:prstGeom prst="rect">
            <a:avLst/>
          </a:prstGeom>
          <a:solidFill>
            <a:srgbClr val="E26C3F"/>
          </a:solidFill>
          <a:ln w="12700">
            <a:solidFill>
              <a:srgbClr val="E26C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65760" y="237744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11. Combined flow</a:t>
            </a:r>
            <a:endParaRPr lang="en-US" sz="112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976960"/>
              </p:ext>
            </p:extLst>
          </p:nvPr>
        </p:nvGraphicFramePr>
        <p:xfrm>
          <a:off x="329184" y="2676766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8 triggers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3072384" y="2304288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3072384" y="2304288"/>
            <a:ext cx="45720" cy="1005840"/>
          </a:xfrm>
          <a:prstGeom prst="rect">
            <a:avLst/>
          </a:prstGeom>
          <a:solidFill>
            <a:srgbClr val="2F63B7"/>
          </a:solidFill>
          <a:ln w="12700">
            <a:solidFill>
              <a:srgbClr val="2F63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3200400" y="237744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12. Travel first</a:t>
            </a:r>
            <a:endParaRPr lang="en-US" sz="1120" dirty="0"/>
          </a:p>
        </p:txBody>
      </p:sp>
      <p:graphicFrame>
        <p:nvGraphicFramePr>
          <p:cNvPr id="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212091"/>
              </p:ext>
            </p:extLst>
          </p:nvPr>
        </p:nvGraphicFramePr>
        <p:xfrm>
          <a:off x="3163824" y="2578608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Compact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237744" y="3438144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237744" y="3438144"/>
            <a:ext cx="45720" cy="1005840"/>
          </a:xfrm>
          <a:prstGeom prst="rect">
            <a:avLst/>
          </a:prstGeom>
          <a:solidFill>
            <a:srgbClr val="2F63B7"/>
          </a:solidFill>
          <a:ln w="12700">
            <a:solidFill>
              <a:srgbClr val="2F63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17"/>
          <p:cNvSpPr/>
          <p:nvPr/>
        </p:nvSpPr>
        <p:spPr>
          <a:xfrm>
            <a:off x="365760" y="3511296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13. Quality / specialty</a:t>
            </a:r>
            <a:endParaRPr lang="en-US" sz="1120" dirty="0"/>
          </a:p>
        </p:txBody>
      </p:sp>
      <p:graphicFrame>
        <p:nvGraphicFramePr>
          <p:cNvPr id="11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799985"/>
              </p:ext>
            </p:extLst>
          </p:nvPr>
        </p:nvGraphicFramePr>
        <p:xfrm>
          <a:off x="329184" y="3712464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Skill fit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Shape 18"/>
          <p:cNvSpPr/>
          <p:nvPr/>
        </p:nvSpPr>
        <p:spPr>
          <a:xfrm>
            <a:off x="3072384" y="3438144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3072384" y="3438144"/>
            <a:ext cx="45720" cy="1005840"/>
          </a:xfrm>
          <a:prstGeom prst="rect">
            <a:avLst/>
          </a:prstGeom>
          <a:solidFill>
            <a:srgbClr val="2F63B7"/>
          </a:solidFill>
          <a:ln w="12700">
            <a:solidFill>
              <a:srgbClr val="2F63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/>
          <p:nvPr/>
        </p:nvSpPr>
        <p:spPr>
          <a:xfrm>
            <a:off x="3200400" y="3511296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14. SLA first</a:t>
            </a:r>
            <a:endParaRPr lang="en-US" sz="1120" dirty="0"/>
          </a:p>
        </p:txBody>
      </p:sp>
      <p:graphicFrame>
        <p:nvGraphicFramePr>
          <p:cNvPr id="13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759819"/>
              </p:ext>
            </p:extLst>
          </p:nvPr>
        </p:nvGraphicFramePr>
        <p:xfrm>
          <a:off x="3163824" y="3712464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Protected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Shape 21"/>
          <p:cNvSpPr/>
          <p:nvPr/>
        </p:nvSpPr>
        <p:spPr>
          <a:xfrm>
            <a:off x="237744" y="4572000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237744" y="4572000"/>
            <a:ext cx="45720" cy="1005840"/>
          </a:xfrm>
          <a:prstGeom prst="rect">
            <a:avLst/>
          </a:prstGeom>
          <a:solidFill>
            <a:srgbClr val="2F63B7"/>
          </a:solidFill>
          <a:ln w="12700">
            <a:solidFill>
              <a:srgbClr val="2F63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3"/>
          <p:cNvSpPr/>
          <p:nvPr/>
        </p:nvSpPr>
        <p:spPr>
          <a:xfrm>
            <a:off x="365760" y="4645152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15. Reduce overtime</a:t>
            </a:r>
            <a:endParaRPr lang="en-US" sz="1120" dirty="0"/>
          </a:p>
        </p:txBody>
      </p:sp>
      <p:graphicFrame>
        <p:nvGraphicFramePr>
          <p:cNvPr id="155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544040"/>
              </p:ext>
            </p:extLst>
          </p:nvPr>
        </p:nvGraphicFramePr>
        <p:xfrm>
          <a:off x="329184" y="4846320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Lower OT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" name="Shape 24"/>
          <p:cNvSpPr/>
          <p:nvPr/>
        </p:nvSpPr>
        <p:spPr>
          <a:xfrm>
            <a:off x="3072384" y="4572000"/>
            <a:ext cx="274320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3072384" y="4572000"/>
            <a:ext cx="45720" cy="1005840"/>
          </a:xfrm>
          <a:prstGeom prst="rect">
            <a:avLst/>
          </a:prstGeom>
          <a:solidFill>
            <a:srgbClr val="2F63B7"/>
          </a:solidFill>
          <a:ln w="12700">
            <a:solidFill>
              <a:srgbClr val="2F63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/>
          <p:nvPr/>
        </p:nvSpPr>
        <p:spPr>
          <a:xfrm>
            <a:off x="3200400" y="4645152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2E383C"/>
                </a:solidFill>
              </a:rPr>
              <a:t>16. Customer weights</a:t>
            </a:r>
            <a:endParaRPr lang="en-US" sz="1120" dirty="0"/>
          </a:p>
        </p:txBody>
      </p:sp>
      <p:graphicFrame>
        <p:nvGraphicFramePr>
          <p:cNvPr id="17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434900"/>
              </p:ext>
            </p:extLst>
          </p:nvPr>
        </p:nvGraphicFramePr>
        <p:xfrm>
          <a:off x="3163824" y="4846320"/>
          <a:ext cx="2286000" cy="347472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Routes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Served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Key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15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90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465056"/>
                          </a:solidFill>
                        </a:rPr>
                        <a:t>Profile</a:t>
                      </a:r>
                      <a:endParaRPr lang="en-US" sz="840" dirty="0"/>
                    </a:p>
                  </a:txBody>
                  <a:tcPr marL="22860" marR="22860" marT="22860" marB="22860">
                    <a:lnL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DC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Shape 28"/>
          <p:cNvSpPr/>
          <p:nvPr/>
        </p:nvSpPr>
        <p:spPr>
          <a:xfrm>
            <a:off x="8010144" y="1115568"/>
            <a:ext cx="9601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29"/>
          <p:cNvSpPr/>
          <p:nvPr/>
        </p:nvSpPr>
        <p:spPr>
          <a:xfrm>
            <a:off x="8010144" y="1115568"/>
            <a:ext cx="45720" cy="713232"/>
          </a:xfrm>
          <a:prstGeom prst="rect">
            <a:avLst/>
          </a:prstGeom>
          <a:solidFill>
            <a:srgbClr val="2F63B7"/>
          </a:solidFill>
          <a:ln w="12700">
            <a:solidFill>
              <a:srgbClr val="2F63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0"/>
          <p:cNvSpPr/>
          <p:nvPr/>
        </p:nvSpPr>
        <p:spPr>
          <a:xfrm>
            <a:off x="8110728" y="122529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14B50"/>
                </a:solidFill>
              </a:rPr>
              <a:t>Most severe</a:t>
            </a:r>
            <a:endParaRPr lang="en-US" sz="820" dirty="0"/>
          </a:p>
        </p:txBody>
      </p:sp>
      <p:sp>
        <p:nvSpPr>
          <p:cNvPr id="41" name="Text 31"/>
          <p:cNvSpPr/>
          <p:nvPr/>
        </p:nvSpPr>
        <p:spPr>
          <a:xfrm>
            <a:off x="8110728" y="14447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Technician sick</a:t>
            </a:r>
            <a:endParaRPr lang="en-US" sz="800" dirty="0"/>
          </a:p>
        </p:txBody>
      </p:sp>
      <p:sp>
        <p:nvSpPr>
          <p:cNvPr id="42" name="Shape 32"/>
          <p:cNvSpPr/>
          <p:nvPr/>
        </p:nvSpPr>
        <p:spPr>
          <a:xfrm>
            <a:off x="9070848" y="1115568"/>
            <a:ext cx="9601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3"/>
          <p:cNvSpPr/>
          <p:nvPr/>
        </p:nvSpPr>
        <p:spPr>
          <a:xfrm>
            <a:off x="9070848" y="1115568"/>
            <a:ext cx="45720" cy="713232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4"/>
          <p:cNvSpPr/>
          <p:nvPr/>
        </p:nvSpPr>
        <p:spPr>
          <a:xfrm>
            <a:off x="9171432" y="122529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14B50"/>
                </a:solidFill>
              </a:rPr>
              <a:t>Most strategic</a:t>
            </a:r>
            <a:endParaRPr lang="en-US" sz="820" dirty="0"/>
          </a:p>
        </p:txBody>
      </p:sp>
      <p:sp>
        <p:nvSpPr>
          <p:cNvPr id="12" name="Text 35"/>
          <p:cNvSpPr/>
          <p:nvPr/>
        </p:nvSpPr>
        <p:spPr>
          <a:xfrm>
            <a:off x="9171432" y="14447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Customer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weights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10131552" y="1115568"/>
            <a:ext cx="96012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7"/>
          <p:cNvSpPr/>
          <p:nvPr/>
        </p:nvSpPr>
        <p:spPr>
          <a:xfrm>
            <a:off x="10131552" y="1115568"/>
            <a:ext cx="45720" cy="713232"/>
          </a:xfrm>
          <a:prstGeom prst="rect">
            <a:avLst/>
          </a:prstGeom>
          <a:solidFill>
            <a:srgbClr val="D8A63A"/>
          </a:solidFill>
          <a:ln w="12700">
            <a:solidFill>
              <a:srgbClr val="D8A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38"/>
          <p:cNvSpPr/>
          <p:nvPr/>
        </p:nvSpPr>
        <p:spPr>
          <a:xfrm>
            <a:off x="10232136" y="1225296"/>
            <a:ext cx="7498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414B50"/>
                </a:solidFill>
              </a:rPr>
              <a:t>Highest protection</a:t>
            </a:r>
            <a:endParaRPr lang="en-US" sz="820" dirty="0"/>
          </a:p>
        </p:txBody>
      </p:sp>
      <p:sp>
        <p:nvSpPr>
          <p:cNvPr id="49" name="Text 39"/>
          <p:cNvSpPr/>
          <p:nvPr/>
        </p:nvSpPr>
        <p:spPr>
          <a:xfrm>
            <a:off x="10232136" y="14447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378"/>
                </a:solidFill>
              </a:rPr>
              <a:t>SLA first</a:t>
            </a:r>
            <a:endParaRPr lang="en-US" sz="800" dirty="0"/>
          </a:p>
        </p:txBody>
      </p:sp>
      <p:sp>
        <p:nvSpPr>
          <p:cNvPr id="50" name="Shape 40"/>
          <p:cNvSpPr/>
          <p:nvPr/>
        </p:nvSpPr>
        <p:spPr>
          <a:xfrm>
            <a:off x="6153080" y="1874520"/>
            <a:ext cx="5888736" cy="201168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1"/>
          <p:cNvSpPr/>
          <p:nvPr/>
        </p:nvSpPr>
        <p:spPr>
          <a:xfrm>
            <a:off x="6262808" y="1920240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D966"/>
                </a:solidFill>
              </a:rPr>
              <a:t>Detailed comparison</a:t>
            </a:r>
            <a:endParaRPr lang="en-US" sz="1020" dirty="0"/>
          </a:p>
        </p:txBody>
      </p:sp>
      <p:graphicFrame>
        <p:nvGraphicFramePr>
          <p:cNvPr id="19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360097"/>
              </p:ext>
            </p:extLst>
          </p:nvPr>
        </p:nvGraphicFramePr>
        <p:xfrm>
          <a:off x="6244520" y="2075688"/>
          <a:ext cx="5715000" cy="2240280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What changed vs Base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Routes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Served / Stops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Impacted timing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Operational impact</a:t>
                      </a:r>
                      <a:endParaRPr lang="en-US" sz="800" dirty="0"/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4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Location hours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Customer window tightened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Window rule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Auto resequencing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Technician sick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 tech removed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Partial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Unrouted risk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Highest disruption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Combined flow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All EAS + RT triggers combined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Rolling replan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Single live flow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Travel first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Travel weight highest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Compact pattern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Drive time minimized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Quality / specialty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Rating bias + skill match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Assignment bias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Best-fit techs favored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SLA first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SLA-sensitive work prioritized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Tighter tolerance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On-time work protected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Reduce overtime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OT penalty raised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Regular time first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Overtime discouraged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Customer weights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Account weights applied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90 / 110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Custom optimum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Each account defines optimal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" name="Shape 42"/>
          <p:cNvSpPr/>
          <p:nvPr/>
        </p:nvSpPr>
        <p:spPr>
          <a:xfrm>
            <a:off x="6153080" y="4399104"/>
            <a:ext cx="5888736" cy="201168"/>
          </a:xfrm>
          <a:prstGeom prst="rect">
            <a:avLst/>
          </a:prstGeom>
          <a:solidFill>
            <a:srgbClr val="00544F"/>
          </a:solidFill>
          <a:ln w="12700">
            <a:solidFill>
              <a:srgbClr val="0054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43"/>
          <p:cNvSpPr/>
          <p:nvPr/>
        </p:nvSpPr>
        <p:spPr>
          <a:xfrm>
            <a:off x="6262808" y="4444824"/>
            <a:ext cx="1920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FFD966"/>
                </a:solidFill>
              </a:rPr>
              <a:t>Quick comparison to base</a:t>
            </a:r>
            <a:endParaRPr lang="en-US" sz="1020" dirty="0"/>
          </a:p>
        </p:txBody>
      </p:sp>
      <p:graphicFrame>
        <p:nvGraphicFramePr>
          <p:cNvPr id="22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610063"/>
              </p:ext>
            </p:extLst>
          </p:nvPr>
        </p:nvGraphicFramePr>
        <p:xfrm>
          <a:off x="6244520" y="4600272"/>
          <a:ext cx="5715000" cy="175260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Comparison to Base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Base subset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Location hours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Customer-side change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Open window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Visit must respect new hours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Technician sick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-1 route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15 active routes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Remaining fleet may not absorb all work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Combined flow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One pipeline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Reference subset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One pipeline handles all events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Travel first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Target changed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Neutral weighting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Solver favors shorter legs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Quality / specialty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Tech-aware plan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Generic capacity bias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Higher-rated / skilled techs preferred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SLA first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Business goal changed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Travel-balanced plan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SLA commitments dominate choice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Reduce overtime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Cost policy changed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Default OT behavior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Overtime becomes exception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Customer weights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Custom objective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One default policy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</a:rPr>
                        <a:t>VRP becomes configurable service</a:t>
                      </a:r>
                      <a:endParaRPr 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22860" marR="22860" marT="22860" marB="22860">
                    <a:lnL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124112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85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73235"/>
                </a:solidFill>
              </a:rPr>
              <a:t>Coverage against Sid's requirements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8696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667074"/>
                </a:solidFill>
              </a:rPr>
              <a:t>All 16 explicit requirement rows are now presented with original maps.</a:t>
            </a:r>
            <a:endParaRPr lang="en-US" sz="116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999" y="1463040"/>
            <a:ext cx="11513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3235"/>
                </a:solidFill>
              </a:rPr>
              <a:t>Covered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73235"/>
                </a:solidFill>
              </a:rPr>
              <a:t>16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256032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15968" y="256032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973568" y="2560320"/>
            <a:ext cx="35661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9CD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2788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73235"/>
                </a:solidFill>
              </a:rPr>
              <a:t>Execution-Aware Scheduling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68680" y="3127248"/>
            <a:ext cx="29260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Jobs starting earlier or later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Jobs finishing earlier or later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Technicians skipping scheduled job order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Automatically re-optimize downstream activities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73235"/>
                </a:solidFill>
              </a:rPr>
              <a:t>Real-Time Scheduling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526280" y="3127248"/>
            <a:ext cx="29260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New or urgent activities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Cancellations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Duration changes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Technician availability or shift changes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Location hours changes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Technician calls in sick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All EAS scenarios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8183880" y="2788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73235"/>
                </a:solidFill>
              </a:rPr>
              <a:t>Goal-Based Scheduling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8183880" y="3127248"/>
            <a:ext cx="29260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Minimize travel time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Prefer higher-rated or specialized technicians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Maximize on-time completion / SLA adherence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Reduce overtime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40484C"/>
                </a:solidFill>
              </a:rPr>
              <a:t>☑ Customer-defined soft-constraint weights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10012680" y="5394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0484C"/>
                </a:solidFill>
              </a:rPr>
              <a:t>Thank you.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6480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5431</Words>
  <Application>Microsoft Office PowerPoint</Application>
  <PresentationFormat>Widescreen</PresentationFormat>
  <Paragraphs>1356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ArcGIS VRP Execution Aware Scheduling POC V2 - Corrected</dc:title>
  <dc:subject>ArcGIS VRP Sid scenarios corrected deck</dc:subject>
  <dc:creator>OpenAI</dc:creator>
  <cp:lastModifiedBy>Anubha Parashar</cp:lastModifiedBy>
  <cp:revision>3</cp:revision>
  <dcterms:created xsi:type="dcterms:W3CDTF">2026-04-10T17:06:01Z</dcterms:created>
  <dcterms:modified xsi:type="dcterms:W3CDTF">2026-04-10T19:54:31Z</dcterms:modified>
</cp:coreProperties>
</file>